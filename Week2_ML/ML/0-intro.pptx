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7.xml" ContentType="application/vnd.openxmlformats-officedocument.theme+xml"/>
  <Override PartName="/ppt/slideLayouts/slideLayout9.xml" ContentType="application/vnd.openxmlformats-officedocument.presentationml.slideLayout+xml"/>
  <Override PartName="/ppt/theme/theme8.xml" ContentType="application/vnd.openxmlformats-officedocument.theme+xml"/>
  <Override PartName="/ppt/slideLayouts/slideLayout10.xml" ContentType="application/vnd.openxmlformats-officedocument.presentationml.slideLayout+xml"/>
  <Override PartName="/ppt/theme/theme9.xml" ContentType="application/vnd.openxmlformats-officedocument.theme+xml"/>
  <Override PartName="/ppt/slideLayouts/slideLayout11.xml" ContentType="application/vnd.openxmlformats-officedocument.presentationml.slideLayout+xml"/>
  <Override PartName="/ppt/theme/theme10.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70" r:id="rId5"/>
    <p:sldMasterId id="2147483672" r:id="rId6"/>
    <p:sldMasterId id="2147483674" r:id="rId7"/>
    <p:sldMasterId id="2147483677" r:id="rId8"/>
    <p:sldMasterId id="2147483679" r:id="rId9"/>
    <p:sldMasterId id="2147483681" r:id="rId10"/>
    <p:sldMasterId id="2147483685" r:id="rId11"/>
  </p:sldMasterIdLst>
  <p:notesMasterIdLst>
    <p:notesMasterId r:id="rId36"/>
  </p:notesMasterIdLst>
  <p:handoutMasterIdLst>
    <p:handoutMasterId r:id="rId37"/>
  </p:handoutMasterIdLst>
  <p:sldIdLst>
    <p:sldId id="258" r:id="rId12"/>
    <p:sldId id="256" r:id="rId13"/>
    <p:sldId id="257" r:id="rId14"/>
    <p:sldId id="259" r:id="rId15"/>
    <p:sldId id="260" r:id="rId16"/>
    <p:sldId id="261" r:id="rId17"/>
    <p:sldId id="281" r:id="rId18"/>
    <p:sldId id="282" r:id="rId19"/>
    <p:sldId id="284" r:id="rId20"/>
    <p:sldId id="286" r:id="rId21"/>
    <p:sldId id="266" r:id="rId22"/>
    <p:sldId id="293" r:id="rId23"/>
    <p:sldId id="283" r:id="rId24"/>
    <p:sldId id="285" r:id="rId25"/>
    <p:sldId id="287" r:id="rId26"/>
    <p:sldId id="288" r:id="rId27"/>
    <p:sldId id="289" r:id="rId28"/>
    <p:sldId id="291" r:id="rId29"/>
    <p:sldId id="292" r:id="rId30"/>
    <p:sldId id="269" r:id="rId31"/>
    <p:sldId id="263" r:id="rId32"/>
    <p:sldId id="290" r:id="rId33"/>
    <p:sldId id="294" r:id="rId34"/>
    <p:sldId id="280" r:id="rId3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946" y="1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viewProps" Target="viewProps.xml"/><Relationship Id="rId21" Type="http://schemas.openxmlformats.org/officeDocument/2006/relationships/slide" Target="slides/slide10.xml"/><Relationship Id="rId34" Type="http://schemas.openxmlformats.org/officeDocument/2006/relationships/slide" Target="slides/slide23.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slide" Target="slides/slide1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notesMaster" Target="notesMasters/notesMaster1.xml"/><Relationship Id="rId10" Type="http://schemas.openxmlformats.org/officeDocument/2006/relationships/slideMaster" Target="slideMasters/slideMaster10.xml"/><Relationship Id="rId19" Type="http://schemas.openxmlformats.org/officeDocument/2006/relationships/slide" Target="slides/slide8.xml"/><Relationship Id="rId31" Type="http://schemas.openxmlformats.org/officeDocument/2006/relationships/slide" Target="slides/slide20.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2FD0DA3-33F5-BA75-2A4B-709C6F45C8D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59AB703-A4BF-4C8B-CFFA-B4659DDCB8B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C092886-3DA1-433E-8459-3D3AF0E2795E}" type="datetimeFigureOut">
              <a:rPr lang="en-US" smtClean="0"/>
              <a:t>5/28/2025</a:t>
            </a:fld>
            <a:endParaRPr lang="en-US"/>
          </a:p>
        </p:txBody>
      </p:sp>
      <p:sp>
        <p:nvSpPr>
          <p:cNvPr id="4" name="Footer Placeholder 3">
            <a:extLst>
              <a:ext uri="{FF2B5EF4-FFF2-40B4-BE49-F238E27FC236}">
                <a16:creationId xmlns:a16="http://schemas.microsoft.com/office/drawing/2014/main" id="{28343861-2CEF-F00D-7489-795866DCF53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wikm.ir</a:t>
            </a:r>
          </a:p>
        </p:txBody>
      </p:sp>
      <p:sp>
        <p:nvSpPr>
          <p:cNvPr id="5" name="Slide Number Placeholder 4">
            <a:extLst>
              <a:ext uri="{FF2B5EF4-FFF2-40B4-BE49-F238E27FC236}">
                <a16:creationId xmlns:a16="http://schemas.microsoft.com/office/drawing/2014/main" id="{38EFB117-5034-0B48-8F6E-7F23BA6F34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A1B4F5-8F13-4B7B-8DD8-B49067171EEF}" type="slidenum">
              <a:rPr lang="en-US" smtClean="0"/>
              <a:t>‹#›</a:t>
            </a:fld>
            <a:endParaRPr lang="en-US"/>
          </a:p>
        </p:txBody>
      </p:sp>
    </p:spTree>
    <p:extLst>
      <p:ext uri="{BB962C8B-B14F-4D97-AF65-F5344CB8AC3E}">
        <p14:creationId xmlns:p14="http://schemas.microsoft.com/office/powerpoint/2010/main" val="210335344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4"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n-US" sz="1400" b="0" strike="noStrike" spc="-1">
                <a:solidFill>
                  <a:srgbClr val="000000"/>
                </a:solidFill>
                <a:latin typeface="Arial"/>
              </a:rPr>
              <a:t>Click to move the slide</a:t>
            </a:r>
          </a:p>
        </p:txBody>
      </p:sp>
      <p:sp>
        <p:nvSpPr>
          <p:cNvPr id="4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Click to edit the notes format</a:t>
            </a:r>
          </a:p>
        </p:txBody>
      </p:sp>
      <p:sp>
        <p:nvSpPr>
          <p:cNvPr id="46"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4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4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wikm.ir</a:t>
            </a:r>
          </a:p>
        </p:txBody>
      </p:sp>
      <p:sp>
        <p:nvSpPr>
          <p:cNvPr id="4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1C8A534E-F768-4173-AFDE-038946D86F3F}" type="slidenum">
              <a:rPr lang="en-US" sz="1400" b="0" strike="noStrike" spc="-1">
                <a:solidFill>
                  <a:srgbClr val="000000"/>
                </a:solidFill>
                <a:latin typeface="Times New Roman"/>
              </a:rPr>
              <a:t>‹#›</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 name="PlaceHolder 1"/>
          <p:cNvSpPr>
            <a:spLocks noGrp="1" noRot="1" noChangeAspect="1"/>
          </p:cNvSpPr>
          <p:nvPr>
            <p:ph type="sldImg"/>
          </p:nvPr>
        </p:nvSpPr>
        <p:spPr>
          <a:xfrm>
            <a:off x="381000" y="685800"/>
            <a:ext cx="6096000" cy="3429000"/>
          </a:xfrm>
          <a:prstGeom prst="rect">
            <a:avLst/>
          </a:prstGeom>
          <a:ln w="0">
            <a:noFill/>
          </a:ln>
        </p:spPr>
      </p:sp>
      <p:sp>
        <p:nvSpPr>
          <p:cNvPr id="331" name="PlaceHolder 2"/>
          <p:cNvSpPr>
            <a:spLocks noGrp="1"/>
          </p:cNvSpPr>
          <p:nvPr>
            <p:ph type="body"/>
          </p:nvPr>
        </p:nvSpPr>
        <p:spPr>
          <a:xfrm>
            <a:off x="685800" y="4343400"/>
            <a:ext cx="5486040" cy="4114440"/>
          </a:xfrm>
          <a:prstGeom prst="rect">
            <a:avLst/>
          </a:prstGeom>
          <a:noFill/>
          <a:ln w="0">
            <a:noFill/>
          </a:ln>
        </p:spPr>
        <p:txBody>
          <a:bodyPr lIns="91440" tIns="91440" rIns="91440" bIns="91440" anchor="t">
            <a:noAutofit/>
          </a:bodyPr>
          <a:lstStyle/>
          <a:p>
            <a:pPr indent="0">
              <a:lnSpc>
                <a:spcPct val="100000"/>
              </a:lnSpc>
              <a:buNone/>
              <a:tabLst>
                <a:tab pos="0" algn="l"/>
              </a:tabLst>
            </a:pPr>
            <a:r>
              <a:rPr lang="en-US" sz="1100" b="0" strike="noStrike" spc="-1">
                <a:solidFill>
                  <a:srgbClr val="000000"/>
                </a:solidFill>
                <a:latin typeface="Arial"/>
              </a:rPr>
              <a:t>https://rashasite.ir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CUSTOM_7">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USTOM_22">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CUSTOM_25">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_25_1">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17">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18">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CUSTOM_12">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endParaRPr lang="en-US" sz="1400" b="0" strike="noStrike" spc="-1">
              <a:solidFill>
                <a:srgbClr val="000000"/>
              </a:solidFill>
              <a:latin typeface="Arial"/>
            </a:endParaRPr>
          </a:p>
        </p:txBody>
      </p:sp>
      <p:sp>
        <p:nvSpPr>
          <p:cNvPr id="29"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7"/>
              </a:spcBef>
              <a:buNone/>
            </a:pPr>
            <a:endParaRPr lang="en-US" sz="1400" b="0" strike="noStrike" spc="-1">
              <a:solidFill>
                <a:srgbClr val="000000"/>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12">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15">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21">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23">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CUSTOM_24">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CUSTOM_24">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endParaRPr lang="en-US" sz="1400" b="0" strike="noStrike" spc="-1">
              <a:solidFill>
                <a:srgbClr val="000000"/>
              </a:solidFill>
              <a:latin typeface="Arial"/>
            </a:endParaRPr>
          </a:p>
        </p:txBody>
      </p:sp>
      <p:sp>
        <p:nvSpPr>
          <p:cNvPr id="41"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7"/>
              </a:spcBef>
              <a:buNone/>
            </a:pPr>
            <a:endParaRPr lang="en-US" sz="1400" b="0" strike="noStrike" spc="-1">
              <a:solidFill>
                <a:srgbClr val="000000"/>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8.xml"/><Relationship Id="rId1" Type="http://schemas.openxmlformats.org/officeDocument/2006/relationships/slideLayout" Target="../slideLayouts/slideLayout7.xml"/><Relationship Id="rId4" Type="http://schemas.openxmlformats.org/officeDocument/2006/relationships/image" Target="../media/image7.png"/></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theme" Target="../theme/theme8.xml"/><Relationship Id="rId1" Type="http://schemas.openxmlformats.org/officeDocument/2006/relationships/slideLayout" Target="../slideLayouts/slideLayout9.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theme" Target="../theme/theme9.xml"/><Relationship Id="rId1" Type="http://schemas.openxmlformats.org/officeDocument/2006/relationships/slideLayout" Target="../slideLayouts/slideLayout10.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theme" Target="../theme/theme10.xml"/><Relationship Id="rId1" Type="http://schemas.openxmlformats.org/officeDocument/2006/relationships/slideLayout" Target="../slideLayouts/slideLayout11.xml"/></Relationships>
</file>

<file path=ppt/slideMasters/_rels/slideMaster11.xml.rels><?xml version="1.0" encoding="UTF-8" standalone="yes"?>
<Relationships xmlns="http://schemas.openxmlformats.org/package/2006/relationships"><Relationship Id="rId3" Type="http://schemas.openxmlformats.org/officeDocument/2006/relationships/theme" Target="../theme/theme11.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image" Target="../media/image1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r>
              <a:rPr lang="en-US" sz="1400" b="0" strike="noStrike" spc="-1">
                <a:solidFill>
                  <a:srgbClr val="000000"/>
                </a:solidFill>
                <a:latin typeface="Arial"/>
              </a:rPr>
              <a:t>Click to edit the title text format</a:t>
            </a: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r>
              <a:rPr lang="en-US" sz="1400" b="0" strike="noStrike" spc="-1">
                <a:solidFill>
                  <a:srgbClr val="000000"/>
                </a:solidFill>
                <a:latin typeface="Arial"/>
              </a:rPr>
              <a:t>Click to edit the title text format</a:t>
            </a: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1"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r>
              <a:rPr lang="en-US" sz="1400" b="0" strike="noStrike" spc="-1">
                <a:solidFill>
                  <a:srgbClr val="000000"/>
                </a:solidFill>
                <a:latin typeface="Arial"/>
              </a:rPr>
              <a:t>Click to edit the title text format</a:t>
            </a:r>
          </a:p>
        </p:txBody>
      </p:sp>
      <p:sp>
        <p:nvSpPr>
          <p:cNvPr id="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3"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r>
              <a:rPr lang="en-US" sz="1400" b="0" strike="noStrike" spc="-1">
                <a:solidFill>
                  <a:srgbClr val="000000"/>
                </a:solidFill>
                <a:latin typeface="Arial"/>
              </a:rPr>
              <a:t>Click to edit the title text format</a:t>
            </a:r>
          </a:p>
        </p:txBody>
      </p:sp>
      <p:sp>
        <p:nvSpPr>
          <p:cNvPr id="7"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5"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r>
              <a:rPr lang="en-US" sz="1400" b="0" strike="noStrike" spc="-1">
                <a:solidFill>
                  <a:srgbClr val="000000"/>
                </a:solidFill>
                <a:latin typeface="Arial"/>
              </a:rPr>
              <a:t>Click to edit the title text format</a:t>
            </a:r>
          </a:p>
        </p:txBody>
      </p:sp>
      <p:sp>
        <p:nvSpPr>
          <p:cNvPr id="2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1"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r>
              <a:rPr lang="en-US" sz="1400" b="0" strike="noStrike" spc="-1">
                <a:solidFill>
                  <a:srgbClr val="000000"/>
                </a:solidFill>
                <a:latin typeface="Arial"/>
              </a:rPr>
              <a:t>Click to edit the title text format</a:t>
            </a:r>
          </a:p>
        </p:txBody>
      </p:sp>
      <p:sp>
        <p:nvSpPr>
          <p:cNvPr id="2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3"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rotWithShape="0">
          <a:blip r:embed="rId4"/>
          <a:stretch/>
        </a:blip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r>
              <a:rPr lang="en-US" sz="1400" b="0" strike="noStrike" spc="-1">
                <a:solidFill>
                  <a:srgbClr val="000000"/>
                </a:solidFill>
                <a:latin typeface="Arial"/>
              </a:rPr>
              <a:t>Click to edit the title text format</a:t>
            </a:r>
          </a:p>
        </p:txBody>
      </p:sp>
      <p:sp>
        <p:nvSpPr>
          <p:cNvPr id="27"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r>
              <a:rPr lang="en-US" sz="1400" b="0" strike="noStrike" spc="-1">
                <a:solidFill>
                  <a:srgbClr val="000000"/>
                </a:solidFill>
                <a:latin typeface="Arial"/>
              </a:rPr>
              <a:t>Click to edit the title text format</a:t>
            </a:r>
          </a:p>
        </p:txBody>
      </p:sp>
      <p:sp>
        <p:nvSpPr>
          <p:cNvPr id="31"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8"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r>
              <a:rPr lang="en-US" sz="1400" b="0" strike="noStrike" spc="-1">
                <a:solidFill>
                  <a:srgbClr val="000000"/>
                </a:solidFill>
                <a:latin typeface="Arial"/>
              </a:rPr>
              <a:t>Click to edit the title text format</a:t>
            </a:r>
          </a:p>
        </p:txBody>
      </p:sp>
      <p:sp>
        <p:nvSpPr>
          <p:cNvPr id="3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0"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r>
              <a:rPr lang="en-US" sz="1400" b="0" strike="noStrike" spc="-1">
                <a:solidFill>
                  <a:srgbClr val="000000"/>
                </a:solidFill>
                <a:latin typeface="Arial"/>
              </a:rPr>
              <a:t>Click to edit the title text format</a:t>
            </a:r>
          </a:p>
        </p:txBody>
      </p:sp>
      <p:sp>
        <p:nvSpPr>
          <p:cNvPr id="3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2"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blipFill rotWithShape="0">
          <a:blip r:embed="rId4"/>
          <a:stretch/>
        </a:blip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r>
              <a:rPr lang="en-US" sz="1400" b="0" strike="noStrike" spc="-1">
                <a:solidFill>
                  <a:srgbClr val="000000"/>
                </a:solidFill>
                <a:latin typeface="Arial"/>
              </a:rPr>
              <a:t>Click to edit the title text format</a:t>
            </a:r>
          </a:p>
        </p:txBody>
      </p:sp>
      <p:sp>
        <p:nvSpPr>
          <p:cNvPr id="39"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6" r:id="rId1"/>
    <p:sldLayoutId id="2147483687"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1136160" y="1275480"/>
            <a:ext cx="6886440" cy="1782000"/>
          </a:xfrm>
          <a:prstGeom prst="rect">
            <a:avLst/>
          </a:prstGeom>
          <a:noFill/>
          <a:ln w="0">
            <a:noFill/>
          </a:ln>
        </p:spPr>
        <p:txBody>
          <a:bodyPr lIns="91440" tIns="91440" rIns="91440" bIns="91440" anchor="b">
            <a:noAutofit/>
          </a:bodyPr>
          <a:lstStyle/>
          <a:p>
            <a:pPr indent="0" algn="r">
              <a:lnSpc>
                <a:spcPct val="100000"/>
              </a:lnSpc>
              <a:buNone/>
            </a:pPr>
            <a:r>
              <a:rPr lang="fa-IR" sz="5400" b="0" strike="noStrike" spc="-1" dirty="0">
                <a:solidFill>
                  <a:srgbClr val="434343"/>
                </a:solidFill>
                <a:latin typeface="Arial"/>
                <a:cs typeface="B Titr"/>
              </a:rPr>
              <a:t>یادگیری ماشین</a:t>
            </a:r>
            <a:endParaRPr lang="en-US" sz="5400" b="0" strike="noStrike" spc="-1" dirty="0">
              <a:solidFill>
                <a:srgbClr val="000000"/>
              </a:solidFill>
              <a:latin typeface="Arial"/>
            </a:endParaRPr>
          </a:p>
        </p:txBody>
      </p:sp>
      <p:cxnSp>
        <p:nvCxnSpPr>
          <p:cNvPr id="76" name="Google Shape;138;p28"/>
          <p:cNvCxnSpPr/>
          <p:nvPr/>
        </p:nvCxnSpPr>
        <p:spPr>
          <a:xfrm>
            <a:off x="7145640" y="3175920"/>
            <a:ext cx="2086560" cy="360"/>
          </a:xfrm>
          <a:prstGeom prst="straightConnector1">
            <a:avLst/>
          </a:prstGeom>
          <a:ln w="9525">
            <a:solidFill>
              <a:srgbClr val="434343"/>
            </a:solidFill>
            <a:round/>
          </a:ln>
        </p:spPr>
      </p:cxnSp>
      <p:sp>
        <p:nvSpPr>
          <p:cNvPr id="77" name="Google Shape;262;p27"/>
          <p:cNvSpPr/>
          <p:nvPr/>
        </p:nvSpPr>
        <p:spPr>
          <a:xfrm>
            <a:off x="3636000" y="3291840"/>
            <a:ext cx="4176000" cy="564480"/>
          </a:xfrm>
          <a:prstGeom prst="rect">
            <a:avLst/>
          </a:prstGeom>
          <a:no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algn="r">
              <a:lnSpc>
                <a:spcPct val="100000"/>
              </a:lnSpc>
              <a:spcBef>
                <a:spcPts val="799"/>
              </a:spcBef>
              <a:tabLst>
                <a:tab pos="0" algn="l"/>
              </a:tabLst>
            </a:pPr>
            <a:r>
              <a:rPr lang="en-US" sz="2400" b="1" strike="noStrike" spc="-1" dirty="0">
                <a:solidFill>
                  <a:schemeClr val="dk1"/>
                </a:solidFill>
                <a:latin typeface="Montserrat"/>
                <a:cs typeface="B Nazanin"/>
              </a:rPr>
              <a:t>Machine Learning</a:t>
            </a:r>
            <a:endParaRPr lang="en-US" sz="2400" b="0" strike="noStrike" spc="-1" dirty="0">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p15="http://schemas.microsoft.com/office/powerpoint/2012/main">
      <p:transition spd="med">
        <p:fade/>
      </p:transition>
    </mc:Fallback>
  </mc:AlternateContent>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0" presetClass="entr" fill="hold" nodeType="withEffect">
                                  <p:stCondLst>
                                    <p:cond delay="0"/>
                                  </p:stCondLst>
                                  <p:childTnLst>
                                    <p:set>
                                      <p:cBhvr>
                                        <p:cTn id="6" dur="1" fill="hold">
                                          <p:stCondLst>
                                            <p:cond delay="0"/>
                                          </p:stCondLst>
                                        </p:cTn>
                                        <p:tgtEl>
                                          <p:spTgt spid="75"/>
                                        </p:tgtEl>
                                        <p:attrNameLst>
                                          <p:attrName>style.visibility</p:attrName>
                                        </p:attrNameLst>
                                      </p:cBhvr>
                                      <p:to>
                                        <p:strVal val="visible"/>
                                      </p:to>
                                    </p:set>
                                    <p:animEffect transition="in" filter="fade">
                                      <p:cBhvr additive="repl">
                                        <p:cTn id="7" dur="1000"/>
                                        <p:tgtEl>
                                          <p:spTgt spid="75"/>
                                        </p:tgtEl>
                                      </p:cBhvr>
                                    </p:animEffect>
                                  </p:childTnLst>
                                </p:cTn>
                              </p:par>
                              <p:par>
                                <p:cTn id="8" presetID="22" presetClass="entr" presetSubtype="2" fill="hold" nodeType="withEffect">
                                  <p:stCondLst>
                                    <p:cond delay="0"/>
                                  </p:stCondLst>
                                  <p:childTnLst>
                                    <p:set>
                                      <p:cBhvr>
                                        <p:cTn id="9" dur="1" fill="hold">
                                          <p:stCondLst>
                                            <p:cond delay="0"/>
                                          </p:stCondLst>
                                        </p:cTn>
                                        <p:tgtEl>
                                          <p:spTgt spid="76"/>
                                        </p:tgtEl>
                                        <p:attrNameLst>
                                          <p:attrName>style.visibility</p:attrName>
                                        </p:attrNameLst>
                                      </p:cBhvr>
                                      <p:to>
                                        <p:strVal val="visible"/>
                                      </p:to>
                                    </p:set>
                                    <p:animEffect transition="in" filter="wipe(right)">
                                      <p:cBhvr additive="repl">
                                        <p:cTn id="10" dur="1000"/>
                                        <p:tgtEl>
                                          <p:spTgt spid="76"/>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fill="hold" nodeType="clickEffect">
                                  <p:stCondLst>
                                    <p:cond delay="0"/>
                                  </p:stCondLst>
                                  <p:childTnLst>
                                    <p:set>
                                      <p:cBhvr>
                                        <p:cTn id="14" dur="1" fill="hold">
                                          <p:stCondLst>
                                            <p:cond delay="0"/>
                                          </p:stCondLst>
                                        </p:cTn>
                                        <p:tgtEl>
                                          <p:spTgt spid="77"/>
                                        </p:tgtEl>
                                        <p:attrNameLst>
                                          <p:attrName>style.visibility</p:attrName>
                                        </p:attrNameLst>
                                      </p:cBhvr>
                                      <p:to>
                                        <p:strVal val="visible"/>
                                      </p:to>
                                    </p:set>
                                    <p:animEffect transition="in" filter="fade">
                                      <p:cBhvr additive="repl">
                                        <p:cTn id="15" dur="1000"/>
                                        <p:tgtEl>
                                          <p:spTgt spid="77"/>
                                        </p:tgtEl>
                                      </p:cBhvr>
                                    </p:animEffect>
                                    <p:anim calcmode="lin" valueType="num">
                                      <p:cBhvr additive="repl">
                                        <p:cTn id="16" dur="1000" fill="hold"/>
                                        <p:tgtEl>
                                          <p:spTgt spid="77"/>
                                        </p:tgtEl>
                                        <p:attrNameLst>
                                          <p:attrName>ppt_x</p:attrName>
                                        </p:attrNameLst>
                                      </p:cBhvr>
                                      <p:tavLst>
                                        <p:tav tm="0">
                                          <p:val>
                                            <p:strVal val="#ppt_x"/>
                                          </p:val>
                                        </p:tav>
                                        <p:tav tm="100000">
                                          <p:val>
                                            <p:strVal val="#ppt_x"/>
                                          </p:val>
                                        </p:tav>
                                      </p:tavLst>
                                    </p:anim>
                                    <p:anim calcmode="lin" valueType="num">
                                      <p:cBhvr additive="repl">
                                        <p:cTn id="17" dur="1000" fill="hold"/>
                                        <p:tgtEl>
                                          <p:spTgt spid="7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PlaceHolder 1"/>
          <p:cNvSpPr>
            <a:spLocks noGrp="1"/>
          </p:cNvSpPr>
          <p:nvPr>
            <p:ph type="title"/>
          </p:nvPr>
        </p:nvSpPr>
        <p:spPr>
          <a:xfrm>
            <a:off x="3385800" y="2098800"/>
            <a:ext cx="2372040" cy="945720"/>
          </a:xfrm>
          <a:prstGeom prst="rect">
            <a:avLst/>
          </a:prstGeom>
          <a:noFill/>
          <a:ln w="0">
            <a:noFill/>
          </a:ln>
        </p:spPr>
        <p:txBody>
          <a:bodyPr lIns="91440" tIns="91440" rIns="91440" bIns="91440" anchor="ctr">
            <a:noAutofit/>
          </a:bodyPr>
          <a:lstStyle/>
          <a:p>
            <a:pPr indent="0" algn="ctr">
              <a:lnSpc>
                <a:spcPct val="100000"/>
              </a:lnSpc>
              <a:buNone/>
              <a:tabLst>
                <a:tab pos="0" algn="l"/>
              </a:tabLst>
            </a:pPr>
            <a:r>
              <a:rPr lang="fa-IR" sz="3200" b="0" strike="noStrike" spc="-1">
                <a:solidFill>
                  <a:srgbClr val="000000"/>
                </a:solidFill>
                <a:latin typeface="Arial"/>
                <a:cs typeface="B Titr"/>
              </a:rPr>
              <a:t>فهرست</a:t>
            </a:r>
            <a:endParaRPr lang="en-US" sz="3200" b="0" strike="noStrike" spc="-1">
              <a:solidFill>
                <a:srgbClr val="000000"/>
              </a:solidFill>
              <a:latin typeface="Arial"/>
            </a:endParaRPr>
          </a:p>
        </p:txBody>
      </p:sp>
      <p:cxnSp>
        <p:nvCxnSpPr>
          <p:cNvPr id="55" name="Google Shape;159;p30"/>
          <p:cNvCxnSpPr>
            <a:cxnSpLocks/>
          </p:cNvCxnSpPr>
          <p:nvPr/>
        </p:nvCxnSpPr>
        <p:spPr>
          <a:xfrm>
            <a:off x="5862240" y="1881554"/>
            <a:ext cx="0" cy="3280126"/>
          </a:xfrm>
          <a:prstGeom prst="straightConnector1">
            <a:avLst/>
          </a:prstGeom>
          <a:ln w="9525">
            <a:solidFill>
              <a:srgbClr val="595959"/>
            </a:solidFill>
            <a:round/>
          </a:ln>
        </p:spPr>
      </p:cxnSp>
      <p:sp>
        <p:nvSpPr>
          <p:cNvPr id="56" name="PlaceHolder 5"/>
          <p:cNvSpPr>
            <a:spLocks noGrp="1"/>
          </p:cNvSpPr>
          <p:nvPr>
            <p:ph type="title"/>
          </p:nvPr>
        </p:nvSpPr>
        <p:spPr>
          <a:xfrm>
            <a:off x="5922000" y="2092680"/>
            <a:ext cx="1071720" cy="577440"/>
          </a:xfrm>
          <a:prstGeom prst="rect">
            <a:avLst/>
          </a:prstGeom>
          <a:noFill/>
          <a:ln w="0">
            <a:noFill/>
          </a:ln>
        </p:spPr>
        <p:txBody>
          <a:bodyPr lIns="91440" tIns="91440" rIns="91440" bIns="91440" anchor="ctr">
            <a:noAutofit/>
          </a:bodyPr>
          <a:lstStyle/>
          <a:p>
            <a:pPr indent="0">
              <a:lnSpc>
                <a:spcPct val="100000"/>
              </a:lnSpc>
              <a:buNone/>
              <a:tabLst>
                <a:tab pos="0" algn="l"/>
              </a:tabLst>
            </a:pPr>
            <a:r>
              <a:rPr lang="en-US" sz="1400" b="0" strike="noStrike" spc="-1">
                <a:solidFill>
                  <a:srgbClr val="000000"/>
                </a:solidFill>
                <a:latin typeface="Arial"/>
                <a:ea typeface="Arial"/>
              </a:rPr>
              <a:t>1</a:t>
            </a:r>
            <a:endParaRPr lang="en-US" sz="1400" b="0" strike="noStrike" spc="-1">
              <a:solidFill>
                <a:srgbClr val="000000"/>
              </a:solidFill>
              <a:latin typeface="Arial"/>
            </a:endParaRPr>
          </a:p>
        </p:txBody>
      </p:sp>
      <p:sp>
        <p:nvSpPr>
          <p:cNvPr id="57" name="PlaceHolder 6"/>
          <p:cNvSpPr>
            <a:spLocks noGrp="1"/>
          </p:cNvSpPr>
          <p:nvPr>
            <p:ph type="title"/>
          </p:nvPr>
        </p:nvSpPr>
        <p:spPr>
          <a:xfrm>
            <a:off x="5922000" y="3112200"/>
            <a:ext cx="1071720" cy="577440"/>
          </a:xfrm>
          <a:prstGeom prst="rect">
            <a:avLst/>
          </a:prstGeom>
          <a:noFill/>
          <a:ln w="0">
            <a:noFill/>
          </a:ln>
        </p:spPr>
        <p:txBody>
          <a:bodyPr lIns="91440" tIns="91440" rIns="91440" bIns="91440" anchor="ctr">
            <a:noAutofit/>
          </a:bodyPr>
          <a:lstStyle/>
          <a:p>
            <a:pPr indent="0">
              <a:lnSpc>
                <a:spcPct val="100000"/>
              </a:lnSpc>
              <a:buNone/>
              <a:tabLst>
                <a:tab pos="0" algn="l"/>
              </a:tabLst>
            </a:pPr>
            <a:r>
              <a:rPr lang="en-US" sz="1400" b="0" strike="noStrike" spc="-1">
                <a:solidFill>
                  <a:srgbClr val="000000"/>
                </a:solidFill>
                <a:latin typeface="Arial"/>
                <a:ea typeface="Arial"/>
              </a:rPr>
              <a:t>2</a:t>
            </a:r>
            <a:endParaRPr lang="en-US" sz="1400" b="0" strike="noStrike" spc="-1">
              <a:solidFill>
                <a:srgbClr val="000000"/>
              </a:solidFill>
              <a:latin typeface="Arial"/>
            </a:endParaRPr>
          </a:p>
        </p:txBody>
      </p:sp>
      <p:sp>
        <p:nvSpPr>
          <p:cNvPr id="58" name="PlaceHolder 7"/>
          <p:cNvSpPr>
            <a:spLocks noGrp="1"/>
          </p:cNvSpPr>
          <p:nvPr>
            <p:ph type="title"/>
          </p:nvPr>
        </p:nvSpPr>
        <p:spPr>
          <a:xfrm>
            <a:off x="5922000" y="4132080"/>
            <a:ext cx="1071720" cy="577440"/>
          </a:xfrm>
          <a:prstGeom prst="rect">
            <a:avLst/>
          </a:prstGeom>
          <a:noFill/>
          <a:ln w="0">
            <a:noFill/>
          </a:ln>
        </p:spPr>
        <p:txBody>
          <a:bodyPr lIns="91440" tIns="91440" rIns="91440" bIns="91440" anchor="ctr">
            <a:noAutofit/>
          </a:bodyPr>
          <a:lstStyle/>
          <a:p>
            <a:pPr indent="0">
              <a:lnSpc>
                <a:spcPct val="100000"/>
              </a:lnSpc>
              <a:buNone/>
              <a:tabLst>
                <a:tab pos="0" algn="l"/>
              </a:tabLst>
            </a:pPr>
            <a:r>
              <a:rPr lang="en-US" sz="1400" b="0" strike="noStrike" spc="-1">
                <a:solidFill>
                  <a:srgbClr val="000000"/>
                </a:solidFill>
                <a:latin typeface="Arial"/>
                <a:ea typeface="Arial"/>
              </a:rPr>
              <a:t>3</a:t>
            </a:r>
            <a:endParaRPr lang="en-US" sz="1400" b="0" strike="noStrike" spc="-1">
              <a:solidFill>
                <a:srgbClr val="000000"/>
              </a:solidFill>
              <a:latin typeface="Arial"/>
            </a:endParaRPr>
          </a:p>
        </p:txBody>
      </p:sp>
      <p:sp>
        <p:nvSpPr>
          <p:cNvPr id="65" name="PlaceHolder 14"/>
          <p:cNvSpPr>
            <a:spLocks noGrp="1"/>
          </p:cNvSpPr>
          <p:nvPr>
            <p:ph type="subTitle"/>
          </p:nvPr>
        </p:nvSpPr>
        <p:spPr>
          <a:xfrm>
            <a:off x="6444360" y="2156040"/>
            <a:ext cx="1599840" cy="358920"/>
          </a:xfrm>
          <a:prstGeom prst="rect">
            <a:avLst/>
          </a:prstGeom>
          <a:noFill/>
          <a:ln w="0">
            <a:noFill/>
          </a:ln>
        </p:spPr>
        <p:txBody>
          <a:bodyPr lIns="91440" tIns="91440" rIns="91440" bIns="91440" anchor="b">
            <a:noAutofit/>
          </a:bodyPr>
          <a:lstStyle/>
          <a:p>
            <a:pPr indent="0" rtl="1">
              <a:lnSpc>
                <a:spcPct val="100000"/>
              </a:lnSpc>
              <a:buNone/>
              <a:tabLst>
                <a:tab pos="0" algn="l"/>
              </a:tabLst>
            </a:pPr>
            <a:r>
              <a:rPr lang="fa-IR" sz="2000" spc="-1" dirty="0">
                <a:solidFill>
                  <a:srgbClr val="000000"/>
                </a:solidFill>
                <a:cs typeface="B Titr"/>
              </a:rPr>
              <a:t>یادگیری ماشین چیست؟</a:t>
            </a:r>
            <a:endParaRPr lang="en-US" sz="2000" b="0" strike="noStrike" spc="-1" dirty="0">
              <a:solidFill>
                <a:srgbClr val="000000"/>
              </a:solidFill>
              <a:latin typeface="Arial"/>
            </a:endParaRPr>
          </a:p>
        </p:txBody>
      </p:sp>
      <p:sp>
        <p:nvSpPr>
          <p:cNvPr id="67" name="PlaceHolder 16"/>
          <p:cNvSpPr>
            <a:spLocks noGrp="1"/>
          </p:cNvSpPr>
          <p:nvPr>
            <p:ph type="subTitle"/>
          </p:nvPr>
        </p:nvSpPr>
        <p:spPr>
          <a:xfrm>
            <a:off x="6444360" y="3164400"/>
            <a:ext cx="1599840" cy="358920"/>
          </a:xfrm>
          <a:prstGeom prst="rect">
            <a:avLst/>
          </a:prstGeom>
          <a:noFill/>
          <a:ln w="0">
            <a:noFill/>
          </a:ln>
        </p:spPr>
        <p:txBody>
          <a:bodyPr lIns="91440" tIns="91440" rIns="91440" bIns="91440" anchor="b">
            <a:noAutofit/>
          </a:bodyPr>
          <a:lstStyle/>
          <a:p>
            <a:pPr indent="0" rtl="1">
              <a:lnSpc>
                <a:spcPct val="100000"/>
              </a:lnSpc>
              <a:buNone/>
              <a:tabLst>
                <a:tab pos="0" algn="l"/>
              </a:tabLst>
            </a:pPr>
            <a:r>
              <a:rPr lang="fa-IR" sz="2000" spc="-1" dirty="0">
                <a:solidFill>
                  <a:srgbClr val="000000"/>
                </a:solidFill>
                <a:cs typeface="B Titr"/>
              </a:rPr>
              <a:t>یادگیری نظارت شده</a:t>
            </a:r>
            <a:endParaRPr lang="en-US" sz="2000" b="0" strike="noStrike" spc="-1" dirty="0">
              <a:solidFill>
                <a:srgbClr val="000000"/>
              </a:solidFill>
              <a:latin typeface="Arial"/>
            </a:endParaRPr>
          </a:p>
        </p:txBody>
      </p:sp>
      <p:sp>
        <p:nvSpPr>
          <p:cNvPr id="69" name="PlaceHolder 18"/>
          <p:cNvSpPr>
            <a:spLocks noGrp="1"/>
          </p:cNvSpPr>
          <p:nvPr>
            <p:ph type="subTitle"/>
          </p:nvPr>
        </p:nvSpPr>
        <p:spPr>
          <a:xfrm>
            <a:off x="6444360" y="4172400"/>
            <a:ext cx="1599840" cy="358920"/>
          </a:xfrm>
          <a:prstGeom prst="rect">
            <a:avLst/>
          </a:prstGeom>
          <a:noFill/>
          <a:ln w="0">
            <a:noFill/>
          </a:ln>
        </p:spPr>
        <p:txBody>
          <a:bodyPr lIns="91440" tIns="91440" rIns="91440" bIns="91440" anchor="b">
            <a:noAutofit/>
          </a:bodyPr>
          <a:lstStyle/>
          <a:p>
            <a:pPr indent="0" rtl="1">
              <a:lnSpc>
                <a:spcPct val="100000"/>
              </a:lnSpc>
              <a:buNone/>
              <a:tabLst>
                <a:tab pos="0" algn="l"/>
              </a:tabLst>
            </a:pPr>
            <a:r>
              <a:rPr lang="fa-IR" sz="2000" spc="-1" dirty="0">
                <a:solidFill>
                  <a:srgbClr val="000000"/>
                </a:solidFill>
                <a:cs typeface="B Titr"/>
              </a:rPr>
              <a:t>یادگیری بدون نظارت</a:t>
            </a:r>
            <a:endParaRPr lang="en-US" sz="2000" b="0" strike="noStrike" spc="-1" dirty="0">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p15="http://schemas.microsoft.com/office/powerpoint/2012/main">
      <p:transition spd="med">
        <p:fade/>
      </p:transition>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wipe(down)">
                                      <p:cBhvr additive="repl">
                                        <p:cTn id="7" dur="500"/>
                                        <p:tgtEl>
                                          <p:spTgt spid="55"/>
                                        </p:tgtEl>
                                      </p:cBhvr>
                                    </p:animEffect>
                                  </p:childTnLst>
                                </p:cTn>
                              </p:par>
                              <p:par>
                                <p:cTn id="8" presetID="42" presetClass="entr" fill="hold" nodeType="withEffect">
                                  <p:stCondLst>
                                    <p:cond delay="0"/>
                                  </p:stCondLst>
                                  <p:childTnLst>
                                    <p:set>
                                      <p:cBhvr>
                                        <p:cTn id="9" dur="1" fill="hold">
                                          <p:stCondLst>
                                            <p:cond delay="0"/>
                                          </p:stCondLst>
                                        </p:cTn>
                                        <p:tgtEl>
                                          <p:spTgt spid="65">
                                            <p:txEl>
                                              <p:pRg st="0" end="0"/>
                                            </p:txEl>
                                          </p:spTgt>
                                        </p:tgtEl>
                                        <p:attrNameLst>
                                          <p:attrName>style.visibility</p:attrName>
                                        </p:attrNameLst>
                                      </p:cBhvr>
                                      <p:to>
                                        <p:strVal val="visible"/>
                                      </p:to>
                                    </p:set>
                                    <p:animEffect transition="in" filter="fade">
                                      <p:cBhvr additive="repl">
                                        <p:cTn id="10" dur="1000"/>
                                        <p:tgtEl>
                                          <p:spTgt spid="65">
                                            <p:txEl>
                                              <p:pRg st="0" end="0"/>
                                            </p:txEl>
                                          </p:spTgt>
                                        </p:tgtEl>
                                      </p:cBhvr>
                                    </p:animEffect>
                                    <p:anim calcmode="lin" valueType="num">
                                      <p:cBhvr additive="repl">
                                        <p:cTn id="11" dur="1000" fill="hold"/>
                                        <p:tgtEl>
                                          <p:spTgt spid="65">
                                            <p:txEl>
                                              <p:pRg st="0" end="0"/>
                                            </p:txEl>
                                          </p:spTgt>
                                        </p:tgtEl>
                                        <p:attrNameLst>
                                          <p:attrName>ppt_x</p:attrName>
                                        </p:attrNameLst>
                                      </p:cBhvr>
                                      <p:tavLst>
                                        <p:tav tm="0">
                                          <p:val>
                                            <p:strVal val="#ppt_x"/>
                                          </p:val>
                                        </p:tav>
                                        <p:tav tm="100000">
                                          <p:val>
                                            <p:strVal val="#ppt_x"/>
                                          </p:val>
                                        </p:tav>
                                      </p:tavLst>
                                    </p:anim>
                                    <p:anim calcmode="lin" valueType="num">
                                      <p:cBhvr additive="repl">
                                        <p:cTn id="12" dur="1000" fill="hold"/>
                                        <p:tgtEl>
                                          <p:spTgt spid="65">
                                            <p:txEl>
                                              <p:pRg st="0" end="0"/>
                                            </p:txEl>
                                          </p:spTgt>
                                        </p:tgtEl>
                                        <p:attrNameLst>
                                          <p:attrName>ppt_y</p:attrName>
                                        </p:attrNameLst>
                                      </p:cBhvr>
                                      <p:tavLst>
                                        <p:tav tm="0">
                                          <p:val>
                                            <p:strVal val="#ppt_y+.1"/>
                                          </p:val>
                                        </p:tav>
                                        <p:tav tm="100000">
                                          <p:val>
                                            <p:strVal val="#ppt_y"/>
                                          </p:val>
                                        </p:tav>
                                      </p:tavLst>
                                    </p:anim>
                                  </p:childTnLst>
                                </p:cTn>
                              </p:par>
                              <p:par>
                                <p:cTn id="13" presetID="42" presetClass="entr" fill="hold" nodeType="withEffect">
                                  <p:stCondLst>
                                    <p:cond delay="0"/>
                                  </p:stCondLst>
                                  <p:childTnLst>
                                    <p:set>
                                      <p:cBhvr>
                                        <p:cTn id="14" dur="1" fill="hold">
                                          <p:stCondLst>
                                            <p:cond delay="0"/>
                                          </p:stCondLst>
                                        </p:cTn>
                                        <p:tgtEl>
                                          <p:spTgt spid="56"/>
                                        </p:tgtEl>
                                        <p:attrNameLst>
                                          <p:attrName>style.visibility</p:attrName>
                                        </p:attrNameLst>
                                      </p:cBhvr>
                                      <p:to>
                                        <p:strVal val="visible"/>
                                      </p:to>
                                    </p:set>
                                    <p:animEffect transition="in" filter="fade">
                                      <p:cBhvr additive="repl">
                                        <p:cTn id="15" dur="1000"/>
                                        <p:tgtEl>
                                          <p:spTgt spid="56"/>
                                        </p:tgtEl>
                                      </p:cBhvr>
                                    </p:animEffect>
                                    <p:anim calcmode="lin" valueType="num">
                                      <p:cBhvr additive="repl">
                                        <p:cTn id="16" dur="1000" fill="hold"/>
                                        <p:tgtEl>
                                          <p:spTgt spid="56"/>
                                        </p:tgtEl>
                                        <p:attrNameLst>
                                          <p:attrName>ppt_x</p:attrName>
                                        </p:attrNameLst>
                                      </p:cBhvr>
                                      <p:tavLst>
                                        <p:tav tm="0">
                                          <p:val>
                                            <p:strVal val="#ppt_x"/>
                                          </p:val>
                                        </p:tav>
                                        <p:tav tm="100000">
                                          <p:val>
                                            <p:strVal val="#ppt_x"/>
                                          </p:val>
                                        </p:tav>
                                      </p:tavLst>
                                    </p:anim>
                                    <p:anim calcmode="lin" valueType="num">
                                      <p:cBhvr additive="repl">
                                        <p:cTn id="17"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2" presetClass="entr" fill="hold" nodeType="clickEffect">
                                  <p:stCondLst>
                                    <p:cond delay="0"/>
                                  </p:stCondLst>
                                  <p:childTnLst>
                                    <p:set>
                                      <p:cBhvr>
                                        <p:cTn id="21" dur="1" fill="hold">
                                          <p:stCondLst>
                                            <p:cond delay="0"/>
                                          </p:stCondLst>
                                        </p:cTn>
                                        <p:tgtEl>
                                          <p:spTgt spid="67">
                                            <p:txEl>
                                              <p:pRg st="0" end="0"/>
                                            </p:txEl>
                                          </p:spTgt>
                                        </p:tgtEl>
                                        <p:attrNameLst>
                                          <p:attrName>style.visibility</p:attrName>
                                        </p:attrNameLst>
                                      </p:cBhvr>
                                      <p:to>
                                        <p:strVal val="visible"/>
                                      </p:to>
                                    </p:set>
                                    <p:animEffect transition="in" filter="fade">
                                      <p:cBhvr additive="repl">
                                        <p:cTn id="22" dur="1000"/>
                                        <p:tgtEl>
                                          <p:spTgt spid="67">
                                            <p:txEl>
                                              <p:pRg st="0" end="0"/>
                                            </p:txEl>
                                          </p:spTgt>
                                        </p:tgtEl>
                                      </p:cBhvr>
                                    </p:animEffect>
                                    <p:anim calcmode="lin" valueType="num">
                                      <p:cBhvr additive="repl">
                                        <p:cTn id="23" dur="1000" fill="hold"/>
                                        <p:tgtEl>
                                          <p:spTgt spid="67">
                                            <p:txEl>
                                              <p:pRg st="0" end="0"/>
                                            </p:txEl>
                                          </p:spTgt>
                                        </p:tgtEl>
                                        <p:attrNameLst>
                                          <p:attrName>ppt_x</p:attrName>
                                        </p:attrNameLst>
                                      </p:cBhvr>
                                      <p:tavLst>
                                        <p:tav tm="0">
                                          <p:val>
                                            <p:strVal val="#ppt_x"/>
                                          </p:val>
                                        </p:tav>
                                        <p:tav tm="100000">
                                          <p:val>
                                            <p:strVal val="#ppt_x"/>
                                          </p:val>
                                        </p:tav>
                                      </p:tavLst>
                                    </p:anim>
                                    <p:anim calcmode="lin" valueType="num">
                                      <p:cBhvr additive="repl">
                                        <p:cTn id="24" dur="1000" fill="hold"/>
                                        <p:tgtEl>
                                          <p:spTgt spid="67">
                                            <p:txEl>
                                              <p:pRg st="0" end="0"/>
                                            </p:txEl>
                                          </p:spTgt>
                                        </p:tgtEl>
                                        <p:attrNameLst>
                                          <p:attrName>ppt_y</p:attrName>
                                        </p:attrNameLst>
                                      </p:cBhvr>
                                      <p:tavLst>
                                        <p:tav tm="0">
                                          <p:val>
                                            <p:strVal val="#ppt_y+.1"/>
                                          </p:val>
                                        </p:tav>
                                        <p:tav tm="100000">
                                          <p:val>
                                            <p:strVal val="#ppt_y"/>
                                          </p:val>
                                        </p:tav>
                                      </p:tavLst>
                                    </p:anim>
                                  </p:childTnLst>
                                </p:cTn>
                              </p:par>
                              <p:par>
                                <p:cTn id="25" presetID="42" presetClass="entr" fill="hold" nodeType="withEffect">
                                  <p:stCondLst>
                                    <p:cond delay="0"/>
                                  </p:stCondLst>
                                  <p:childTnLst>
                                    <p:set>
                                      <p:cBhvr>
                                        <p:cTn id="26" dur="1" fill="hold">
                                          <p:stCondLst>
                                            <p:cond delay="0"/>
                                          </p:stCondLst>
                                        </p:cTn>
                                        <p:tgtEl>
                                          <p:spTgt spid="57"/>
                                        </p:tgtEl>
                                        <p:attrNameLst>
                                          <p:attrName>style.visibility</p:attrName>
                                        </p:attrNameLst>
                                      </p:cBhvr>
                                      <p:to>
                                        <p:strVal val="visible"/>
                                      </p:to>
                                    </p:set>
                                    <p:animEffect transition="in" filter="fade">
                                      <p:cBhvr additive="repl">
                                        <p:cTn id="27" dur="1000"/>
                                        <p:tgtEl>
                                          <p:spTgt spid="57"/>
                                        </p:tgtEl>
                                      </p:cBhvr>
                                    </p:animEffect>
                                    <p:anim calcmode="lin" valueType="num">
                                      <p:cBhvr additive="repl">
                                        <p:cTn id="28" dur="1000" fill="hold"/>
                                        <p:tgtEl>
                                          <p:spTgt spid="57"/>
                                        </p:tgtEl>
                                        <p:attrNameLst>
                                          <p:attrName>ppt_x</p:attrName>
                                        </p:attrNameLst>
                                      </p:cBhvr>
                                      <p:tavLst>
                                        <p:tav tm="0">
                                          <p:val>
                                            <p:strVal val="#ppt_x"/>
                                          </p:val>
                                        </p:tav>
                                        <p:tav tm="100000">
                                          <p:val>
                                            <p:strVal val="#ppt_x"/>
                                          </p:val>
                                        </p:tav>
                                      </p:tavLst>
                                    </p:anim>
                                    <p:anim calcmode="lin" valueType="num">
                                      <p:cBhvr additive="repl">
                                        <p:cTn id="29" dur="1000" fill="hold"/>
                                        <p:tgtEl>
                                          <p:spTgt spid="57"/>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fill="hold" nodeType="clickEffect">
                                  <p:stCondLst>
                                    <p:cond delay="0"/>
                                  </p:stCondLst>
                                  <p:childTnLst>
                                    <p:set>
                                      <p:cBhvr>
                                        <p:cTn id="33" dur="1" fill="hold">
                                          <p:stCondLst>
                                            <p:cond delay="0"/>
                                          </p:stCondLst>
                                        </p:cTn>
                                        <p:tgtEl>
                                          <p:spTgt spid="69">
                                            <p:txEl>
                                              <p:pRg st="0" end="0"/>
                                            </p:txEl>
                                          </p:spTgt>
                                        </p:tgtEl>
                                        <p:attrNameLst>
                                          <p:attrName>style.visibility</p:attrName>
                                        </p:attrNameLst>
                                      </p:cBhvr>
                                      <p:to>
                                        <p:strVal val="visible"/>
                                      </p:to>
                                    </p:set>
                                    <p:animEffect transition="in" filter="fade">
                                      <p:cBhvr additive="repl">
                                        <p:cTn id="34" dur="1000"/>
                                        <p:tgtEl>
                                          <p:spTgt spid="69">
                                            <p:txEl>
                                              <p:pRg st="0" end="0"/>
                                            </p:txEl>
                                          </p:spTgt>
                                        </p:tgtEl>
                                      </p:cBhvr>
                                    </p:animEffect>
                                    <p:anim calcmode="lin" valueType="num">
                                      <p:cBhvr additive="repl">
                                        <p:cTn id="35" dur="1000" fill="hold"/>
                                        <p:tgtEl>
                                          <p:spTgt spid="69">
                                            <p:txEl>
                                              <p:pRg st="0" end="0"/>
                                            </p:txEl>
                                          </p:spTgt>
                                        </p:tgtEl>
                                        <p:attrNameLst>
                                          <p:attrName>ppt_x</p:attrName>
                                        </p:attrNameLst>
                                      </p:cBhvr>
                                      <p:tavLst>
                                        <p:tav tm="0">
                                          <p:val>
                                            <p:strVal val="#ppt_x"/>
                                          </p:val>
                                        </p:tav>
                                        <p:tav tm="100000">
                                          <p:val>
                                            <p:strVal val="#ppt_x"/>
                                          </p:val>
                                        </p:tav>
                                      </p:tavLst>
                                    </p:anim>
                                    <p:anim calcmode="lin" valueType="num">
                                      <p:cBhvr additive="repl">
                                        <p:cTn id="36" dur="1000" fill="hold"/>
                                        <p:tgtEl>
                                          <p:spTgt spid="69">
                                            <p:txEl>
                                              <p:pRg st="0" end="0"/>
                                            </p:txEl>
                                          </p:spTgt>
                                        </p:tgtEl>
                                        <p:attrNameLst>
                                          <p:attrName>ppt_y</p:attrName>
                                        </p:attrNameLst>
                                      </p:cBhvr>
                                      <p:tavLst>
                                        <p:tav tm="0">
                                          <p:val>
                                            <p:strVal val="#ppt_y+.1"/>
                                          </p:val>
                                        </p:tav>
                                        <p:tav tm="100000">
                                          <p:val>
                                            <p:strVal val="#ppt_y"/>
                                          </p:val>
                                        </p:tav>
                                      </p:tavLst>
                                    </p:anim>
                                  </p:childTnLst>
                                </p:cTn>
                              </p:par>
                              <p:par>
                                <p:cTn id="37" presetID="42" presetClass="entr" fill="hold" nodeType="withEffect">
                                  <p:stCondLst>
                                    <p:cond delay="0"/>
                                  </p:stCondLst>
                                  <p:childTnLst>
                                    <p:set>
                                      <p:cBhvr>
                                        <p:cTn id="38" dur="1" fill="hold">
                                          <p:stCondLst>
                                            <p:cond delay="0"/>
                                          </p:stCondLst>
                                        </p:cTn>
                                        <p:tgtEl>
                                          <p:spTgt spid="58"/>
                                        </p:tgtEl>
                                        <p:attrNameLst>
                                          <p:attrName>style.visibility</p:attrName>
                                        </p:attrNameLst>
                                      </p:cBhvr>
                                      <p:to>
                                        <p:strVal val="visible"/>
                                      </p:to>
                                    </p:set>
                                    <p:animEffect transition="in" filter="fade">
                                      <p:cBhvr additive="repl">
                                        <p:cTn id="39" dur="1000"/>
                                        <p:tgtEl>
                                          <p:spTgt spid="58"/>
                                        </p:tgtEl>
                                      </p:cBhvr>
                                    </p:animEffect>
                                    <p:anim calcmode="lin" valueType="num">
                                      <p:cBhvr additive="repl">
                                        <p:cTn id="40" dur="1000" fill="hold"/>
                                        <p:tgtEl>
                                          <p:spTgt spid="58"/>
                                        </p:tgtEl>
                                        <p:attrNameLst>
                                          <p:attrName>ppt_x</p:attrName>
                                        </p:attrNameLst>
                                      </p:cBhvr>
                                      <p:tavLst>
                                        <p:tav tm="0">
                                          <p:val>
                                            <p:strVal val="#ppt_x"/>
                                          </p:val>
                                        </p:tav>
                                        <p:tav tm="100000">
                                          <p:val>
                                            <p:strVal val="#ppt_x"/>
                                          </p:val>
                                        </p:tav>
                                      </p:tavLst>
                                    </p:anim>
                                    <p:anim calcmode="lin" valueType="num">
                                      <p:cBhvr additive="repl">
                                        <p:cTn id="41"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893520" y="2629800"/>
            <a:ext cx="3574440" cy="1021680"/>
          </a:xfrm>
          <a:prstGeom prst="rect">
            <a:avLst/>
          </a:prstGeom>
          <a:noFill/>
          <a:ln w="0">
            <a:noFill/>
          </a:ln>
        </p:spPr>
        <p:txBody>
          <a:bodyPr lIns="91440" tIns="91440" rIns="91440" bIns="91440" anchor="ctr">
            <a:noAutofit/>
          </a:bodyPr>
          <a:lstStyle/>
          <a:p>
            <a:pPr algn="r" rtl="1">
              <a:lnSpc>
                <a:spcPct val="100000"/>
              </a:lnSpc>
              <a:tabLst>
                <a:tab pos="0" algn="l"/>
              </a:tabLst>
            </a:pPr>
            <a:r>
              <a:rPr lang="fa-IR" sz="4000" spc="-1" dirty="0">
                <a:solidFill>
                  <a:srgbClr val="000000"/>
                </a:solidFill>
                <a:cs typeface="B Titr"/>
              </a:rPr>
              <a:t>یادگیری ماشین چیست؟</a:t>
            </a:r>
            <a:endParaRPr lang="en-US" sz="4000" b="0" strike="noStrike" spc="-1" dirty="0">
              <a:solidFill>
                <a:srgbClr val="000000"/>
              </a:solidFill>
              <a:latin typeface="Arial"/>
            </a:endParaRPr>
          </a:p>
        </p:txBody>
      </p:sp>
      <p:sp>
        <p:nvSpPr>
          <p:cNvPr id="72" name="PlaceHolder 2"/>
          <p:cNvSpPr>
            <a:spLocks noGrp="1"/>
          </p:cNvSpPr>
          <p:nvPr>
            <p:ph type="title"/>
          </p:nvPr>
        </p:nvSpPr>
        <p:spPr>
          <a:xfrm>
            <a:off x="539640" y="1995840"/>
            <a:ext cx="975960" cy="754200"/>
          </a:xfrm>
          <a:prstGeom prst="rect">
            <a:avLst/>
          </a:prstGeom>
          <a:noFill/>
          <a:ln w="0">
            <a:noFill/>
          </a:ln>
        </p:spPr>
        <p:txBody>
          <a:bodyPr lIns="91440" tIns="91440" rIns="91440" bIns="91440" anchor="ctr">
            <a:noAutofit/>
          </a:bodyPr>
          <a:lstStyle/>
          <a:p>
            <a:pPr indent="0">
              <a:lnSpc>
                <a:spcPct val="100000"/>
              </a:lnSpc>
              <a:buNone/>
              <a:tabLst>
                <a:tab pos="0" algn="l"/>
              </a:tabLst>
            </a:pPr>
            <a:r>
              <a:rPr lang="en-US" sz="11500" b="0" strike="noStrike" spc="-1">
                <a:solidFill>
                  <a:srgbClr val="000000"/>
                </a:solidFill>
                <a:latin typeface="Arial"/>
                <a:ea typeface="Arial"/>
              </a:rPr>
              <a:t>1</a:t>
            </a:r>
            <a:endParaRPr lang="en-US" sz="11500" b="0" strike="noStrike" spc="-1">
              <a:solidFill>
                <a:srgbClr val="000000"/>
              </a:solidFill>
              <a:latin typeface="Arial"/>
            </a:endParaRPr>
          </a:p>
        </p:txBody>
      </p:sp>
      <p:cxnSp>
        <p:nvCxnSpPr>
          <p:cNvPr id="73" name="Google Shape;177;p31"/>
          <p:cNvCxnSpPr/>
          <p:nvPr/>
        </p:nvCxnSpPr>
        <p:spPr>
          <a:xfrm>
            <a:off x="0" y="3795840"/>
            <a:ext cx="1561680" cy="360"/>
          </a:xfrm>
          <a:prstGeom prst="straightConnector1">
            <a:avLst/>
          </a:prstGeom>
          <a:ln w="9525">
            <a:solidFill>
              <a:srgbClr val="434343"/>
            </a:solidFill>
            <a:round/>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p15="http://schemas.microsoft.com/office/powerpoint/2012/main">
      <p:transition spd="med">
        <p:fade/>
      </p:transition>
    </mc:Fallback>
  </mc:AlternateContent>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wipe(left)">
                                      <p:cBhvr additive="repl">
                                        <p:cTn id="7" dur="500"/>
                                        <p:tgtEl>
                                          <p:spTgt spid="73"/>
                                        </p:tgtEl>
                                      </p:cBhvr>
                                    </p:animEffect>
                                  </p:childTnLst>
                                </p:cTn>
                              </p:par>
                              <p:par>
                                <p:cTn id="8" presetID="10" presetClass="entr" fill="hold" nodeType="withEffect">
                                  <p:stCondLst>
                                    <p:cond delay="0"/>
                                  </p:stCondLst>
                                  <p:childTnLst>
                                    <p:set>
                                      <p:cBhvr>
                                        <p:cTn id="9" dur="1" fill="hold">
                                          <p:stCondLst>
                                            <p:cond delay="0"/>
                                          </p:stCondLst>
                                        </p:cTn>
                                        <p:tgtEl>
                                          <p:spTgt spid="71"/>
                                        </p:tgtEl>
                                        <p:attrNameLst>
                                          <p:attrName>style.visibility</p:attrName>
                                        </p:attrNameLst>
                                      </p:cBhvr>
                                      <p:to>
                                        <p:strVal val="visible"/>
                                      </p:to>
                                    </p:set>
                                    <p:animEffect transition="in" filter="fade">
                                      <p:cBhvr additive="repl">
                                        <p:cTn id="10" dur="500"/>
                                        <p:tgtEl>
                                          <p:spTgt spid="71"/>
                                        </p:tgtEl>
                                      </p:cBhvr>
                                    </p:animEffect>
                                  </p:childTnLst>
                                </p:cTn>
                              </p:par>
                              <p:par>
                                <p:cTn id="11" presetID="10" presetClass="entr" fill="hold" nodeType="withEffect">
                                  <p:stCondLst>
                                    <p:cond delay="0"/>
                                  </p:stCondLst>
                                  <p:childTnLst>
                                    <p:set>
                                      <p:cBhvr>
                                        <p:cTn id="12" dur="1" fill="hold">
                                          <p:stCondLst>
                                            <p:cond delay="0"/>
                                          </p:stCondLst>
                                        </p:cTn>
                                        <p:tgtEl>
                                          <p:spTgt spid="72"/>
                                        </p:tgtEl>
                                        <p:attrNameLst>
                                          <p:attrName>style.visibility</p:attrName>
                                        </p:attrNameLst>
                                      </p:cBhvr>
                                      <p:to>
                                        <p:strVal val="visible"/>
                                      </p:to>
                                    </p:set>
                                    <p:animEffect transition="in" filter="fade">
                                      <p:cBhvr additive="repl">
                                        <p:cTn id="13"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8" name="Google Shape;223;p35"/>
          <p:cNvCxnSpPr/>
          <p:nvPr/>
        </p:nvCxnSpPr>
        <p:spPr>
          <a:xfrm>
            <a:off x="3957480" y="3045240"/>
            <a:ext cx="1368360" cy="360"/>
          </a:xfrm>
          <a:prstGeom prst="straightConnector1">
            <a:avLst/>
          </a:prstGeom>
          <a:ln w="9525">
            <a:solidFill>
              <a:srgbClr val="434343"/>
            </a:solidFill>
            <a:round/>
          </a:ln>
        </p:spPr>
      </p:cxnSp>
      <p:sp>
        <p:nvSpPr>
          <p:cNvPr id="79" name="Rectangle 8"/>
          <p:cNvSpPr/>
          <p:nvPr/>
        </p:nvSpPr>
        <p:spPr>
          <a:xfrm>
            <a:off x="426240" y="2703240"/>
            <a:ext cx="3533760" cy="108807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rtl="1">
              <a:lnSpc>
                <a:spcPct val="120000"/>
              </a:lnSpc>
              <a:spcBef>
                <a:spcPts val="1191"/>
              </a:spcBef>
              <a:spcAft>
                <a:spcPts val="992"/>
              </a:spcAft>
            </a:pPr>
            <a:r>
              <a:rPr lang="fa-IR" sz="1800" b="1" strike="noStrike" spc="-1" dirty="0">
                <a:solidFill>
                  <a:schemeClr val="dk1"/>
                </a:solidFill>
                <a:latin typeface="Arial"/>
                <a:cs typeface="B Koodak" panose="00000700000000000000" pitchFamily="2" charset="-78"/>
              </a:rPr>
              <a:t>یادگیری ماشین حوزه‌ای است که بدون برنامه‌ریزی مستقیم به کامپیوترها قابلیت یادگیری می‌دهد.</a:t>
            </a:r>
            <a:endParaRPr lang="en-US" sz="1800" b="0" strike="noStrike" spc="-1" dirty="0">
              <a:solidFill>
                <a:srgbClr val="000000"/>
              </a:solidFill>
              <a:latin typeface="Arial"/>
              <a:cs typeface="B Koodak" panose="00000700000000000000" pitchFamily="2" charset="-78"/>
            </a:endParaRPr>
          </a:p>
        </p:txBody>
      </p:sp>
      <p:sp>
        <p:nvSpPr>
          <p:cNvPr id="80" name="PlaceHolder 1"/>
          <p:cNvSpPr>
            <a:spLocks noGrp="1"/>
          </p:cNvSpPr>
          <p:nvPr>
            <p:ph type="title"/>
          </p:nvPr>
        </p:nvSpPr>
        <p:spPr>
          <a:xfrm>
            <a:off x="1964880" y="352800"/>
            <a:ext cx="5213880" cy="94572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fa-IR" sz="3200" b="0" strike="noStrike" spc="-1">
                <a:solidFill>
                  <a:srgbClr val="000000"/>
                </a:solidFill>
                <a:latin typeface="Arial"/>
                <a:cs typeface="B Titr"/>
              </a:rPr>
              <a:t>تعاریف</a:t>
            </a:r>
            <a:endParaRPr lang="en-US" sz="3200" b="0" strike="noStrike" spc="-1">
              <a:solidFill>
                <a:srgbClr val="000000"/>
              </a:solidFill>
              <a:latin typeface="Arial"/>
            </a:endParaRPr>
          </a:p>
        </p:txBody>
      </p:sp>
      <p:pic>
        <p:nvPicPr>
          <p:cNvPr id="81" name="Picture 80"/>
          <p:cNvPicPr/>
          <p:nvPr/>
        </p:nvPicPr>
        <p:blipFill>
          <a:blip r:embed="rId2"/>
          <a:stretch/>
        </p:blipFill>
        <p:spPr>
          <a:xfrm>
            <a:off x="4701960" y="1440000"/>
            <a:ext cx="3398040" cy="2923560"/>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p15="http://schemas.microsoft.com/office/powerpoint/2012/main">
      <p:transition spd="med">
        <p:fade/>
      </p:transition>
    </mc:Fallback>
  </mc:AlternateContent>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wipe(right)">
                                      <p:cBhvr additive="repl">
                                        <p:cTn id="7" dur="500"/>
                                        <p:tgtEl>
                                          <p:spTgt spid="78"/>
                                        </p:tgtEl>
                                      </p:cBhvr>
                                    </p:animEffect>
                                  </p:childTnLst>
                                </p:cTn>
                              </p:par>
                            </p:childTnLst>
                          </p:cTn>
                        </p:par>
                        <p:par>
                          <p:cTn id="8" fill="hold">
                            <p:stCondLst>
                              <p:cond delay="500"/>
                            </p:stCondLst>
                            <p:childTnLst>
                              <p:par>
                                <p:cTn id="9" presetID="10" presetClass="entr" fill="hold" nodeType="afterEffect">
                                  <p:stCondLst>
                                    <p:cond delay="0"/>
                                  </p:stCondLst>
                                  <p:childTnLst>
                                    <p:set>
                                      <p:cBhvr>
                                        <p:cTn id="10" dur="1" fill="hold">
                                          <p:stCondLst>
                                            <p:cond delay="0"/>
                                          </p:stCondLst>
                                        </p:cTn>
                                        <p:tgtEl>
                                          <p:spTgt spid="79"/>
                                        </p:tgtEl>
                                        <p:attrNameLst>
                                          <p:attrName>style.visibility</p:attrName>
                                        </p:attrNameLst>
                                      </p:cBhvr>
                                      <p:to>
                                        <p:strVal val="visible"/>
                                      </p:to>
                                    </p:set>
                                    <p:animEffect transition="in" filter="fade">
                                      <p:cBhvr additive="repl">
                                        <p:cTn id="11"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PlaceHolder 1"/>
          <p:cNvSpPr>
            <a:spLocks noGrp="1"/>
          </p:cNvSpPr>
          <p:nvPr>
            <p:ph type="subTitle"/>
          </p:nvPr>
        </p:nvSpPr>
        <p:spPr>
          <a:xfrm>
            <a:off x="1331640" y="1455840"/>
            <a:ext cx="5976360" cy="1784160"/>
          </a:xfrm>
          <a:prstGeom prst="rect">
            <a:avLst/>
          </a:prstGeom>
          <a:noFill/>
          <a:ln w="0">
            <a:noFill/>
          </a:ln>
        </p:spPr>
        <p:txBody>
          <a:bodyPr lIns="91440" tIns="91440" rIns="91440" bIns="91440" anchor="t">
            <a:noAutofit/>
          </a:bodyPr>
          <a:lstStyle/>
          <a:p>
            <a:pPr algn="just" rtl="1">
              <a:lnSpc>
                <a:spcPct val="150000"/>
              </a:lnSpc>
              <a:spcBef>
                <a:spcPts val="1191"/>
              </a:spcBef>
              <a:spcAft>
                <a:spcPts val="992"/>
              </a:spcAft>
              <a:tabLst>
                <a:tab pos="0" algn="l"/>
              </a:tabLst>
            </a:pPr>
            <a:r>
              <a:rPr lang="fa-IR" sz="2000" b="0" strike="noStrike" spc="-1" dirty="0">
                <a:solidFill>
                  <a:srgbClr val="000000"/>
                </a:solidFill>
                <a:latin typeface="Arial"/>
                <a:cs typeface="B Koodak" panose="00000700000000000000" pitchFamily="2" charset="-78"/>
              </a:rPr>
              <a:t>یادگیری ماشین قابلیت یادگیری به کامپیوترها می‌دهد. یعنی با یادگیری ماشین، کامپیوترها مباحث جدیدی یاد می‌گیرند.</a:t>
            </a:r>
            <a:endParaRPr lang="en-US" sz="2000" b="0" strike="noStrike" spc="-1" dirty="0">
              <a:solidFill>
                <a:srgbClr val="000000"/>
              </a:solidFill>
              <a:latin typeface="Arial"/>
              <a:cs typeface="B Koodak" panose="00000700000000000000" pitchFamily="2" charset="-78"/>
            </a:endParaRPr>
          </a:p>
          <a:p>
            <a:pPr algn="just" rtl="1">
              <a:lnSpc>
                <a:spcPct val="150000"/>
              </a:lnSpc>
              <a:spcBef>
                <a:spcPts val="1191"/>
              </a:spcBef>
              <a:spcAft>
                <a:spcPts val="992"/>
              </a:spcAft>
              <a:tabLst>
                <a:tab pos="0" algn="l"/>
              </a:tabLst>
            </a:pPr>
            <a:r>
              <a:rPr lang="fa-IR" sz="2000" b="0" strike="noStrike" spc="-1" dirty="0">
                <a:solidFill>
                  <a:srgbClr val="000000"/>
                </a:solidFill>
                <a:latin typeface="Arial"/>
                <a:cs typeface="B Koodak" panose="00000700000000000000" pitchFamily="2" charset="-78"/>
              </a:rPr>
              <a:t>با استفاده از یادگیری ماشین، کامپیوترها برای یادگیری نیاز به برنامه‌ریزی مستقیم ندارند. یعنی یادگیری ماشین نقطه مقابل برنامه‌ریزی مستقیم است!</a:t>
            </a:r>
            <a:endParaRPr lang="en-US" sz="2000" b="0" strike="noStrike" spc="-1" dirty="0">
              <a:solidFill>
                <a:srgbClr val="000000"/>
              </a:solidFill>
              <a:latin typeface="Arial"/>
              <a:cs typeface="B Koodak" panose="00000700000000000000" pitchFamily="2" charset="-78"/>
            </a:endParaRPr>
          </a:p>
          <a:p>
            <a:pPr algn="just" rtl="1">
              <a:lnSpc>
                <a:spcPct val="150000"/>
              </a:lnSpc>
              <a:spcBef>
                <a:spcPts val="1191"/>
              </a:spcBef>
              <a:spcAft>
                <a:spcPts val="992"/>
              </a:spcAft>
              <a:tabLst>
                <a:tab pos="0" algn="l"/>
              </a:tabLst>
            </a:pPr>
            <a:endParaRPr lang="en-US" sz="2000" b="0" strike="noStrike" spc="-1" dirty="0">
              <a:solidFill>
                <a:srgbClr val="000000"/>
              </a:solidFill>
              <a:latin typeface="Arial"/>
              <a:cs typeface="B Koodak" panose="00000700000000000000" pitchFamily="2" charset="-78"/>
            </a:endParaRPr>
          </a:p>
        </p:txBody>
      </p:sp>
      <p:cxnSp>
        <p:nvCxnSpPr>
          <p:cNvPr id="83" name="Google Shape;185;p32"/>
          <p:cNvCxnSpPr/>
          <p:nvPr/>
        </p:nvCxnSpPr>
        <p:spPr>
          <a:xfrm>
            <a:off x="4569480" y="1059480"/>
            <a:ext cx="4574880" cy="360"/>
          </a:xfrm>
          <a:prstGeom prst="straightConnector1">
            <a:avLst/>
          </a:prstGeom>
          <a:ln w="9525">
            <a:solidFill>
              <a:srgbClr val="434343"/>
            </a:solidFill>
            <a:round/>
          </a:ln>
        </p:spPr>
      </p:cxnSp>
      <p:cxnSp>
        <p:nvCxnSpPr>
          <p:cNvPr id="84" name="Google Shape;186;p32"/>
          <p:cNvCxnSpPr/>
          <p:nvPr/>
        </p:nvCxnSpPr>
        <p:spPr>
          <a:xfrm>
            <a:off x="0" y="4443840"/>
            <a:ext cx="4574520" cy="360"/>
          </a:xfrm>
          <a:prstGeom prst="straightConnector1">
            <a:avLst/>
          </a:prstGeom>
          <a:ln w="9525">
            <a:solidFill>
              <a:srgbClr val="434343"/>
            </a:solidFill>
            <a:round/>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p15="http://schemas.microsoft.com/office/powerpoint/2012/main">
      <p:transition spd="med">
        <p:fade/>
      </p:transition>
    </mc:Fallback>
  </mc:AlternateContent>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83"/>
                                        </p:tgtEl>
                                        <p:attrNameLst>
                                          <p:attrName>style.visibility</p:attrName>
                                        </p:attrNameLst>
                                      </p:cBhvr>
                                      <p:to>
                                        <p:strVal val="visible"/>
                                      </p:to>
                                    </p:set>
                                    <p:animEffect transition="in" filter="barn(inVertical)">
                                      <p:cBhvr additive="repl">
                                        <p:cTn id="7" dur="1000"/>
                                        <p:tgtEl>
                                          <p:spTgt spid="83"/>
                                        </p:tgtEl>
                                      </p:cBhvr>
                                    </p:animEffect>
                                  </p:childTnLst>
                                </p:cTn>
                              </p:par>
                              <p:par>
                                <p:cTn id="8" presetID="16" presetClass="entr" presetSubtype="21" fill="hold" nodeType="withEffect">
                                  <p:stCondLst>
                                    <p:cond delay="0"/>
                                  </p:stCondLst>
                                  <p:childTnLst>
                                    <p:set>
                                      <p:cBhvr>
                                        <p:cTn id="9" dur="1" fill="hold">
                                          <p:stCondLst>
                                            <p:cond delay="0"/>
                                          </p:stCondLst>
                                        </p:cTn>
                                        <p:tgtEl>
                                          <p:spTgt spid="84"/>
                                        </p:tgtEl>
                                        <p:attrNameLst>
                                          <p:attrName>style.visibility</p:attrName>
                                        </p:attrNameLst>
                                      </p:cBhvr>
                                      <p:to>
                                        <p:strVal val="visible"/>
                                      </p:to>
                                    </p:set>
                                    <p:animEffect transition="in" filter="barn(inVertical)">
                                      <p:cBhvr additive="repl">
                                        <p:cTn id="10" dur="1000"/>
                                        <p:tgtEl>
                                          <p:spTgt spid="84"/>
                                        </p:tgtEl>
                                      </p:cBhvr>
                                    </p:animEffect>
                                  </p:childTnLst>
                                </p:cTn>
                              </p:par>
                              <p:par>
                                <p:cTn id="11" presetID="10" presetClass="entr" fill="hold" nodeType="withEffect">
                                  <p:stCondLst>
                                    <p:cond delay="0"/>
                                  </p:stCondLst>
                                  <p:childTnLst>
                                    <p:set>
                                      <p:cBhvr>
                                        <p:cTn id="12" dur="1" fill="hold">
                                          <p:stCondLst>
                                            <p:cond delay="0"/>
                                          </p:stCondLst>
                                        </p:cTn>
                                        <p:tgtEl>
                                          <p:spTgt spid="82">
                                            <p:txEl>
                                              <p:pRg st="0" end="0"/>
                                            </p:txEl>
                                          </p:spTgt>
                                        </p:tgtEl>
                                        <p:attrNameLst>
                                          <p:attrName>style.visibility</p:attrName>
                                        </p:attrNameLst>
                                      </p:cBhvr>
                                      <p:to>
                                        <p:strVal val="visible"/>
                                      </p:to>
                                    </p:set>
                                    <p:animEffect transition="in" filter="fade">
                                      <p:cBhvr additive="repl">
                                        <p:cTn id="13" dur="1000"/>
                                        <p:tgtEl>
                                          <p:spTgt spid="8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5" name="Picture 84"/>
          <p:cNvPicPr/>
          <p:nvPr/>
        </p:nvPicPr>
        <p:blipFill>
          <a:blip r:embed="rId2"/>
          <a:stretch/>
        </p:blipFill>
        <p:spPr>
          <a:xfrm>
            <a:off x="180000" y="360000"/>
            <a:ext cx="8778600" cy="4388760"/>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p15="http://schemas.microsoft.com/office/powerpoint/2012/main">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B4928DF-6C92-7BFA-E59D-44C355FF61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4731" y="742950"/>
            <a:ext cx="7694537" cy="4101612"/>
          </a:xfrm>
          <a:prstGeom prst="rect">
            <a:avLst/>
          </a:prstGeom>
        </p:spPr>
      </p:pic>
      <p:sp>
        <p:nvSpPr>
          <p:cNvPr id="6" name="TextBox 5">
            <a:extLst>
              <a:ext uri="{FF2B5EF4-FFF2-40B4-BE49-F238E27FC236}">
                <a16:creationId xmlns:a16="http://schemas.microsoft.com/office/drawing/2014/main" id="{803DDDA8-C378-37FC-D9D8-5984600AD3D4}"/>
              </a:ext>
            </a:extLst>
          </p:cNvPr>
          <p:cNvSpPr txBox="1"/>
          <p:nvPr/>
        </p:nvSpPr>
        <p:spPr>
          <a:xfrm>
            <a:off x="4000500" y="131884"/>
            <a:ext cx="4418768" cy="523220"/>
          </a:xfrm>
          <a:prstGeom prst="rect">
            <a:avLst/>
          </a:prstGeom>
          <a:noFill/>
        </p:spPr>
        <p:txBody>
          <a:bodyPr wrap="square" rtlCol="0">
            <a:spAutoFit/>
          </a:bodyPr>
          <a:lstStyle/>
          <a:p>
            <a:pPr algn="r" rtl="1"/>
            <a:r>
              <a:rPr lang="fa-IR" sz="2800" b="1" dirty="0">
                <a:cs typeface="B Koodak" panose="00000700000000000000" pitchFamily="2" charset="-78"/>
              </a:rPr>
              <a:t>مثال : تشخیص هرزنامه</a:t>
            </a:r>
            <a:endParaRPr lang="en-US" sz="2800" b="1" dirty="0">
              <a:cs typeface="B Koodak" panose="00000700000000000000" pitchFamily="2" charset="-78"/>
            </a:endParaRPr>
          </a:p>
        </p:txBody>
      </p:sp>
    </p:spTree>
    <p:extLst>
      <p:ext uri="{BB962C8B-B14F-4D97-AF65-F5344CB8AC3E}">
        <p14:creationId xmlns:p14="http://schemas.microsoft.com/office/powerpoint/2010/main" val="30173206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175D3-1118-7E45-918F-4D63FE03F8F0}"/>
              </a:ext>
            </a:extLst>
          </p:cNvPr>
          <p:cNvSpPr>
            <a:spLocks noGrp="1"/>
          </p:cNvSpPr>
          <p:nvPr>
            <p:ph type="title"/>
          </p:nvPr>
        </p:nvSpPr>
        <p:spPr/>
        <p:txBody>
          <a:bodyPr/>
          <a:lstStyle/>
          <a:p>
            <a:pPr algn="r" rtl="1"/>
            <a:r>
              <a:rPr lang="fa-IR" sz="4400" b="1" dirty="0">
                <a:cs typeface="B Koodak" panose="00000700000000000000" pitchFamily="2" charset="-78"/>
              </a:rPr>
              <a:t>تشخیص هرزنامه</a:t>
            </a:r>
            <a:endParaRPr lang="en-US" dirty="0"/>
          </a:p>
        </p:txBody>
      </p:sp>
      <p:sp>
        <p:nvSpPr>
          <p:cNvPr id="3" name="Content Placeholder 2">
            <a:extLst>
              <a:ext uri="{FF2B5EF4-FFF2-40B4-BE49-F238E27FC236}">
                <a16:creationId xmlns:a16="http://schemas.microsoft.com/office/drawing/2014/main" id="{916AB573-41F7-DEA5-DC1D-64ECDF7E6243}"/>
              </a:ext>
            </a:extLst>
          </p:cNvPr>
          <p:cNvSpPr>
            <a:spLocks noGrp="1"/>
          </p:cNvSpPr>
          <p:nvPr>
            <p:ph/>
          </p:nvPr>
        </p:nvSpPr>
        <p:spPr>
          <a:xfrm>
            <a:off x="457200" y="1408680"/>
            <a:ext cx="8229240" cy="3734820"/>
          </a:xfrm>
        </p:spPr>
        <p:txBody>
          <a:bodyPr>
            <a:normAutofit/>
          </a:bodyPr>
          <a:lstStyle/>
          <a:p>
            <a:pPr marL="0" indent="0" algn="r" rtl="1">
              <a:buNone/>
            </a:pPr>
            <a:r>
              <a:rPr lang="fa-IR" sz="2400" dirty="0">
                <a:solidFill>
                  <a:schemeClr val="accent6"/>
                </a:solidFill>
                <a:cs typeface="B Nazanin" panose="00000400000000000000" pitchFamily="2" charset="-78"/>
              </a:rPr>
              <a:t>فرض کنید برنامه ایمیل شما به شما امکان می دهد که ایمیل های دریافتی خود را به عنوان</a:t>
            </a:r>
            <a:r>
              <a:rPr lang="en-US" sz="2400" dirty="0">
                <a:solidFill>
                  <a:schemeClr val="accent6"/>
                </a:solidFill>
                <a:cs typeface="B Nazanin" panose="00000400000000000000" pitchFamily="2" charset="-78"/>
              </a:rPr>
              <a:t> </a:t>
            </a:r>
            <a:r>
              <a:rPr lang="fa-IR" sz="2400" dirty="0">
                <a:solidFill>
                  <a:schemeClr val="accent6"/>
                </a:solidFill>
                <a:cs typeface="B Nazanin" panose="00000400000000000000" pitchFamily="2" charset="-78"/>
              </a:rPr>
              <a:t>هرزنامه علامت بزنید و بر این اساس یاد می گیرد که چگونه هرزنامه ها را بهتر فیلتر کند.</a:t>
            </a:r>
          </a:p>
          <a:p>
            <a:pPr algn="r" rtl="1"/>
            <a:r>
              <a:rPr lang="fa-IR" sz="2400" dirty="0">
                <a:solidFill>
                  <a:schemeClr val="accent6"/>
                </a:solidFill>
                <a:cs typeface="B Nazanin" panose="00000400000000000000" pitchFamily="2" charset="-78"/>
              </a:rPr>
              <a:t>وظیفه: دسته بندی ایمیل ها به عنوان هرزنامه یا ایمیل.</a:t>
            </a:r>
          </a:p>
          <a:p>
            <a:pPr algn="r" rtl="1"/>
            <a:r>
              <a:rPr lang="fa-IR" sz="2400" dirty="0">
                <a:solidFill>
                  <a:schemeClr val="accent6"/>
                </a:solidFill>
                <a:cs typeface="B Nazanin" panose="00000400000000000000" pitchFamily="2" charset="-78"/>
              </a:rPr>
              <a:t>تجربه: نظارت بر این که شما کدام ایمیل ها را به عنوان هرزنامه علامت می زنید.</a:t>
            </a:r>
          </a:p>
          <a:p>
            <a:pPr algn="r" rtl="1"/>
            <a:r>
              <a:rPr lang="fa-IR" sz="2400" dirty="0">
                <a:solidFill>
                  <a:schemeClr val="accent6"/>
                </a:solidFill>
                <a:cs typeface="B Nazanin" panose="00000400000000000000" pitchFamily="2" charset="-78"/>
              </a:rPr>
              <a:t>معیار کارایی: تعداد ایمیل هایی که به درستی دسته بندی شده اند.</a:t>
            </a:r>
            <a:endParaRPr lang="en-US" sz="2400" dirty="0">
              <a:solidFill>
                <a:schemeClr val="accent6"/>
              </a:solidFill>
              <a:cs typeface="B Nazanin" panose="00000400000000000000" pitchFamily="2" charset="-78"/>
            </a:endParaRPr>
          </a:p>
        </p:txBody>
      </p:sp>
    </p:spTree>
    <p:extLst>
      <p:ext uri="{BB962C8B-B14F-4D97-AF65-F5344CB8AC3E}">
        <p14:creationId xmlns:p14="http://schemas.microsoft.com/office/powerpoint/2010/main" val="22105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175D3-1118-7E45-918F-4D63FE03F8F0}"/>
              </a:ext>
            </a:extLst>
          </p:cNvPr>
          <p:cNvSpPr>
            <a:spLocks noGrp="1"/>
          </p:cNvSpPr>
          <p:nvPr>
            <p:ph type="title"/>
          </p:nvPr>
        </p:nvSpPr>
        <p:spPr>
          <a:xfrm>
            <a:off x="457200" y="0"/>
            <a:ext cx="8229240" cy="858600"/>
          </a:xfrm>
        </p:spPr>
        <p:txBody>
          <a:bodyPr/>
          <a:lstStyle/>
          <a:p>
            <a:pPr algn="r" rtl="1"/>
            <a:r>
              <a:rPr lang="fa-IR" sz="4400" b="1" dirty="0">
                <a:cs typeface="B Koodak" panose="00000700000000000000" pitchFamily="2" charset="-78"/>
              </a:rPr>
              <a:t>تشخیص هرزنامه</a:t>
            </a:r>
            <a:endParaRPr lang="en-US" dirty="0"/>
          </a:p>
        </p:txBody>
      </p:sp>
      <p:sp>
        <p:nvSpPr>
          <p:cNvPr id="3" name="Content Placeholder 2">
            <a:extLst>
              <a:ext uri="{FF2B5EF4-FFF2-40B4-BE49-F238E27FC236}">
                <a16:creationId xmlns:a16="http://schemas.microsoft.com/office/drawing/2014/main" id="{916AB573-41F7-DEA5-DC1D-64ECDF7E6243}"/>
              </a:ext>
            </a:extLst>
          </p:cNvPr>
          <p:cNvSpPr>
            <a:spLocks noGrp="1"/>
          </p:cNvSpPr>
          <p:nvPr>
            <p:ph/>
          </p:nvPr>
        </p:nvSpPr>
        <p:spPr>
          <a:xfrm>
            <a:off x="518746" y="858600"/>
            <a:ext cx="8229240" cy="4179392"/>
          </a:xfrm>
        </p:spPr>
        <p:txBody>
          <a:bodyPr>
            <a:normAutofit lnSpcReduction="10000"/>
          </a:bodyPr>
          <a:lstStyle/>
          <a:p>
            <a:pPr marL="0" indent="0" algn="r" rtl="1">
              <a:buNone/>
            </a:pPr>
            <a:r>
              <a:rPr lang="fa-IR" sz="2400" dirty="0">
                <a:solidFill>
                  <a:schemeClr val="accent6"/>
                </a:solidFill>
                <a:cs typeface="B Nazanin" panose="00000400000000000000" pitchFamily="2" charset="-78"/>
              </a:rPr>
              <a:t> یادگیری ماشین. بهبود عملکرد ماشین در انجام یک وظیفه با کسب تجربه.</a:t>
            </a:r>
          </a:p>
          <a:p>
            <a:pPr marL="0" indent="0" algn="r" rtl="1">
              <a:buNone/>
            </a:pPr>
            <a:endParaRPr lang="fa-IR" sz="2400" dirty="0">
              <a:solidFill>
                <a:schemeClr val="accent6"/>
              </a:solidFill>
              <a:cs typeface="B Nazanin" panose="00000400000000000000" pitchFamily="2" charset="-78"/>
            </a:endParaRPr>
          </a:p>
          <a:p>
            <a:pPr marL="0" indent="0" algn="r" rtl="1">
              <a:buNone/>
            </a:pPr>
            <a:r>
              <a:rPr lang="fa-IR" sz="2400" dirty="0">
                <a:solidFill>
                  <a:schemeClr val="accent6"/>
                </a:solidFill>
                <a:cs typeface="B Nazanin" panose="00000400000000000000" pitchFamily="2" charset="-78"/>
              </a:rPr>
              <a:t>یک ماشین از کجا می تواند بفهمد عملکردش بهبود یافته است؟</a:t>
            </a:r>
          </a:p>
          <a:p>
            <a:pPr marL="0" indent="0" algn="r" rtl="1">
              <a:buNone/>
            </a:pPr>
            <a:endParaRPr lang="fa-IR" sz="2400" dirty="0">
              <a:solidFill>
                <a:schemeClr val="accent6"/>
              </a:solidFill>
              <a:cs typeface="B Nazanin" panose="00000400000000000000" pitchFamily="2" charset="-78"/>
            </a:endParaRPr>
          </a:p>
          <a:p>
            <a:pPr marL="342900" indent="-342900" algn="r" rtl="1">
              <a:buFont typeface="Arial" panose="020B0604020202020204" pitchFamily="34" charset="0"/>
              <a:buChar char="•"/>
            </a:pPr>
            <a:r>
              <a:rPr lang="fa-IR" sz="2400" dirty="0">
                <a:solidFill>
                  <a:schemeClr val="accent6"/>
                </a:solidFill>
                <a:cs typeface="B Nazanin" panose="00000400000000000000" pitchFamily="2" charset="-78"/>
              </a:rPr>
              <a:t>می توانیم به ماشین پاسخ درست را برای چند نمونه محدود از ورودی ها بدهیم به این امید که بتواند آن را برای نمونه های دیگر تعمیم دهد -- </a:t>
            </a:r>
            <a:r>
              <a:rPr lang="fa-IR" sz="2400" dirty="0">
                <a:solidFill>
                  <a:srgbClr val="FF0000"/>
                </a:solidFill>
                <a:cs typeface="B Nazanin" panose="00000400000000000000" pitchFamily="2" charset="-78"/>
              </a:rPr>
              <a:t>یادگیری نظارت شده</a:t>
            </a:r>
          </a:p>
          <a:p>
            <a:pPr algn="r" rtl="1"/>
            <a:endParaRPr lang="fa-IR" sz="2400" dirty="0">
              <a:solidFill>
                <a:schemeClr val="accent6"/>
              </a:solidFill>
              <a:cs typeface="B Nazanin" panose="00000400000000000000" pitchFamily="2" charset="-78"/>
            </a:endParaRPr>
          </a:p>
          <a:p>
            <a:pPr marL="342900" indent="-342900" algn="r" rtl="1">
              <a:buFont typeface="Arial" panose="020B0604020202020204" pitchFamily="34" charset="0"/>
              <a:buChar char="•"/>
            </a:pPr>
            <a:r>
              <a:rPr lang="fa-IR" sz="2400" dirty="0">
                <a:solidFill>
                  <a:schemeClr val="accent6"/>
                </a:solidFill>
                <a:cs typeface="B Nazanin" panose="00000400000000000000" pitchFamily="2" charset="-78"/>
              </a:rPr>
              <a:t>می توانیم به ماشین بگوییم پاسخش تا چه میزان درست بوده )مثال با دادن یک امتیاز( و خود ماشین مسئول یافتن پاسخ های درست است -- </a:t>
            </a:r>
            <a:r>
              <a:rPr lang="fa-IR" sz="2400" dirty="0">
                <a:solidFill>
                  <a:srgbClr val="FF0000"/>
                </a:solidFill>
                <a:cs typeface="B Nazanin" panose="00000400000000000000" pitchFamily="2" charset="-78"/>
              </a:rPr>
              <a:t>یادگیری تقویتی</a:t>
            </a:r>
          </a:p>
          <a:p>
            <a:pPr algn="r" rtl="1"/>
            <a:endParaRPr lang="fa-IR" sz="2400" dirty="0">
              <a:solidFill>
                <a:schemeClr val="accent6"/>
              </a:solidFill>
              <a:cs typeface="B Nazanin" panose="00000400000000000000" pitchFamily="2" charset="-78"/>
            </a:endParaRPr>
          </a:p>
          <a:p>
            <a:pPr marL="342900" indent="-342900" algn="r" rtl="1">
              <a:buFont typeface="Arial" panose="020B0604020202020204" pitchFamily="34" charset="0"/>
              <a:buChar char="•"/>
            </a:pPr>
            <a:r>
              <a:rPr lang="fa-IR" sz="2400" dirty="0">
                <a:solidFill>
                  <a:schemeClr val="accent6"/>
                </a:solidFill>
                <a:cs typeface="B Nazanin" panose="00000400000000000000" pitchFamily="2" charset="-78"/>
              </a:rPr>
              <a:t>ممکن است هیچ اطلاعاتی در مورد پاسخ درست به ماشین ندهیم و تنها از ماشین بخواهیم ورودی هایی را که دارای وجوه مشترک هستند پیدا کند -- </a:t>
            </a:r>
            <a:r>
              <a:rPr lang="fa-IR" sz="2400" dirty="0">
                <a:solidFill>
                  <a:srgbClr val="FF0000"/>
                </a:solidFill>
                <a:cs typeface="B Nazanin" panose="00000400000000000000" pitchFamily="2" charset="-78"/>
              </a:rPr>
              <a:t>یادگیری بدون نظارت</a:t>
            </a:r>
            <a:endParaRPr lang="en-US" sz="2400" dirty="0">
              <a:solidFill>
                <a:srgbClr val="FF0000"/>
              </a:solidFill>
              <a:cs typeface="B Nazanin" panose="00000400000000000000" pitchFamily="2" charset="-78"/>
            </a:endParaRPr>
          </a:p>
        </p:txBody>
      </p:sp>
    </p:spTree>
    <p:extLst>
      <p:ext uri="{BB962C8B-B14F-4D97-AF65-F5344CB8AC3E}">
        <p14:creationId xmlns:p14="http://schemas.microsoft.com/office/powerpoint/2010/main" val="14938384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24926-D1FD-38DB-34DF-006D464B11C6}"/>
              </a:ext>
            </a:extLst>
          </p:cNvPr>
          <p:cNvSpPr>
            <a:spLocks noGrp="1"/>
          </p:cNvSpPr>
          <p:nvPr>
            <p:ph type="title"/>
          </p:nvPr>
        </p:nvSpPr>
        <p:spPr/>
        <p:txBody>
          <a:bodyPr/>
          <a:lstStyle/>
          <a:p>
            <a:pPr algn="r" rtl="1"/>
            <a:r>
              <a:rPr lang="fa-IR" b="1" dirty="0">
                <a:cs typeface="B Koodak" panose="00000700000000000000" pitchFamily="2" charset="-78"/>
              </a:rPr>
              <a:t>داده در یادگیری ماشین</a:t>
            </a:r>
            <a:endParaRPr lang="en-US" b="1" dirty="0">
              <a:cs typeface="B Koodak" panose="00000700000000000000" pitchFamily="2" charset="-78"/>
            </a:endParaRPr>
          </a:p>
        </p:txBody>
      </p:sp>
      <p:sp>
        <p:nvSpPr>
          <p:cNvPr id="3" name="Content Placeholder 2">
            <a:extLst>
              <a:ext uri="{FF2B5EF4-FFF2-40B4-BE49-F238E27FC236}">
                <a16:creationId xmlns:a16="http://schemas.microsoft.com/office/drawing/2014/main" id="{917B9B9E-F9E0-6EF1-0161-079FDAB20A1F}"/>
              </a:ext>
            </a:extLst>
          </p:cNvPr>
          <p:cNvSpPr>
            <a:spLocks noGrp="1"/>
          </p:cNvSpPr>
          <p:nvPr>
            <p:ph/>
          </p:nvPr>
        </p:nvSpPr>
        <p:spPr>
          <a:xfrm>
            <a:off x="457200" y="205200"/>
            <a:ext cx="8229240" cy="3200940"/>
          </a:xfrm>
        </p:spPr>
        <p:txBody>
          <a:bodyPr>
            <a:normAutofit/>
          </a:bodyPr>
          <a:lstStyle/>
          <a:p>
            <a:pPr algn="r" rtl="1"/>
            <a:r>
              <a:rPr lang="fa-IR" sz="1800" dirty="0">
                <a:cs typeface="B Koodak" panose="00000700000000000000" pitchFamily="2" charset="-78"/>
              </a:rPr>
              <a:t>داده‌ها در یادگیری ماشین می‌توانند به شکل‌های مختلفی باشند. تصویر، صوت، متن، سیگنال و داده‌های عددی از جمله انواع داده‌ها هستند که بسیار رایجند. این داده‌ها می‌توانند همراه با جواب مطلوب هم باشند (همان داده خروجی).</a:t>
            </a:r>
          </a:p>
          <a:p>
            <a:pPr algn="r" rtl="1"/>
            <a:r>
              <a:rPr lang="fa-IR" sz="1800" dirty="0">
                <a:cs typeface="B Koodak" panose="00000700000000000000" pitchFamily="2" charset="-78"/>
              </a:rPr>
              <a:t>یک نفر پای کامپیوتر نشسته و مشخص کرده که کدام تصاویر مربوط به موز و کدام مربوط به سیب هستند. یعنی جواب مطلوب را مشخص کرده است. به این جواب مطلوب، </a:t>
            </a:r>
            <a:r>
              <a:rPr lang="en-US" sz="1800" dirty="0">
                <a:cs typeface="B Koodak" panose="00000700000000000000" pitchFamily="2" charset="-78"/>
              </a:rPr>
              <a:t>Ground Truth، </a:t>
            </a:r>
            <a:r>
              <a:rPr lang="fa-IR" sz="1800" dirty="0">
                <a:cs typeface="B Koodak" panose="00000700000000000000" pitchFamily="2" charset="-78"/>
              </a:rPr>
              <a:t>برچسب یا </a:t>
            </a:r>
            <a:r>
              <a:rPr lang="en-US" sz="1800" dirty="0">
                <a:cs typeface="B Koodak" panose="00000700000000000000" pitchFamily="2" charset="-78"/>
              </a:rPr>
              <a:t>label </a:t>
            </a:r>
            <a:r>
              <a:rPr lang="fa-IR" sz="1800" dirty="0">
                <a:cs typeface="B Koodak" panose="00000700000000000000" pitchFamily="2" charset="-78"/>
              </a:rPr>
              <a:t>گفته می‌شود.</a:t>
            </a:r>
            <a:endParaRPr lang="en-US" sz="1800" dirty="0">
              <a:cs typeface="B Koodak" panose="00000700000000000000" pitchFamily="2" charset="-78"/>
            </a:endParaRPr>
          </a:p>
        </p:txBody>
      </p:sp>
      <p:pic>
        <p:nvPicPr>
          <p:cNvPr id="5" name="Picture 4">
            <a:extLst>
              <a:ext uri="{FF2B5EF4-FFF2-40B4-BE49-F238E27FC236}">
                <a16:creationId xmlns:a16="http://schemas.microsoft.com/office/drawing/2014/main" id="{2FE58FF8-5EB9-AEC3-2B9A-DCC009DCA247}"/>
              </a:ext>
            </a:extLst>
          </p:cNvPr>
          <p:cNvPicPr>
            <a:picLocks noChangeAspect="1"/>
          </p:cNvPicPr>
          <p:nvPr/>
        </p:nvPicPr>
        <p:blipFill>
          <a:blip r:embed="rId2"/>
          <a:stretch>
            <a:fillRect/>
          </a:stretch>
        </p:blipFill>
        <p:spPr>
          <a:xfrm>
            <a:off x="1160584" y="2646485"/>
            <a:ext cx="3212123" cy="2409092"/>
          </a:xfrm>
          <a:prstGeom prst="rect">
            <a:avLst/>
          </a:prstGeom>
        </p:spPr>
      </p:pic>
    </p:spTree>
    <p:extLst>
      <p:ext uri="{BB962C8B-B14F-4D97-AF65-F5344CB8AC3E}">
        <p14:creationId xmlns:p14="http://schemas.microsoft.com/office/powerpoint/2010/main" val="4443206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PlaceHolder 1"/>
          <p:cNvSpPr>
            <a:spLocks noGrp="1"/>
          </p:cNvSpPr>
          <p:nvPr>
            <p:ph type="title"/>
          </p:nvPr>
        </p:nvSpPr>
        <p:spPr>
          <a:xfrm>
            <a:off x="3452400" y="1995840"/>
            <a:ext cx="4143960" cy="1021680"/>
          </a:xfrm>
          <a:prstGeom prst="rect">
            <a:avLst/>
          </a:prstGeom>
          <a:noFill/>
          <a:ln w="0">
            <a:noFill/>
          </a:ln>
        </p:spPr>
        <p:txBody>
          <a:bodyPr lIns="91440" tIns="91440" rIns="91440" bIns="91440" anchor="ctr">
            <a:noAutofit/>
          </a:bodyPr>
          <a:lstStyle/>
          <a:p>
            <a:pPr algn="r" rtl="1">
              <a:lnSpc>
                <a:spcPct val="100000"/>
              </a:lnSpc>
              <a:tabLst>
                <a:tab pos="0" algn="l"/>
              </a:tabLst>
            </a:pPr>
            <a:r>
              <a:rPr lang="fa-IR" sz="4000" spc="-1" dirty="0">
                <a:solidFill>
                  <a:srgbClr val="000000"/>
                </a:solidFill>
                <a:cs typeface="B Titr"/>
              </a:rPr>
              <a:t>یادگیری نظارت شده</a:t>
            </a:r>
            <a:endParaRPr lang="en-US" sz="4000" b="0" strike="noStrike" spc="-1" dirty="0">
              <a:solidFill>
                <a:srgbClr val="000000"/>
              </a:solidFill>
              <a:latin typeface="Arial"/>
            </a:endParaRPr>
          </a:p>
        </p:txBody>
      </p:sp>
      <p:sp>
        <p:nvSpPr>
          <p:cNvPr id="150" name="PlaceHolder 2"/>
          <p:cNvSpPr>
            <a:spLocks noGrp="1"/>
          </p:cNvSpPr>
          <p:nvPr>
            <p:ph type="title"/>
          </p:nvPr>
        </p:nvSpPr>
        <p:spPr>
          <a:xfrm>
            <a:off x="7740720" y="1547640"/>
            <a:ext cx="975960" cy="754200"/>
          </a:xfrm>
          <a:prstGeom prst="rect">
            <a:avLst/>
          </a:prstGeom>
          <a:noFill/>
          <a:ln w="0">
            <a:noFill/>
          </a:ln>
        </p:spPr>
        <p:txBody>
          <a:bodyPr lIns="91440" tIns="91440" rIns="91440" bIns="91440" anchor="ctr">
            <a:noAutofit/>
          </a:bodyPr>
          <a:lstStyle/>
          <a:p>
            <a:pPr indent="0">
              <a:lnSpc>
                <a:spcPct val="100000"/>
              </a:lnSpc>
              <a:buNone/>
              <a:tabLst>
                <a:tab pos="0" algn="l"/>
              </a:tabLst>
            </a:pPr>
            <a:r>
              <a:rPr lang="en-US" sz="11500" b="0" strike="noStrike" spc="-1">
                <a:solidFill>
                  <a:srgbClr val="000000"/>
                </a:solidFill>
                <a:latin typeface="Arial"/>
                <a:ea typeface="Arial"/>
              </a:rPr>
              <a:t>2</a:t>
            </a:r>
            <a:endParaRPr lang="en-US" sz="11500" b="0" strike="noStrike" spc="-1">
              <a:solidFill>
                <a:srgbClr val="000000"/>
              </a:solidFill>
              <a:latin typeface="Arial"/>
            </a:endParaRPr>
          </a:p>
        </p:txBody>
      </p:sp>
      <p:cxnSp>
        <p:nvCxnSpPr>
          <p:cNvPr id="152" name="Google Shape;314;p39"/>
          <p:cNvCxnSpPr/>
          <p:nvPr/>
        </p:nvCxnSpPr>
        <p:spPr>
          <a:xfrm>
            <a:off x="7308000" y="3016800"/>
            <a:ext cx="1879560" cy="360"/>
          </a:xfrm>
          <a:prstGeom prst="straightConnector1">
            <a:avLst/>
          </a:prstGeom>
          <a:ln w="9525">
            <a:solidFill>
              <a:srgbClr val="434343"/>
            </a:solidFill>
            <a:round/>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p15="http://schemas.microsoft.com/office/powerpoint/2012/main">
      <p:transition spd="med">
        <p:fade/>
      </p:transition>
    </mc:Fallback>
  </mc:AlternateContent>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0" presetClass="entr" fill="hold" nodeType="withEffect">
                                  <p:stCondLst>
                                    <p:cond delay="0"/>
                                  </p:stCondLst>
                                  <p:childTnLst>
                                    <p:set>
                                      <p:cBhvr>
                                        <p:cTn id="6" dur="1" fill="hold">
                                          <p:stCondLst>
                                            <p:cond delay="0"/>
                                          </p:stCondLst>
                                        </p:cTn>
                                        <p:tgtEl>
                                          <p:spTgt spid="149"/>
                                        </p:tgtEl>
                                        <p:attrNameLst>
                                          <p:attrName>style.visibility</p:attrName>
                                        </p:attrNameLst>
                                      </p:cBhvr>
                                      <p:to>
                                        <p:strVal val="visible"/>
                                      </p:to>
                                    </p:set>
                                    <p:animEffect transition="in" filter="fade">
                                      <p:cBhvr additive="repl">
                                        <p:cTn id="7" dur="500"/>
                                        <p:tgtEl>
                                          <p:spTgt spid="149"/>
                                        </p:tgtEl>
                                      </p:cBhvr>
                                    </p:animEffect>
                                  </p:childTnLst>
                                </p:cTn>
                              </p:par>
                              <p:par>
                                <p:cTn id="8" presetID="10" presetClass="entr" fill="hold" nodeType="withEffect">
                                  <p:stCondLst>
                                    <p:cond delay="0"/>
                                  </p:stCondLst>
                                  <p:childTnLst>
                                    <p:set>
                                      <p:cBhvr>
                                        <p:cTn id="9" dur="1" fill="hold">
                                          <p:stCondLst>
                                            <p:cond delay="0"/>
                                          </p:stCondLst>
                                        </p:cTn>
                                        <p:tgtEl>
                                          <p:spTgt spid="150"/>
                                        </p:tgtEl>
                                        <p:attrNameLst>
                                          <p:attrName>style.visibility</p:attrName>
                                        </p:attrNameLst>
                                      </p:cBhvr>
                                      <p:to>
                                        <p:strVal val="visible"/>
                                      </p:to>
                                    </p:set>
                                    <p:animEffect transition="in" filter="fade">
                                      <p:cBhvr additive="repl">
                                        <p:cTn id="10" dur="500"/>
                                        <p:tgtEl>
                                          <p:spTgt spid="150"/>
                                        </p:tgtEl>
                                      </p:cBhvr>
                                    </p:animEffect>
                                  </p:childTnLst>
                                </p:cTn>
                              </p:par>
                              <p:par>
                                <p:cTn id="11" presetID="22" presetClass="entr" presetSubtype="2" fill="hold" nodeType="withEffect">
                                  <p:stCondLst>
                                    <p:cond delay="0"/>
                                  </p:stCondLst>
                                  <p:childTnLst>
                                    <p:set>
                                      <p:cBhvr>
                                        <p:cTn id="12" dur="1" fill="hold">
                                          <p:stCondLst>
                                            <p:cond delay="0"/>
                                          </p:stCondLst>
                                        </p:cTn>
                                        <p:tgtEl>
                                          <p:spTgt spid="152"/>
                                        </p:tgtEl>
                                        <p:attrNameLst>
                                          <p:attrName>style.visibility</p:attrName>
                                        </p:attrNameLst>
                                      </p:cBhvr>
                                      <p:to>
                                        <p:strVal val="visible"/>
                                      </p:to>
                                    </p:set>
                                    <p:animEffect transition="in" filter="wipe(right)">
                                      <p:cBhvr additive="repl">
                                        <p:cTn id="13" dur="500"/>
                                        <p:tgtEl>
                                          <p:spTgt spid="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91EB2-A875-7637-1AE0-ED546E4E0606}"/>
              </a:ext>
            </a:extLst>
          </p:cNvPr>
          <p:cNvSpPr>
            <a:spLocks noGrp="1"/>
          </p:cNvSpPr>
          <p:nvPr>
            <p:ph type="title"/>
          </p:nvPr>
        </p:nvSpPr>
        <p:spPr>
          <a:xfrm>
            <a:off x="457200" y="344880"/>
            <a:ext cx="8229240" cy="858600"/>
          </a:xfrm>
        </p:spPr>
        <p:txBody>
          <a:bodyPr/>
          <a:lstStyle/>
          <a:p>
            <a:pPr algn="r" rtl="1"/>
            <a:r>
              <a:rPr lang="fa-IR" sz="3200" dirty="0">
                <a:cs typeface="B Koodak" panose="00000700000000000000" pitchFamily="2" charset="-78"/>
              </a:rPr>
              <a:t>یادگیری ماشین: الهام از دنیای واقعی برای همه!</a:t>
            </a:r>
            <a:endParaRPr lang="en-US" sz="3200" dirty="0">
              <a:cs typeface="B Koodak" panose="00000700000000000000" pitchFamily="2" charset="-78"/>
            </a:endParaRPr>
          </a:p>
        </p:txBody>
      </p:sp>
      <p:sp>
        <p:nvSpPr>
          <p:cNvPr id="3" name="Content Placeholder 2">
            <a:extLst>
              <a:ext uri="{FF2B5EF4-FFF2-40B4-BE49-F238E27FC236}">
                <a16:creationId xmlns:a16="http://schemas.microsoft.com/office/drawing/2014/main" id="{A3F7D403-DA1C-F4CA-22E0-304B3BA2CA22}"/>
              </a:ext>
            </a:extLst>
          </p:cNvPr>
          <p:cNvSpPr>
            <a:spLocks noGrp="1"/>
          </p:cNvSpPr>
          <p:nvPr>
            <p:ph/>
          </p:nvPr>
        </p:nvSpPr>
        <p:spPr>
          <a:xfrm>
            <a:off x="457200" y="1520004"/>
            <a:ext cx="8229240" cy="2982960"/>
          </a:xfrm>
        </p:spPr>
        <p:txBody>
          <a:bodyPr>
            <a:normAutofit/>
          </a:bodyPr>
          <a:lstStyle/>
          <a:p>
            <a:pPr algn="r" rtl="1"/>
            <a:r>
              <a:rPr lang="fa-IR" sz="1800" dirty="0">
                <a:cs typeface="B Koodak" panose="00000700000000000000" pitchFamily="2" charset="-78"/>
              </a:rPr>
              <a:t>یادگیری ماشین فقط یه علم پیچیده نیست—یه راه برای آوردن دنیای واقعی به کامپیوتره!</a:t>
            </a:r>
            <a:endParaRPr lang="en-US" sz="1800" dirty="0">
              <a:cs typeface="B Koodak" panose="00000700000000000000" pitchFamily="2" charset="-78"/>
            </a:endParaRPr>
          </a:p>
          <a:p>
            <a:pPr algn="r" rtl="1"/>
            <a:endParaRPr lang="en-US" sz="1800" dirty="0">
              <a:cs typeface="B Koodak" panose="00000700000000000000" pitchFamily="2" charset="-78"/>
            </a:endParaRPr>
          </a:p>
          <a:p>
            <a:pPr algn="r" rtl="1"/>
            <a:r>
              <a:rPr lang="fa-IR" sz="1800" dirty="0">
                <a:cs typeface="B Koodak" panose="00000700000000000000" pitchFamily="2" charset="-78"/>
              </a:rPr>
              <a:t>فرقی نمی‌کنه بخوای متخصص این حوزه بشی یا نه—یادگیری ماشین به همه کمک می‌کنه. توی زندگی روزمره‌تون، از تصمیم‌گیری بهتر توی خرید گرفته تا فهمیدن اینکه تکنولوژی چطور کار می‌کنه، این دانش به کارتون میاد.</a:t>
            </a:r>
            <a:endParaRPr lang="en-US" sz="1800" dirty="0">
              <a:cs typeface="B Koodak" panose="00000700000000000000" pitchFamily="2" charset="-78"/>
            </a:endParaRPr>
          </a:p>
        </p:txBody>
      </p:sp>
    </p:spTree>
    <p:extLst>
      <p:ext uri="{BB962C8B-B14F-4D97-AF65-F5344CB8AC3E}">
        <p14:creationId xmlns:p14="http://schemas.microsoft.com/office/powerpoint/2010/main" val="3971796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C94860-6E1D-36CE-6C1E-E2845452459B}"/>
              </a:ext>
            </a:extLst>
          </p:cNvPr>
          <p:cNvSpPr>
            <a:spLocks noGrp="1"/>
          </p:cNvSpPr>
          <p:nvPr>
            <p:ph idx="4294967295"/>
          </p:nvPr>
        </p:nvSpPr>
        <p:spPr>
          <a:xfrm>
            <a:off x="457994" y="316767"/>
            <a:ext cx="8228012" cy="2551113"/>
          </a:xfrm>
        </p:spPr>
        <p:txBody>
          <a:bodyPr>
            <a:normAutofit fontScale="85000" lnSpcReduction="10000"/>
          </a:bodyPr>
          <a:lstStyle/>
          <a:p>
            <a:pPr algn="r" rtl="1">
              <a:lnSpc>
                <a:spcPct val="150000"/>
              </a:lnSpc>
            </a:pPr>
            <a:r>
              <a:rPr lang="fa-IR" sz="1800" dirty="0">
                <a:solidFill>
                  <a:schemeClr val="accent6"/>
                </a:solidFill>
                <a:cs typeface="B Koodak" panose="00000700000000000000" pitchFamily="2" charset="-78"/>
              </a:rPr>
              <a:t>گاهی مغز ما از یک نفر دیگر مانند پدر، مادر، معلم و خیلی افراد دیگر مطالبی را یاد می‌گیرد. احتمالا، اولین بار این پدرومادرمان بودند که به ما نام حیوانات و میوه‌ها را آموختند. پس اینجا یک ناظر داریم که مثلا سیب را نشان می‌دهد و همزمان می‌گوید سیب. پس هم به ما داده می‌دهند و هم جواب مطلوبش را…</a:t>
            </a:r>
            <a:endParaRPr lang="en-US" sz="1800" dirty="0">
              <a:solidFill>
                <a:schemeClr val="accent6"/>
              </a:solidFill>
              <a:cs typeface="B Koodak" panose="00000700000000000000" pitchFamily="2" charset="-78"/>
            </a:endParaRPr>
          </a:p>
          <a:p>
            <a:pPr algn="r" rtl="1">
              <a:lnSpc>
                <a:spcPct val="150000"/>
              </a:lnSpc>
            </a:pPr>
            <a:endParaRPr lang="en-US" sz="1800" dirty="0">
              <a:solidFill>
                <a:schemeClr val="accent6"/>
              </a:solidFill>
              <a:cs typeface="B Koodak" panose="00000700000000000000" pitchFamily="2" charset="-78"/>
            </a:endParaRPr>
          </a:p>
          <a:p>
            <a:pPr marL="0" indent="0" algn="r" rtl="1">
              <a:lnSpc>
                <a:spcPct val="150000"/>
              </a:lnSpc>
              <a:buNone/>
            </a:pPr>
            <a:r>
              <a:rPr lang="fa-IR" sz="1800" dirty="0">
                <a:solidFill>
                  <a:schemeClr val="accent6"/>
                </a:solidFill>
                <a:cs typeface="B Koodak" panose="00000700000000000000" pitchFamily="2" charset="-78"/>
              </a:rPr>
              <a:t>به تصویر زیر نگاه کنید؛ معلم با نشان دادن تصاویری به کودکان می‌خواهد به آنها شناسایی سگ را یاد دهد. چند تصویر از سگ را به آنها نشان می‌دهد و به آنها می‌گوید که اینها سگ هستند. یعنی هم داده و هم جواب مطلوب را به کودکان می‌دهد و بقیه را به مغز کودک می‌سپارد. این کار بارها و بارها تکرار می‌شود تا کودکان یاد بگیرند سگ را در اشکال مختلف بشناسند. </a:t>
            </a:r>
            <a:endParaRPr lang="en-US" sz="1800" dirty="0">
              <a:solidFill>
                <a:schemeClr val="accent6"/>
              </a:solidFill>
              <a:cs typeface="B Koodak" panose="00000700000000000000" pitchFamily="2" charset="-78"/>
            </a:endParaRPr>
          </a:p>
        </p:txBody>
      </p:sp>
      <p:pic>
        <p:nvPicPr>
          <p:cNvPr id="5" name="Picture 4">
            <a:extLst>
              <a:ext uri="{FF2B5EF4-FFF2-40B4-BE49-F238E27FC236}">
                <a16:creationId xmlns:a16="http://schemas.microsoft.com/office/drawing/2014/main" id="{04282872-685B-5362-64FE-C90A963138E0}"/>
              </a:ext>
            </a:extLst>
          </p:cNvPr>
          <p:cNvPicPr>
            <a:picLocks noChangeAspect="1"/>
          </p:cNvPicPr>
          <p:nvPr/>
        </p:nvPicPr>
        <p:blipFill>
          <a:blip r:embed="rId2"/>
          <a:stretch>
            <a:fillRect/>
          </a:stretch>
        </p:blipFill>
        <p:spPr>
          <a:xfrm>
            <a:off x="606669" y="2867880"/>
            <a:ext cx="2671775" cy="2250831"/>
          </a:xfrm>
          <a:prstGeom prst="rect">
            <a:avLst/>
          </a:prstGeom>
        </p:spPr>
      </p:pic>
    </p:spTree>
    <p:extLst>
      <p:ext uri="{BB962C8B-B14F-4D97-AF65-F5344CB8AC3E}">
        <p14:creationId xmlns:p14="http://schemas.microsoft.com/office/powerpoint/2010/main" val="14029192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E900414-FBFB-AF93-90AD-7F0B4023F93E}"/>
              </a:ext>
            </a:extLst>
          </p:cNvPr>
          <p:cNvSpPr>
            <a:spLocks noGrp="1"/>
          </p:cNvSpPr>
          <p:nvPr>
            <p:ph/>
          </p:nvPr>
        </p:nvSpPr>
        <p:spPr>
          <a:xfrm>
            <a:off x="457200" y="826476"/>
            <a:ext cx="8229240" cy="3701562"/>
          </a:xfrm>
        </p:spPr>
        <p:txBody>
          <a:bodyPr>
            <a:normAutofit/>
          </a:bodyPr>
          <a:lstStyle/>
          <a:p>
            <a:pPr algn="r" rtl="1"/>
            <a:r>
              <a:rPr lang="fa-IR" sz="1800" dirty="0">
                <a:solidFill>
                  <a:srgbClr val="FF0000"/>
                </a:solidFill>
                <a:cs typeface="B Koodak" panose="00000700000000000000" pitchFamily="2" charset="-78"/>
              </a:rPr>
              <a:t>ورودی</a:t>
            </a:r>
            <a:r>
              <a:rPr lang="fa-IR" sz="1800" dirty="0">
                <a:cs typeface="B Koodak" panose="00000700000000000000" pitchFamily="2" charset="-78"/>
              </a:rPr>
              <a:t>. یک مجموعه آموزشی که در آن به ازای هر ورودی پاسخ درست داده شده است.</a:t>
            </a:r>
          </a:p>
          <a:p>
            <a:pPr algn="r" rtl="1"/>
            <a:endParaRPr lang="fa-IR" sz="1800" dirty="0">
              <a:cs typeface="B Koodak" panose="00000700000000000000" pitchFamily="2" charset="-78"/>
            </a:endParaRPr>
          </a:p>
          <a:p>
            <a:pPr algn="r" rtl="1"/>
            <a:endParaRPr lang="fa-IR" sz="1800" dirty="0">
              <a:cs typeface="B Koodak" panose="00000700000000000000" pitchFamily="2" charset="-78"/>
            </a:endParaRPr>
          </a:p>
          <a:p>
            <a:pPr algn="r" rtl="1"/>
            <a:endParaRPr lang="fa-IR" sz="1800" dirty="0">
              <a:cs typeface="B Koodak" panose="00000700000000000000" pitchFamily="2" charset="-78"/>
            </a:endParaRPr>
          </a:p>
          <a:p>
            <a:pPr algn="r" rtl="1"/>
            <a:r>
              <a:rPr lang="fa-IR" sz="1800" dirty="0">
                <a:solidFill>
                  <a:srgbClr val="FF0000"/>
                </a:solidFill>
                <a:cs typeface="B Koodak" panose="00000700000000000000" pitchFamily="2" charset="-78"/>
              </a:rPr>
              <a:t>هدف</a:t>
            </a:r>
            <a:r>
              <a:rPr lang="fa-IR" sz="1800" dirty="0">
                <a:cs typeface="B Koodak" panose="00000700000000000000" pitchFamily="2" charset="-78"/>
              </a:rPr>
              <a:t>. یافتن یک تقریب مناسب برای نگاشت زیر:</a:t>
            </a:r>
          </a:p>
          <a:p>
            <a:pPr algn="r" rtl="1"/>
            <a:endParaRPr lang="fa-IR" sz="1800" dirty="0">
              <a:cs typeface="B Koodak" panose="00000700000000000000" pitchFamily="2" charset="-78"/>
            </a:endParaRPr>
          </a:p>
          <a:p>
            <a:pPr algn="r" rtl="1"/>
            <a:r>
              <a:rPr lang="fa-IR" sz="1800" dirty="0">
                <a:cs typeface="B Koodak" panose="00000700000000000000" pitchFamily="2" charset="-78"/>
              </a:rPr>
              <a:t> مثال.</a:t>
            </a:r>
          </a:p>
          <a:p>
            <a:pPr algn="r" rtl="1"/>
            <a:r>
              <a:rPr lang="fa-IR" sz="1800" dirty="0">
                <a:cs typeface="B Koodak" panose="00000700000000000000" pitchFamily="2" charset="-78"/>
              </a:rPr>
              <a:t> تشخیص هرزنامه: نگاشت ایمیل ها به مجموعه {هرزنامه، غیرهرزنامه}</a:t>
            </a:r>
          </a:p>
          <a:p>
            <a:pPr algn="r" rtl="1"/>
            <a:r>
              <a:rPr lang="fa-IR" sz="1800" dirty="0">
                <a:cs typeface="B Koodak" panose="00000700000000000000" pitchFamily="2" charset="-78"/>
              </a:rPr>
              <a:t> تشخیص ارقام: نگاشت یک مجموعه از پیکسل ها به مجموعه {۹ ..., , 2 ۱, 0,}</a:t>
            </a:r>
          </a:p>
          <a:p>
            <a:pPr algn="r" rtl="1"/>
            <a:r>
              <a:rPr lang="fa-IR" sz="1800" dirty="0">
                <a:cs typeface="B Koodak" panose="00000700000000000000" pitchFamily="2" charset="-78"/>
              </a:rPr>
              <a:t> تشخیص سرطان: نگاشت داده های پزشکی به مجموعه {بدخیم، خوش خیم}</a:t>
            </a:r>
            <a:endParaRPr lang="en-US" sz="1800" dirty="0">
              <a:cs typeface="B Koodak" panose="00000700000000000000" pitchFamily="2" charset="-78"/>
            </a:endParaRPr>
          </a:p>
          <a:p>
            <a:pPr algn="r" rtl="1"/>
            <a:endParaRPr lang="en-US" sz="1800" dirty="0">
              <a:cs typeface="B Koodak" panose="00000700000000000000" pitchFamily="2" charset="-78"/>
            </a:endParaRPr>
          </a:p>
        </p:txBody>
      </p:sp>
      <p:pic>
        <p:nvPicPr>
          <p:cNvPr id="9" name="Picture 8">
            <a:extLst>
              <a:ext uri="{FF2B5EF4-FFF2-40B4-BE49-F238E27FC236}">
                <a16:creationId xmlns:a16="http://schemas.microsoft.com/office/drawing/2014/main" id="{8441ECEB-5395-2507-B022-D192B89234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995" y="1628070"/>
            <a:ext cx="5276850" cy="533400"/>
          </a:xfrm>
          <a:prstGeom prst="rect">
            <a:avLst/>
          </a:prstGeom>
        </p:spPr>
      </p:pic>
      <p:sp>
        <p:nvSpPr>
          <p:cNvPr id="10" name="TextBox 9">
            <a:extLst>
              <a:ext uri="{FF2B5EF4-FFF2-40B4-BE49-F238E27FC236}">
                <a16:creationId xmlns:a16="http://schemas.microsoft.com/office/drawing/2014/main" id="{B22CA5CE-2F8D-9DD2-337A-8068269472C1}"/>
              </a:ext>
            </a:extLst>
          </p:cNvPr>
          <p:cNvSpPr txBox="1"/>
          <p:nvPr/>
        </p:nvSpPr>
        <p:spPr>
          <a:xfrm>
            <a:off x="7210245" y="1443404"/>
            <a:ext cx="1534394" cy="369332"/>
          </a:xfrm>
          <a:prstGeom prst="rect">
            <a:avLst/>
          </a:prstGeom>
          <a:noFill/>
        </p:spPr>
        <p:txBody>
          <a:bodyPr wrap="none" rtlCol="0">
            <a:spAutoFit/>
          </a:bodyPr>
          <a:lstStyle/>
          <a:p>
            <a:r>
              <a:rPr lang="fa-IR" dirty="0">
                <a:solidFill>
                  <a:srgbClr val="FF0000"/>
                </a:solidFill>
              </a:rPr>
              <a:t>مجموعه آموزشی:</a:t>
            </a:r>
            <a:endParaRPr lang="en-US" dirty="0">
              <a:solidFill>
                <a:srgbClr val="FF0000"/>
              </a:solidFill>
            </a:endParaRPr>
          </a:p>
        </p:txBody>
      </p:sp>
      <p:pic>
        <p:nvPicPr>
          <p:cNvPr id="12" name="Picture 11">
            <a:extLst>
              <a:ext uri="{FF2B5EF4-FFF2-40B4-BE49-F238E27FC236}">
                <a16:creationId xmlns:a16="http://schemas.microsoft.com/office/drawing/2014/main" id="{AB37386E-9753-F2F5-7CAD-D4DB97D9A0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0395" y="3440430"/>
            <a:ext cx="1428750" cy="447675"/>
          </a:xfrm>
          <a:prstGeom prst="rect">
            <a:avLst/>
          </a:prstGeom>
        </p:spPr>
      </p:pic>
    </p:spTree>
    <p:extLst>
      <p:ext uri="{BB962C8B-B14F-4D97-AF65-F5344CB8AC3E}">
        <p14:creationId xmlns:p14="http://schemas.microsoft.com/office/powerpoint/2010/main" val="24925668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8C1AECD-F1C6-101D-FCC4-FAD113C87E50}"/>
              </a:ext>
            </a:extLst>
          </p:cNvPr>
          <p:cNvSpPr txBox="1"/>
          <p:nvPr/>
        </p:nvSpPr>
        <p:spPr>
          <a:xfrm>
            <a:off x="6491146" y="1195754"/>
            <a:ext cx="2494594" cy="646331"/>
          </a:xfrm>
          <a:prstGeom prst="rect">
            <a:avLst/>
          </a:prstGeom>
          <a:noFill/>
        </p:spPr>
        <p:txBody>
          <a:bodyPr wrap="none" rtlCol="0">
            <a:spAutoFit/>
          </a:bodyPr>
          <a:lstStyle/>
          <a:p>
            <a:pPr algn="r" rtl="1"/>
            <a:r>
              <a:rPr lang="fa-IR" dirty="0">
                <a:solidFill>
                  <a:schemeClr val="accent6"/>
                </a:solidFill>
                <a:cs typeface="B Koodak" panose="00000700000000000000" pitchFamily="2" charset="-78"/>
              </a:rPr>
              <a:t> ورودی. ایمیل</a:t>
            </a:r>
          </a:p>
          <a:p>
            <a:pPr algn="r" rtl="1"/>
            <a:r>
              <a:rPr lang="fa-IR" dirty="0">
                <a:solidFill>
                  <a:schemeClr val="accent6"/>
                </a:solidFill>
                <a:cs typeface="B Koodak" panose="00000700000000000000" pitchFamily="2" charset="-78"/>
              </a:rPr>
              <a:t> خروجی. هرزنامه، غیرهرزنامه</a:t>
            </a:r>
            <a:endParaRPr lang="en-US" dirty="0">
              <a:solidFill>
                <a:schemeClr val="accent6"/>
              </a:solidFill>
              <a:cs typeface="B Koodak" panose="00000700000000000000" pitchFamily="2" charset="-78"/>
            </a:endParaRPr>
          </a:p>
        </p:txBody>
      </p:sp>
      <p:sp>
        <p:nvSpPr>
          <p:cNvPr id="5" name="TextBox 4">
            <a:extLst>
              <a:ext uri="{FF2B5EF4-FFF2-40B4-BE49-F238E27FC236}">
                <a16:creationId xmlns:a16="http://schemas.microsoft.com/office/drawing/2014/main" id="{A35FFC8E-771A-E8F3-187C-86ADF5B44771}"/>
              </a:ext>
            </a:extLst>
          </p:cNvPr>
          <p:cNvSpPr txBox="1"/>
          <p:nvPr/>
        </p:nvSpPr>
        <p:spPr>
          <a:xfrm>
            <a:off x="5252026" y="108439"/>
            <a:ext cx="3733714" cy="646331"/>
          </a:xfrm>
          <a:prstGeom prst="rect">
            <a:avLst/>
          </a:prstGeom>
          <a:noFill/>
        </p:spPr>
        <p:txBody>
          <a:bodyPr wrap="none" rtlCol="0">
            <a:spAutoFit/>
          </a:bodyPr>
          <a:lstStyle/>
          <a:p>
            <a:pPr algn="r" rtl="1"/>
            <a:r>
              <a:rPr lang="fa-IR" sz="3600" dirty="0">
                <a:solidFill>
                  <a:schemeClr val="accent6"/>
                </a:solidFill>
                <a:cs typeface="B Koodak" panose="00000700000000000000" pitchFamily="2" charset="-78"/>
              </a:rPr>
              <a:t>مثال : تشخیص هرزنامه</a:t>
            </a:r>
            <a:endParaRPr lang="en-US" sz="3600" dirty="0">
              <a:solidFill>
                <a:schemeClr val="accent6"/>
              </a:solidFill>
              <a:cs typeface="B Koodak" panose="00000700000000000000" pitchFamily="2" charset="-78"/>
            </a:endParaRPr>
          </a:p>
        </p:txBody>
      </p:sp>
      <p:pic>
        <p:nvPicPr>
          <p:cNvPr id="7" name="Picture 6">
            <a:extLst>
              <a:ext uri="{FF2B5EF4-FFF2-40B4-BE49-F238E27FC236}">
                <a16:creationId xmlns:a16="http://schemas.microsoft.com/office/drawing/2014/main" id="{25546124-EC2E-9338-0B3E-6CF3472A27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198208" cy="5143500"/>
          </a:xfrm>
          <a:prstGeom prst="rect">
            <a:avLst/>
          </a:prstGeom>
        </p:spPr>
      </p:pic>
    </p:spTree>
    <p:extLst>
      <p:ext uri="{BB962C8B-B14F-4D97-AF65-F5344CB8AC3E}">
        <p14:creationId xmlns:p14="http://schemas.microsoft.com/office/powerpoint/2010/main" val="22236639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8C1AECD-F1C6-101D-FCC4-FAD113C87E50}"/>
              </a:ext>
            </a:extLst>
          </p:cNvPr>
          <p:cNvSpPr txBox="1"/>
          <p:nvPr/>
        </p:nvSpPr>
        <p:spPr>
          <a:xfrm>
            <a:off x="6957621" y="1195754"/>
            <a:ext cx="2028119" cy="646331"/>
          </a:xfrm>
          <a:prstGeom prst="rect">
            <a:avLst/>
          </a:prstGeom>
          <a:noFill/>
        </p:spPr>
        <p:txBody>
          <a:bodyPr wrap="none" rtlCol="0">
            <a:spAutoFit/>
          </a:bodyPr>
          <a:lstStyle/>
          <a:p>
            <a:pPr algn="r" rtl="1"/>
            <a:r>
              <a:rPr lang="fa-IR" dirty="0">
                <a:solidFill>
                  <a:schemeClr val="accent6"/>
                </a:solidFill>
                <a:cs typeface="B Koodak" panose="00000700000000000000" pitchFamily="2" charset="-78"/>
              </a:rPr>
              <a:t> ورودی. تصویر یک رقم</a:t>
            </a:r>
          </a:p>
          <a:p>
            <a:pPr algn="r" rtl="1"/>
            <a:r>
              <a:rPr lang="fa-IR" dirty="0">
                <a:solidFill>
                  <a:schemeClr val="accent6"/>
                </a:solidFill>
                <a:cs typeface="B Koodak" panose="00000700000000000000" pitchFamily="2" charset="-78"/>
              </a:rPr>
              <a:t> خروجی. یک رقم</a:t>
            </a:r>
            <a:endParaRPr lang="en-US" dirty="0">
              <a:solidFill>
                <a:schemeClr val="accent6"/>
              </a:solidFill>
              <a:cs typeface="B Koodak" panose="00000700000000000000" pitchFamily="2" charset="-78"/>
            </a:endParaRPr>
          </a:p>
        </p:txBody>
      </p:sp>
      <p:sp>
        <p:nvSpPr>
          <p:cNvPr id="5" name="TextBox 4">
            <a:extLst>
              <a:ext uri="{FF2B5EF4-FFF2-40B4-BE49-F238E27FC236}">
                <a16:creationId xmlns:a16="http://schemas.microsoft.com/office/drawing/2014/main" id="{A35FFC8E-771A-E8F3-187C-86ADF5B44771}"/>
              </a:ext>
            </a:extLst>
          </p:cNvPr>
          <p:cNvSpPr txBox="1"/>
          <p:nvPr/>
        </p:nvSpPr>
        <p:spPr>
          <a:xfrm>
            <a:off x="3774057" y="108439"/>
            <a:ext cx="5211683" cy="646331"/>
          </a:xfrm>
          <a:prstGeom prst="rect">
            <a:avLst/>
          </a:prstGeom>
          <a:noFill/>
        </p:spPr>
        <p:txBody>
          <a:bodyPr wrap="none" rtlCol="0">
            <a:spAutoFit/>
          </a:bodyPr>
          <a:lstStyle/>
          <a:p>
            <a:pPr algn="r" rtl="1"/>
            <a:r>
              <a:rPr lang="fa-IR" sz="3600" dirty="0">
                <a:solidFill>
                  <a:schemeClr val="accent6"/>
                </a:solidFill>
                <a:cs typeface="B Koodak" panose="00000700000000000000" pitchFamily="2" charset="-78"/>
              </a:rPr>
              <a:t>مثال : تشخیص ارقام دست نویس</a:t>
            </a:r>
            <a:endParaRPr lang="en-US" sz="3600" dirty="0">
              <a:solidFill>
                <a:schemeClr val="accent6"/>
              </a:solidFill>
              <a:cs typeface="B Koodak" panose="00000700000000000000" pitchFamily="2" charset="-78"/>
            </a:endParaRPr>
          </a:p>
        </p:txBody>
      </p:sp>
      <p:pic>
        <p:nvPicPr>
          <p:cNvPr id="3" name="Picture 2">
            <a:extLst>
              <a:ext uri="{FF2B5EF4-FFF2-40B4-BE49-F238E27FC236}">
                <a16:creationId xmlns:a16="http://schemas.microsoft.com/office/drawing/2014/main" id="{6044BD65-A0CB-DFB4-2FA4-31EDC25AFE2B}"/>
              </a:ext>
            </a:extLst>
          </p:cNvPr>
          <p:cNvPicPr>
            <a:picLocks noChangeAspect="1"/>
          </p:cNvPicPr>
          <p:nvPr/>
        </p:nvPicPr>
        <p:blipFill>
          <a:blip r:embed="rId2"/>
          <a:stretch>
            <a:fillRect/>
          </a:stretch>
        </p:blipFill>
        <p:spPr>
          <a:xfrm>
            <a:off x="158260" y="1037492"/>
            <a:ext cx="5568665" cy="3331918"/>
          </a:xfrm>
          <a:prstGeom prst="rect">
            <a:avLst/>
          </a:prstGeom>
        </p:spPr>
      </p:pic>
    </p:spTree>
    <p:extLst>
      <p:ext uri="{BB962C8B-B14F-4D97-AF65-F5344CB8AC3E}">
        <p14:creationId xmlns:p14="http://schemas.microsoft.com/office/powerpoint/2010/main" val="247534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8C1AECD-F1C6-101D-FCC4-FAD113C87E50}"/>
              </a:ext>
            </a:extLst>
          </p:cNvPr>
          <p:cNvSpPr txBox="1"/>
          <p:nvPr/>
        </p:nvSpPr>
        <p:spPr>
          <a:xfrm>
            <a:off x="5708881" y="1195754"/>
            <a:ext cx="3276859" cy="646331"/>
          </a:xfrm>
          <a:prstGeom prst="rect">
            <a:avLst/>
          </a:prstGeom>
          <a:noFill/>
        </p:spPr>
        <p:txBody>
          <a:bodyPr wrap="none" rtlCol="0">
            <a:spAutoFit/>
          </a:bodyPr>
          <a:lstStyle/>
          <a:p>
            <a:pPr algn="r" rtl="1"/>
            <a:r>
              <a:rPr lang="fa-IR" dirty="0">
                <a:solidFill>
                  <a:schemeClr val="accent6"/>
                </a:solidFill>
                <a:cs typeface="B Koodak" panose="00000700000000000000" pitchFamily="2" charset="-78"/>
              </a:rPr>
              <a:t> ورودی. اندازه خانه </a:t>
            </a:r>
            <a:r>
              <a:rPr lang="en-US" dirty="0">
                <a:solidFill>
                  <a:schemeClr val="accent6"/>
                </a:solidFill>
                <a:cs typeface="B Koodak" panose="00000700000000000000" pitchFamily="2" charset="-78"/>
              </a:rPr>
              <a:t>]</a:t>
            </a:r>
            <a:r>
              <a:rPr lang="fa-IR" dirty="0">
                <a:solidFill>
                  <a:schemeClr val="accent6"/>
                </a:solidFill>
                <a:cs typeface="B Koodak" panose="00000700000000000000" pitchFamily="2" charset="-78"/>
              </a:rPr>
              <a:t>برحسب فوت مربع</a:t>
            </a:r>
            <a:r>
              <a:rPr lang="en-US" dirty="0">
                <a:solidFill>
                  <a:schemeClr val="accent6"/>
                </a:solidFill>
                <a:cs typeface="B Koodak" panose="00000700000000000000" pitchFamily="2" charset="-78"/>
              </a:rPr>
              <a:t>[</a:t>
            </a:r>
            <a:endParaRPr lang="fa-IR" dirty="0">
              <a:solidFill>
                <a:schemeClr val="accent6"/>
              </a:solidFill>
              <a:cs typeface="B Koodak" panose="00000700000000000000" pitchFamily="2" charset="-78"/>
            </a:endParaRPr>
          </a:p>
          <a:p>
            <a:pPr algn="r" rtl="1"/>
            <a:r>
              <a:rPr lang="fa-IR" dirty="0">
                <a:solidFill>
                  <a:schemeClr val="accent6"/>
                </a:solidFill>
                <a:cs typeface="B Koodak" panose="00000700000000000000" pitchFamily="2" charset="-78"/>
              </a:rPr>
              <a:t> خروجی. قیمت تخمینی</a:t>
            </a:r>
            <a:endParaRPr lang="en-US" dirty="0">
              <a:solidFill>
                <a:schemeClr val="accent6"/>
              </a:solidFill>
              <a:cs typeface="B Koodak" panose="00000700000000000000" pitchFamily="2" charset="-78"/>
            </a:endParaRPr>
          </a:p>
        </p:txBody>
      </p:sp>
      <p:sp>
        <p:nvSpPr>
          <p:cNvPr id="5" name="TextBox 4">
            <a:extLst>
              <a:ext uri="{FF2B5EF4-FFF2-40B4-BE49-F238E27FC236}">
                <a16:creationId xmlns:a16="http://schemas.microsoft.com/office/drawing/2014/main" id="{A35FFC8E-771A-E8F3-187C-86ADF5B44771}"/>
              </a:ext>
            </a:extLst>
          </p:cNvPr>
          <p:cNvSpPr txBox="1"/>
          <p:nvPr/>
        </p:nvSpPr>
        <p:spPr>
          <a:xfrm>
            <a:off x="4456936" y="108439"/>
            <a:ext cx="4528804" cy="646331"/>
          </a:xfrm>
          <a:prstGeom prst="rect">
            <a:avLst/>
          </a:prstGeom>
          <a:noFill/>
        </p:spPr>
        <p:txBody>
          <a:bodyPr wrap="none" rtlCol="0">
            <a:spAutoFit/>
          </a:bodyPr>
          <a:lstStyle/>
          <a:p>
            <a:pPr algn="r" rtl="1"/>
            <a:r>
              <a:rPr lang="fa-IR" sz="3600" dirty="0">
                <a:solidFill>
                  <a:schemeClr val="accent6"/>
                </a:solidFill>
                <a:cs typeface="B Koodak" panose="00000700000000000000" pitchFamily="2" charset="-78"/>
              </a:rPr>
              <a:t>مثال : قیمت گذاری یک خانه</a:t>
            </a:r>
            <a:endParaRPr lang="en-US" sz="3600" dirty="0">
              <a:solidFill>
                <a:schemeClr val="accent6"/>
              </a:solidFill>
              <a:cs typeface="B Koodak" panose="00000700000000000000" pitchFamily="2" charset="-78"/>
            </a:endParaRPr>
          </a:p>
        </p:txBody>
      </p:sp>
      <p:pic>
        <p:nvPicPr>
          <p:cNvPr id="6" name="Picture 5">
            <a:extLst>
              <a:ext uri="{FF2B5EF4-FFF2-40B4-BE49-F238E27FC236}">
                <a16:creationId xmlns:a16="http://schemas.microsoft.com/office/drawing/2014/main" id="{08046789-086F-0A3A-A583-9A3625289D53}"/>
              </a:ext>
            </a:extLst>
          </p:cNvPr>
          <p:cNvPicPr>
            <a:picLocks noChangeAspect="1"/>
          </p:cNvPicPr>
          <p:nvPr/>
        </p:nvPicPr>
        <p:blipFill>
          <a:blip r:embed="rId2"/>
          <a:stretch>
            <a:fillRect/>
          </a:stretch>
        </p:blipFill>
        <p:spPr>
          <a:xfrm>
            <a:off x="158260" y="849352"/>
            <a:ext cx="5550621" cy="3570248"/>
          </a:xfrm>
          <a:prstGeom prst="rect">
            <a:avLst/>
          </a:prstGeom>
        </p:spPr>
      </p:pic>
      <p:sp>
        <p:nvSpPr>
          <p:cNvPr id="8" name="TextBox 7">
            <a:extLst>
              <a:ext uri="{FF2B5EF4-FFF2-40B4-BE49-F238E27FC236}">
                <a16:creationId xmlns:a16="http://schemas.microsoft.com/office/drawing/2014/main" id="{AE6B5212-30BB-38F4-A125-7492E2FB3C1C}"/>
              </a:ext>
            </a:extLst>
          </p:cNvPr>
          <p:cNvSpPr txBox="1"/>
          <p:nvPr/>
        </p:nvSpPr>
        <p:spPr>
          <a:xfrm>
            <a:off x="4400552" y="4581336"/>
            <a:ext cx="4585188" cy="369332"/>
          </a:xfrm>
          <a:prstGeom prst="rect">
            <a:avLst/>
          </a:prstGeom>
          <a:noFill/>
        </p:spPr>
        <p:txBody>
          <a:bodyPr wrap="square">
            <a:spAutoFit/>
          </a:bodyPr>
          <a:lstStyle/>
          <a:p>
            <a:r>
              <a:rPr lang="fa-IR" dirty="0">
                <a:solidFill>
                  <a:schemeClr val="accent6"/>
                </a:solidFill>
              </a:rPr>
              <a:t> کدام یک بهتر است؟ یک تابع خطی یا یک تابع درجه دوم؟</a:t>
            </a:r>
            <a:endParaRPr lang="en-US" dirty="0">
              <a:solidFill>
                <a:schemeClr val="accent6"/>
              </a:solidFill>
            </a:endParaRPr>
          </a:p>
        </p:txBody>
      </p:sp>
    </p:spTree>
    <p:extLst>
      <p:ext uri="{BB962C8B-B14F-4D97-AF65-F5344CB8AC3E}">
        <p14:creationId xmlns:p14="http://schemas.microsoft.com/office/powerpoint/2010/main" val="32885594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8C1AECD-F1C6-101D-FCC4-FAD113C87E50}"/>
              </a:ext>
            </a:extLst>
          </p:cNvPr>
          <p:cNvSpPr txBox="1"/>
          <p:nvPr/>
        </p:nvSpPr>
        <p:spPr>
          <a:xfrm>
            <a:off x="4949058" y="4059260"/>
            <a:ext cx="4036682" cy="923330"/>
          </a:xfrm>
          <a:prstGeom prst="rect">
            <a:avLst/>
          </a:prstGeom>
          <a:noFill/>
        </p:spPr>
        <p:txBody>
          <a:bodyPr wrap="none" rtlCol="0">
            <a:spAutoFit/>
          </a:bodyPr>
          <a:lstStyle/>
          <a:p>
            <a:pPr algn="r" rtl="1"/>
            <a:r>
              <a:rPr lang="fa-IR" dirty="0">
                <a:solidFill>
                  <a:srgbClr val="FF0000"/>
                </a:solidFill>
                <a:cs typeface="B Koodak" panose="00000700000000000000" pitchFamily="2" charset="-78"/>
              </a:rPr>
              <a:t>یادگیری نظارت شده</a:t>
            </a:r>
            <a:r>
              <a:rPr lang="fa-IR" dirty="0">
                <a:solidFill>
                  <a:schemeClr val="accent6"/>
                </a:solidFill>
                <a:cs typeface="B Koodak" panose="00000700000000000000" pitchFamily="2" charset="-78"/>
              </a:rPr>
              <a:t>.</a:t>
            </a:r>
          </a:p>
          <a:p>
            <a:pPr algn="r" rtl="1"/>
            <a:r>
              <a:rPr lang="fa-IR" dirty="0">
                <a:solidFill>
                  <a:schemeClr val="accent6"/>
                </a:solidFill>
                <a:cs typeface="B Koodak" panose="00000700000000000000" pitchFamily="2" charset="-78"/>
              </a:rPr>
              <a:t>به ازای هر نمونه آموزشی، »پاسخ درست« داده شده</a:t>
            </a:r>
          </a:p>
          <a:p>
            <a:pPr algn="r" rtl="1"/>
            <a:r>
              <a:rPr lang="fa-IR" dirty="0">
                <a:solidFill>
                  <a:schemeClr val="accent6"/>
                </a:solidFill>
                <a:cs typeface="B Koodak" panose="00000700000000000000" pitchFamily="2" charset="-78"/>
              </a:rPr>
              <a:t>است.</a:t>
            </a:r>
            <a:endParaRPr lang="en-US" dirty="0">
              <a:solidFill>
                <a:schemeClr val="accent6"/>
              </a:solidFill>
              <a:cs typeface="B Koodak" panose="00000700000000000000" pitchFamily="2" charset="-78"/>
            </a:endParaRPr>
          </a:p>
        </p:txBody>
      </p:sp>
      <p:sp>
        <p:nvSpPr>
          <p:cNvPr id="5" name="TextBox 4">
            <a:extLst>
              <a:ext uri="{FF2B5EF4-FFF2-40B4-BE49-F238E27FC236}">
                <a16:creationId xmlns:a16="http://schemas.microsoft.com/office/drawing/2014/main" id="{A35FFC8E-771A-E8F3-187C-86ADF5B44771}"/>
              </a:ext>
            </a:extLst>
          </p:cNvPr>
          <p:cNvSpPr txBox="1"/>
          <p:nvPr/>
        </p:nvSpPr>
        <p:spPr>
          <a:xfrm>
            <a:off x="4456936" y="108439"/>
            <a:ext cx="4528804" cy="646331"/>
          </a:xfrm>
          <a:prstGeom prst="rect">
            <a:avLst/>
          </a:prstGeom>
          <a:noFill/>
        </p:spPr>
        <p:txBody>
          <a:bodyPr wrap="none" rtlCol="0">
            <a:spAutoFit/>
          </a:bodyPr>
          <a:lstStyle/>
          <a:p>
            <a:pPr algn="r" rtl="1"/>
            <a:r>
              <a:rPr lang="fa-IR" sz="3600" dirty="0">
                <a:solidFill>
                  <a:schemeClr val="accent6"/>
                </a:solidFill>
                <a:cs typeface="B Koodak" panose="00000700000000000000" pitchFamily="2" charset="-78"/>
              </a:rPr>
              <a:t>مثال : قیمت گذاری یک خانه</a:t>
            </a:r>
            <a:endParaRPr lang="en-US" sz="3600" dirty="0">
              <a:solidFill>
                <a:schemeClr val="accent6"/>
              </a:solidFill>
              <a:cs typeface="B Koodak" panose="00000700000000000000" pitchFamily="2" charset="-78"/>
            </a:endParaRPr>
          </a:p>
        </p:txBody>
      </p:sp>
      <p:pic>
        <p:nvPicPr>
          <p:cNvPr id="3" name="Picture 2">
            <a:extLst>
              <a:ext uri="{FF2B5EF4-FFF2-40B4-BE49-F238E27FC236}">
                <a16:creationId xmlns:a16="http://schemas.microsoft.com/office/drawing/2014/main" id="{B62B8F00-169B-4DDB-0F0F-91560C367C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4235" y="754770"/>
            <a:ext cx="5553075" cy="2981325"/>
          </a:xfrm>
          <a:prstGeom prst="rect">
            <a:avLst/>
          </a:prstGeom>
        </p:spPr>
      </p:pic>
      <p:sp>
        <p:nvSpPr>
          <p:cNvPr id="7" name="TextBox 6">
            <a:extLst>
              <a:ext uri="{FF2B5EF4-FFF2-40B4-BE49-F238E27FC236}">
                <a16:creationId xmlns:a16="http://schemas.microsoft.com/office/drawing/2014/main" id="{55659A1B-98D0-4890-1D02-C6AA607A6B6B}"/>
              </a:ext>
            </a:extLst>
          </p:cNvPr>
          <p:cNvSpPr txBox="1"/>
          <p:nvPr/>
        </p:nvSpPr>
        <p:spPr>
          <a:xfrm>
            <a:off x="1362820" y="4059260"/>
            <a:ext cx="3586238" cy="923330"/>
          </a:xfrm>
          <a:prstGeom prst="rect">
            <a:avLst/>
          </a:prstGeom>
          <a:noFill/>
        </p:spPr>
        <p:txBody>
          <a:bodyPr wrap="none" rtlCol="0">
            <a:spAutoFit/>
          </a:bodyPr>
          <a:lstStyle/>
          <a:p>
            <a:pPr algn="r" rtl="1"/>
            <a:r>
              <a:rPr lang="fa-IR" dirty="0">
                <a:solidFill>
                  <a:srgbClr val="FF0000"/>
                </a:solidFill>
                <a:cs typeface="B Koodak" panose="00000700000000000000" pitchFamily="2" charset="-78"/>
              </a:rPr>
              <a:t>رگرسیون.</a:t>
            </a:r>
          </a:p>
          <a:p>
            <a:pPr algn="r" rtl="1"/>
            <a:r>
              <a:rPr lang="fa-IR" dirty="0">
                <a:solidFill>
                  <a:schemeClr val="accent6"/>
                </a:solidFill>
                <a:cs typeface="B Koodak" panose="00000700000000000000" pitchFamily="2" charset="-78"/>
              </a:rPr>
              <a:t>پیش بینی کمیت هایی با مقادیر پیوسته </a:t>
            </a:r>
            <a:r>
              <a:rPr lang="en-US" dirty="0">
                <a:solidFill>
                  <a:schemeClr val="accent6"/>
                </a:solidFill>
                <a:cs typeface="B Koodak" panose="00000700000000000000" pitchFamily="2" charset="-78"/>
              </a:rPr>
              <a:t>)</a:t>
            </a:r>
            <a:r>
              <a:rPr lang="fa-IR" dirty="0">
                <a:solidFill>
                  <a:schemeClr val="accent6"/>
                </a:solidFill>
                <a:cs typeface="B Koodak" panose="00000700000000000000" pitchFamily="2" charset="-78"/>
              </a:rPr>
              <a:t>مانند</a:t>
            </a:r>
          </a:p>
          <a:p>
            <a:pPr algn="r" rtl="1"/>
            <a:r>
              <a:rPr lang="fa-IR" dirty="0">
                <a:solidFill>
                  <a:schemeClr val="accent6"/>
                </a:solidFill>
                <a:cs typeface="B Koodak" panose="00000700000000000000" pitchFamily="2" charset="-78"/>
              </a:rPr>
              <a:t>قیمت یک خانه</a:t>
            </a:r>
            <a:r>
              <a:rPr lang="en-US" dirty="0">
                <a:solidFill>
                  <a:schemeClr val="accent6"/>
                </a:solidFill>
                <a:cs typeface="B Koodak" panose="00000700000000000000" pitchFamily="2" charset="-78"/>
              </a:rPr>
              <a:t>(</a:t>
            </a:r>
          </a:p>
        </p:txBody>
      </p:sp>
    </p:spTree>
    <p:extLst>
      <p:ext uri="{BB962C8B-B14F-4D97-AF65-F5344CB8AC3E}">
        <p14:creationId xmlns:p14="http://schemas.microsoft.com/office/powerpoint/2010/main" val="29671447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8C1AECD-F1C6-101D-FCC4-FAD113C87E50}"/>
              </a:ext>
            </a:extLst>
          </p:cNvPr>
          <p:cNvSpPr txBox="1"/>
          <p:nvPr/>
        </p:nvSpPr>
        <p:spPr>
          <a:xfrm>
            <a:off x="4949058" y="4059260"/>
            <a:ext cx="4036682" cy="923330"/>
          </a:xfrm>
          <a:prstGeom prst="rect">
            <a:avLst/>
          </a:prstGeom>
          <a:noFill/>
        </p:spPr>
        <p:txBody>
          <a:bodyPr wrap="none" rtlCol="0">
            <a:spAutoFit/>
          </a:bodyPr>
          <a:lstStyle/>
          <a:p>
            <a:pPr algn="r" rtl="1"/>
            <a:r>
              <a:rPr lang="fa-IR" dirty="0">
                <a:solidFill>
                  <a:srgbClr val="FF0000"/>
                </a:solidFill>
                <a:cs typeface="B Koodak" panose="00000700000000000000" pitchFamily="2" charset="-78"/>
              </a:rPr>
              <a:t>یادگیری نظارت شده</a:t>
            </a:r>
            <a:r>
              <a:rPr lang="fa-IR" dirty="0">
                <a:solidFill>
                  <a:schemeClr val="accent6"/>
                </a:solidFill>
                <a:cs typeface="B Koodak" panose="00000700000000000000" pitchFamily="2" charset="-78"/>
              </a:rPr>
              <a:t>.</a:t>
            </a:r>
          </a:p>
          <a:p>
            <a:pPr algn="r" rtl="1"/>
            <a:r>
              <a:rPr lang="fa-IR" dirty="0">
                <a:solidFill>
                  <a:schemeClr val="accent6"/>
                </a:solidFill>
                <a:cs typeface="B Koodak" panose="00000700000000000000" pitchFamily="2" charset="-78"/>
              </a:rPr>
              <a:t>به ازای هر نمونه آموزشی، »پاسخ درست« داده شده</a:t>
            </a:r>
          </a:p>
          <a:p>
            <a:pPr algn="r" rtl="1"/>
            <a:r>
              <a:rPr lang="fa-IR" dirty="0">
                <a:solidFill>
                  <a:schemeClr val="accent6"/>
                </a:solidFill>
                <a:cs typeface="B Koodak" panose="00000700000000000000" pitchFamily="2" charset="-78"/>
              </a:rPr>
              <a:t>است.</a:t>
            </a:r>
            <a:endParaRPr lang="en-US" dirty="0">
              <a:solidFill>
                <a:schemeClr val="accent6"/>
              </a:solidFill>
              <a:cs typeface="B Koodak" panose="00000700000000000000" pitchFamily="2" charset="-78"/>
            </a:endParaRPr>
          </a:p>
        </p:txBody>
      </p:sp>
      <p:sp>
        <p:nvSpPr>
          <p:cNvPr id="5" name="TextBox 4">
            <a:extLst>
              <a:ext uri="{FF2B5EF4-FFF2-40B4-BE49-F238E27FC236}">
                <a16:creationId xmlns:a16="http://schemas.microsoft.com/office/drawing/2014/main" id="{A35FFC8E-771A-E8F3-187C-86ADF5B44771}"/>
              </a:ext>
            </a:extLst>
          </p:cNvPr>
          <p:cNvSpPr txBox="1"/>
          <p:nvPr/>
        </p:nvSpPr>
        <p:spPr>
          <a:xfrm>
            <a:off x="1456114" y="108439"/>
            <a:ext cx="7529626" cy="646331"/>
          </a:xfrm>
          <a:prstGeom prst="rect">
            <a:avLst/>
          </a:prstGeom>
          <a:noFill/>
        </p:spPr>
        <p:txBody>
          <a:bodyPr wrap="none" rtlCol="0">
            <a:spAutoFit/>
          </a:bodyPr>
          <a:lstStyle/>
          <a:p>
            <a:pPr algn="r" rtl="1"/>
            <a:r>
              <a:rPr lang="fa-IR" sz="3600" dirty="0">
                <a:solidFill>
                  <a:schemeClr val="accent6"/>
                </a:solidFill>
                <a:cs typeface="B Koodak" panose="00000700000000000000" pitchFamily="2" charset="-78"/>
              </a:rPr>
              <a:t>مثال :  تشخیص نوع سرطان </a:t>
            </a:r>
            <a:r>
              <a:rPr lang="en-US" sz="3600" dirty="0">
                <a:solidFill>
                  <a:schemeClr val="accent6"/>
                </a:solidFill>
                <a:cs typeface="B Koodak" panose="00000700000000000000" pitchFamily="2" charset="-78"/>
              </a:rPr>
              <a:t>)</a:t>
            </a:r>
            <a:r>
              <a:rPr lang="fa-IR" sz="3600" dirty="0">
                <a:solidFill>
                  <a:schemeClr val="accent6"/>
                </a:solidFill>
                <a:cs typeface="B Koodak" panose="00000700000000000000" pitchFamily="2" charset="-78"/>
              </a:rPr>
              <a:t>بدخیم، خوش خیم</a:t>
            </a:r>
            <a:r>
              <a:rPr lang="en-US" sz="3600" dirty="0">
                <a:solidFill>
                  <a:schemeClr val="accent6"/>
                </a:solidFill>
                <a:cs typeface="B Koodak" panose="00000700000000000000" pitchFamily="2" charset="-78"/>
              </a:rPr>
              <a:t>(</a:t>
            </a:r>
          </a:p>
        </p:txBody>
      </p:sp>
      <p:sp>
        <p:nvSpPr>
          <p:cNvPr id="7" name="TextBox 6">
            <a:extLst>
              <a:ext uri="{FF2B5EF4-FFF2-40B4-BE49-F238E27FC236}">
                <a16:creationId xmlns:a16="http://schemas.microsoft.com/office/drawing/2014/main" id="{55659A1B-98D0-4890-1D02-C6AA607A6B6B}"/>
              </a:ext>
            </a:extLst>
          </p:cNvPr>
          <p:cNvSpPr txBox="1"/>
          <p:nvPr/>
        </p:nvSpPr>
        <p:spPr>
          <a:xfrm>
            <a:off x="1321141" y="4059260"/>
            <a:ext cx="3627917" cy="923330"/>
          </a:xfrm>
          <a:prstGeom prst="rect">
            <a:avLst/>
          </a:prstGeom>
          <a:noFill/>
        </p:spPr>
        <p:txBody>
          <a:bodyPr wrap="none" rtlCol="0">
            <a:spAutoFit/>
          </a:bodyPr>
          <a:lstStyle/>
          <a:p>
            <a:pPr algn="r" rtl="1"/>
            <a:r>
              <a:rPr lang="fa-IR" dirty="0">
                <a:solidFill>
                  <a:srgbClr val="FF0000"/>
                </a:solidFill>
                <a:cs typeface="B Koodak" panose="00000700000000000000" pitchFamily="2" charset="-78"/>
              </a:rPr>
              <a:t>کلاس بندی.</a:t>
            </a:r>
          </a:p>
          <a:p>
            <a:pPr algn="r" rtl="1"/>
            <a:r>
              <a:rPr lang="fa-IR" dirty="0">
                <a:solidFill>
                  <a:schemeClr val="accent6"/>
                </a:solidFill>
                <a:cs typeface="B Koodak" panose="00000700000000000000" pitchFamily="2" charset="-78"/>
              </a:rPr>
              <a:t>پیش بینی کمیت هایی با مقادیر گسسته (مانند</a:t>
            </a:r>
          </a:p>
          <a:p>
            <a:pPr algn="r" rtl="1"/>
            <a:r>
              <a:rPr lang="fa-IR" dirty="0">
                <a:solidFill>
                  <a:schemeClr val="accent6"/>
                </a:solidFill>
                <a:cs typeface="B Koodak" panose="00000700000000000000" pitchFamily="2" charset="-78"/>
              </a:rPr>
              <a:t>صفر و یک)</a:t>
            </a:r>
            <a:endParaRPr lang="en-US" dirty="0">
              <a:solidFill>
                <a:schemeClr val="accent6"/>
              </a:solidFill>
              <a:cs typeface="B Koodak" panose="00000700000000000000" pitchFamily="2" charset="-78"/>
            </a:endParaRPr>
          </a:p>
        </p:txBody>
      </p:sp>
      <p:pic>
        <p:nvPicPr>
          <p:cNvPr id="6" name="Picture 5">
            <a:extLst>
              <a:ext uri="{FF2B5EF4-FFF2-40B4-BE49-F238E27FC236}">
                <a16:creationId xmlns:a16="http://schemas.microsoft.com/office/drawing/2014/main" id="{7BA7230A-F795-5BC0-6A63-403E38EEED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6778" y="754770"/>
            <a:ext cx="6040315" cy="3187944"/>
          </a:xfrm>
          <a:prstGeom prst="rect">
            <a:avLst/>
          </a:prstGeom>
        </p:spPr>
      </p:pic>
    </p:spTree>
    <p:extLst>
      <p:ext uri="{BB962C8B-B14F-4D97-AF65-F5344CB8AC3E}">
        <p14:creationId xmlns:p14="http://schemas.microsoft.com/office/powerpoint/2010/main" val="450952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3452400" y="1995840"/>
            <a:ext cx="4143960" cy="1021680"/>
          </a:xfrm>
          <a:prstGeom prst="rect">
            <a:avLst/>
          </a:prstGeom>
          <a:noFill/>
          <a:ln w="0">
            <a:noFill/>
          </a:ln>
        </p:spPr>
        <p:txBody>
          <a:bodyPr lIns="91440" tIns="91440" rIns="91440" bIns="91440" anchor="ctr">
            <a:noAutofit/>
          </a:bodyPr>
          <a:lstStyle/>
          <a:p>
            <a:pPr indent="0" algn="r" rtl="1">
              <a:lnSpc>
                <a:spcPct val="100000"/>
              </a:lnSpc>
              <a:buNone/>
              <a:tabLst>
                <a:tab pos="0" algn="l"/>
              </a:tabLst>
            </a:pPr>
            <a:r>
              <a:rPr lang="fa-IR" sz="4000" spc="-1" dirty="0">
                <a:solidFill>
                  <a:srgbClr val="000000"/>
                </a:solidFill>
                <a:latin typeface="Arial"/>
                <a:cs typeface="B Titr"/>
              </a:rPr>
              <a:t>یادگیری بدون نظارت</a:t>
            </a:r>
            <a:endParaRPr lang="en-US" sz="4000" b="0" strike="noStrike" spc="-1" dirty="0">
              <a:solidFill>
                <a:srgbClr val="000000"/>
              </a:solidFill>
              <a:latin typeface="Arial"/>
            </a:endParaRPr>
          </a:p>
        </p:txBody>
      </p:sp>
      <p:sp>
        <p:nvSpPr>
          <p:cNvPr id="179" name="PlaceHolder 2"/>
          <p:cNvSpPr>
            <a:spLocks noGrp="1"/>
          </p:cNvSpPr>
          <p:nvPr>
            <p:ph type="title"/>
          </p:nvPr>
        </p:nvSpPr>
        <p:spPr>
          <a:xfrm>
            <a:off x="7740720" y="1547640"/>
            <a:ext cx="975960" cy="754200"/>
          </a:xfrm>
          <a:prstGeom prst="rect">
            <a:avLst/>
          </a:prstGeom>
          <a:noFill/>
          <a:ln w="0">
            <a:noFill/>
          </a:ln>
        </p:spPr>
        <p:txBody>
          <a:bodyPr lIns="91440" tIns="91440" rIns="91440" bIns="91440" anchor="ctr">
            <a:noAutofit/>
          </a:bodyPr>
          <a:lstStyle/>
          <a:p>
            <a:pPr indent="0">
              <a:lnSpc>
                <a:spcPct val="100000"/>
              </a:lnSpc>
              <a:buNone/>
              <a:tabLst>
                <a:tab pos="0" algn="l"/>
              </a:tabLst>
            </a:pPr>
            <a:r>
              <a:rPr lang="en-US" sz="11500" b="0" strike="noStrike" spc="-1">
                <a:solidFill>
                  <a:srgbClr val="000000"/>
                </a:solidFill>
                <a:latin typeface="Arial"/>
                <a:ea typeface="Arial"/>
              </a:rPr>
              <a:t>3</a:t>
            </a:r>
            <a:endParaRPr lang="en-US" sz="11500" b="0" strike="noStrike" spc="-1">
              <a:solidFill>
                <a:srgbClr val="000000"/>
              </a:solidFill>
              <a:latin typeface="Arial"/>
            </a:endParaRPr>
          </a:p>
        </p:txBody>
      </p:sp>
      <p:cxnSp>
        <p:nvCxnSpPr>
          <p:cNvPr id="181" name="Google Shape;314;p39"/>
          <p:cNvCxnSpPr/>
          <p:nvPr/>
        </p:nvCxnSpPr>
        <p:spPr>
          <a:xfrm>
            <a:off x="7308000" y="3016800"/>
            <a:ext cx="1879560" cy="360"/>
          </a:xfrm>
          <a:prstGeom prst="straightConnector1">
            <a:avLst/>
          </a:prstGeom>
          <a:ln w="9525">
            <a:solidFill>
              <a:srgbClr val="434343"/>
            </a:solidFill>
            <a:round/>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p15="http://schemas.microsoft.com/office/powerpoint/2012/main">
      <p:transition spd="med">
        <p:fade/>
      </p:transition>
    </mc:Fallback>
  </mc:AlternateContent>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181"/>
                                        </p:tgtEl>
                                        <p:attrNameLst>
                                          <p:attrName>style.visibility</p:attrName>
                                        </p:attrNameLst>
                                      </p:cBhvr>
                                      <p:to>
                                        <p:strVal val="visible"/>
                                      </p:to>
                                    </p:set>
                                    <p:animEffect transition="in" filter="wipe(right)">
                                      <p:cBhvr additive="repl">
                                        <p:cTn id="7" dur="500"/>
                                        <p:tgtEl>
                                          <p:spTgt spid="181"/>
                                        </p:tgtEl>
                                      </p:cBhvr>
                                    </p:animEffect>
                                  </p:childTnLst>
                                </p:cTn>
                              </p:par>
                              <p:par>
                                <p:cTn id="8" presetID="10" presetClass="entr" fill="hold" nodeType="withEffect">
                                  <p:stCondLst>
                                    <p:cond delay="0"/>
                                  </p:stCondLst>
                                  <p:childTnLst>
                                    <p:set>
                                      <p:cBhvr>
                                        <p:cTn id="9" dur="1" fill="hold">
                                          <p:stCondLst>
                                            <p:cond delay="0"/>
                                          </p:stCondLst>
                                        </p:cTn>
                                        <p:tgtEl>
                                          <p:spTgt spid="178"/>
                                        </p:tgtEl>
                                        <p:attrNameLst>
                                          <p:attrName>style.visibility</p:attrName>
                                        </p:attrNameLst>
                                      </p:cBhvr>
                                      <p:to>
                                        <p:strVal val="visible"/>
                                      </p:to>
                                    </p:set>
                                    <p:animEffect transition="in" filter="fade">
                                      <p:cBhvr additive="repl">
                                        <p:cTn id="10" dur="500"/>
                                        <p:tgtEl>
                                          <p:spTgt spid="178"/>
                                        </p:tgtEl>
                                      </p:cBhvr>
                                    </p:animEffect>
                                  </p:childTnLst>
                                </p:cTn>
                              </p:par>
                              <p:par>
                                <p:cTn id="11" presetID="10" presetClass="entr" fill="hold" nodeType="withEffect">
                                  <p:stCondLst>
                                    <p:cond delay="0"/>
                                  </p:stCondLst>
                                  <p:childTnLst>
                                    <p:set>
                                      <p:cBhvr>
                                        <p:cTn id="12" dur="1" fill="hold">
                                          <p:stCondLst>
                                            <p:cond delay="0"/>
                                          </p:stCondLst>
                                        </p:cTn>
                                        <p:tgtEl>
                                          <p:spTgt spid="179"/>
                                        </p:tgtEl>
                                        <p:attrNameLst>
                                          <p:attrName>style.visibility</p:attrName>
                                        </p:attrNameLst>
                                      </p:cBhvr>
                                      <p:to>
                                        <p:strVal val="visible"/>
                                      </p:to>
                                    </p:set>
                                    <p:animEffect transition="in" filter="fade">
                                      <p:cBhvr additive="repl">
                                        <p:cTn id="13" dur="500"/>
                                        <p:tgtEl>
                                          <p:spTgt spid="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PlaceHolder 1"/>
          <p:cNvSpPr>
            <a:spLocks noGrp="1"/>
          </p:cNvSpPr>
          <p:nvPr>
            <p:ph type="subTitle"/>
          </p:nvPr>
        </p:nvSpPr>
        <p:spPr>
          <a:xfrm>
            <a:off x="1331640" y="1455840"/>
            <a:ext cx="5976360" cy="1784160"/>
          </a:xfrm>
          <a:prstGeom prst="rect">
            <a:avLst/>
          </a:prstGeom>
          <a:noFill/>
          <a:ln w="0">
            <a:noFill/>
          </a:ln>
        </p:spPr>
        <p:txBody>
          <a:bodyPr lIns="91440" tIns="91440" rIns="91440" bIns="91440" anchor="t">
            <a:noAutofit/>
          </a:bodyPr>
          <a:lstStyle/>
          <a:p>
            <a:pPr algn="just" rtl="1">
              <a:lnSpc>
                <a:spcPct val="150000"/>
              </a:lnSpc>
              <a:spcBef>
                <a:spcPts val="1191"/>
              </a:spcBef>
              <a:spcAft>
                <a:spcPts val="992"/>
              </a:spcAft>
              <a:tabLst>
                <a:tab pos="0" algn="l"/>
              </a:tabLst>
            </a:pPr>
            <a:r>
              <a:rPr lang="fa-IR" sz="2000" spc="-1" dirty="0">
                <a:solidFill>
                  <a:srgbClr val="000000"/>
                </a:solidFill>
                <a:cs typeface="B Koodak" panose="00000700000000000000" pitchFamily="2" charset="-78"/>
              </a:rPr>
              <a:t>گاهی بدون وجود بزرگتر یا همان ناظر یاد می‌گیریم. مغز یک نوزاد از همان ابتدا درحال یادگیری است. نوزاد نه قابلیت یادگیری هنگام بازی را دارد و نه زبان آدمیزاد می‌فهمد! 😃 مثلا بدو تولد نوزاد واکنشی به صداهای اطراف ندارد. اما رفته رفته مغز او یاد می‌گیرد که سخن‌گو را از بین جمع پیدا کند.</a:t>
            </a:r>
            <a:endParaRPr lang="en-US" sz="2000" b="0" strike="noStrike" spc="-1" dirty="0">
              <a:solidFill>
                <a:srgbClr val="000000"/>
              </a:solidFill>
              <a:latin typeface="Arial"/>
              <a:cs typeface="B Koodak" panose="00000700000000000000" pitchFamily="2" charset="-78"/>
            </a:endParaRPr>
          </a:p>
        </p:txBody>
      </p:sp>
      <p:cxnSp>
        <p:nvCxnSpPr>
          <p:cNvPr id="90" name="Google Shape;185;p 3"/>
          <p:cNvCxnSpPr/>
          <p:nvPr/>
        </p:nvCxnSpPr>
        <p:spPr>
          <a:xfrm>
            <a:off x="4569480" y="1059480"/>
            <a:ext cx="4574880" cy="360"/>
          </a:xfrm>
          <a:prstGeom prst="straightConnector1">
            <a:avLst/>
          </a:prstGeom>
          <a:ln w="9525">
            <a:solidFill>
              <a:srgbClr val="434343"/>
            </a:solidFill>
            <a:round/>
          </a:ln>
        </p:spPr>
      </p:cxnSp>
      <p:cxnSp>
        <p:nvCxnSpPr>
          <p:cNvPr id="91" name="Google Shape;186;p 3"/>
          <p:cNvCxnSpPr/>
          <p:nvPr/>
        </p:nvCxnSpPr>
        <p:spPr>
          <a:xfrm>
            <a:off x="0" y="4443840"/>
            <a:ext cx="4574520" cy="360"/>
          </a:xfrm>
          <a:prstGeom prst="straightConnector1">
            <a:avLst/>
          </a:prstGeom>
          <a:ln w="9525">
            <a:solidFill>
              <a:srgbClr val="434343"/>
            </a:solidFill>
            <a:round/>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p15="http://schemas.microsoft.com/office/powerpoint/2012/main">
      <p:transition spd="med">
        <p:fade/>
      </p:transition>
    </mc:Fallback>
  </mc:AlternateContent>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barn(inVertical)">
                                      <p:cBhvr additive="repl">
                                        <p:cTn id="7" dur="1000"/>
                                        <p:tgtEl>
                                          <p:spTgt spid="90"/>
                                        </p:tgtEl>
                                      </p:cBhvr>
                                    </p:animEffect>
                                  </p:childTnLst>
                                </p:cTn>
                              </p:par>
                              <p:par>
                                <p:cTn id="8" presetID="16" presetClass="entr" presetSubtype="21" fill="hold" nodeType="withEffect">
                                  <p:stCondLst>
                                    <p:cond delay="0"/>
                                  </p:stCondLst>
                                  <p:childTnLst>
                                    <p:set>
                                      <p:cBhvr>
                                        <p:cTn id="9" dur="1" fill="hold">
                                          <p:stCondLst>
                                            <p:cond delay="0"/>
                                          </p:stCondLst>
                                        </p:cTn>
                                        <p:tgtEl>
                                          <p:spTgt spid="91"/>
                                        </p:tgtEl>
                                        <p:attrNameLst>
                                          <p:attrName>style.visibility</p:attrName>
                                        </p:attrNameLst>
                                      </p:cBhvr>
                                      <p:to>
                                        <p:strVal val="visible"/>
                                      </p:to>
                                    </p:set>
                                    <p:animEffect transition="in" filter="barn(inVertical)">
                                      <p:cBhvr additive="repl">
                                        <p:cTn id="10" dur="1000"/>
                                        <p:tgtEl>
                                          <p:spTgt spid="91"/>
                                        </p:tgtEl>
                                      </p:cBhvr>
                                    </p:animEffect>
                                  </p:childTnLst>
                                </p:cTn>
                              </p:par>
                              <p:par>
                                <p:cTn id="11" presetID="10" presetClass="entr" fill="hold" nodeType="withEffect">
                                  <p:stCondLst>
                                    <p:cond delay="0"/>
                                  </p:stCondLst>
                                  <p:childTnLst>
                                    <p:set>
                                      <p:cBhvr>
                                        <p:cTn id="12" dur="1" fill="hold">
                                          <p:stCondLst>
                                            <p:cond delay="0"/>
                                          </p:stCondLst>
                                        </p:cTn>
                                        <p:tgtEl>
                                          <p:spTgt spid="89">
                                            <p:txEl>
                                              <p:pRg st="0" end="0"/>
                                            </p:txEl>
                                          </p:spTgt>
                                        </p:tgtEl>
                                        <p:attrNameLst>
                                          <p:attrName>style.visibility</p:attrName>
                                        </p:attrNameLst>
                                      </p:cBhvr>
                                      <p:to>
                                        <p:strVal val="visible"/>
                                      </p:to>
                                    </p:set>
                                    <p:animEffect transition="in" filter="fade">
                                      <p:cBhvr additive="repl">
                                        <p:cTn id="13" dur="1000"/>
                                        <p:tgtEl>
                                          <p:spTgt spid="8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E3CE059-3467-7204-B635-B7DEF1869F27}"/>
              </a:ext>
            </a:extLst>
          </p:cNvPr>
          <p:cNvSpPr txBox="1"/>
          <p:nvPr/>
        </p:nvSpPr>
        <p:spPr>
          <a:xfrm>
            <a:off x="4475284" y="481331"/>
            <a:ext cx="4572000" cy="646331"/>
          </a:xfrm>
          <a:prstGeom prst="rect">
            <a:avLst/>
          </a:prstGeom>
          <a:noFill/>
        </p:spPr>
        <p:txBody>
          <a:bodyPr wrap="square">
            <a:spAutoFit/>
          </a:bodyPr>
          <a:lstStyle/>
          <a:p>
            <a:pPr algn="r" rtl="1"/>
            <a:r>
              <a:rPr lang="en-US" dirty="0" err="1">
                <a:solidFill>
                  <a:srgbClr val="FF0000"/>
                </a:solidFill>
                <a:cs typeface="B Koodak" panose="00000700000000000000" pitchFamily="2" charset="-78"/>
              </a:rPr>
              <a:t>یادگیری</a:t>
            </a:r>
            <a:r>
              <a:rPr lang="en-US" dirty="0">
                <a:solidFill>
                  <a:srgbClr val="FF0000"/>
                </a:solidFill>
                <a:cs typeface="B Koodak" panose="00000700000000000000" pitchFamily="2" charset="-78"/>
              </a:rPr>
              <a:t> </a:t>
            </a:r>
            <a:r>
              <a:rPr lang="en-US" dirty="0" err="1">
                <a:solidFill>
                  <a:srgbClr val="FF0000"/>
                </a:solidFill>
                <a:cs typeface="B Koodak" panose="00000700000000000000" pitchFamily="2" charset="-78"/>
              </a:rPr>
              <a:t>نظارت</a:t>
            </a:r>
            <a:r>
              <a:rPr lang="en-US" dirty="0">
                <a:solidFill>
                  <a:srgbClr val="FF0000"/>
                </a:solidFill>
                <a:cs typeface="B Koodak" panose="00000700000000000000" pitchFamily="2" charset="-78"/>
              </a:rPr>
              <a:t> </a:t>
            </a:r>
            <a:r>
              <a:rPr lang="en-US" dirty="0" err="1">
                <a:solidFill>
                  <a:srgbClr val="FF0000"/>
                </a:solidFill>
                <a:cs typeface="B Koodak" panose="00000700000000000000" pitchFamily="2" charset="-78"/>
              </a:rPr>
              <a:t>شده</a:t>
            </a:r>
            <a:r>
              <a:rPr lang="en-US" dirty="0">
                <a:solidFill>
                  <a:srgbClr val="FF0000"/>
                </a:solidFill>
                <a:cs typeface="B Koodak" panose="00000700000000000000" pitchFamily="2" charset="-78"/>
              </a:rPr>
              <a:t>. </a:t>
            </a:r>
            <a:r>
              <a:rPr lang="en-US" dirty="0" err="1">
                <a:cs typeface="B Koodak" panose="00000700000000000000" pitchFamily="2" charset="-78"/>
              </a:rPr>
              <a:t>به</a:t>
            </a:r>
            <a:r>
              <a:rPr lang="en-US" dirty="0">
                <a:cs typeface="B Koodak" panose="00000700000000000000" pitchFamily="2" charset="-78"/>
              </a:rPr>
              <a:t> </a:t>
            </a:r>
            <a:r>
              <a:rPr lang="en-US" dirty="0" err="1">
                <a:cs typeface="B Koodak" panose="00000700000000000000" pitchFamily="2" charset="-78"/>
              </a:rPr>
              <a:t>ازای</a:t>
            </a:r>
            <a:r>
              <a:rPr lang="en-US" dirty="0">
                <a:cs typeface="B Koodak" panose="00000700000000000000" pitchFamily="2" charset="-78"/>
              </a:rPr>
              <a:t> </a:t>
            </a:r>
            <a:r>
              <a:rPr lang="en-US" dirty="0" err="1">
                <a:cs typeface="B Koodak" panose="00000700000000000000" pitchFamily="2" charset="-78"/>
              </a:rPr>
              <a:t>هر</a:t>
            </a:r>
            <a:r>
              <a:rPr lang="en-US" dirty="0">
                <a:cs typeface="B Koodak" panose="00000700000000000000" pitchFamily="2" charset="-78"/>
              </a:rPr>
              <a:t> </a:t>
            </a:r>
            <a:r>
              <a:rPr lang="en-US" dirty="0" err="1">
                <a:cs typeface="B Koodak" panose="00000700000000000000" pitchFamily="2" charset="-78"/>
              </a:rPr>
              <a:t>نمونه</a:t>
            </a:r>
            <a:r>
              <a:rPr lang="en-US" dirty="0">
                <a:cs typeface="B Koodak" panose="00000700000000000000" pitchFamily="2" charset="-78"/>
              </a:rPr>
              <a:t>، </a:t>
            </a:r>
            <a:r>
              <a:rPr lang="en-US" dirty="0" err="1">
                <a:cs typeface="B Koodak" panose="00000700000000000000" pitchFamily="2" charset="-78"/>
              </a:rPr>
              <a:t>پاسخ</a:t>
            </a:r>
            <a:r>
              <a:rPr lang="en-US" dirty="0">
                <a:cs typeface="B Koodak" panose="00000700000000000000" pitchFamily="2" charset="-78"/>
              </a:rPr>
              <a:t> </a:t>
            </a:r>
            <a:r>
              <a:rPr lang="en-US" dirty="0" err="1">
                <a:cs typeface="B Koodak" panose="00000700000000000000" pitchFamily="2" charset="-78"/>
              </a:rPr>
              <a:t>درست</a:t>
            </a:r>
            <a:r>
              <a:rPr lang="en-US" dirty="0">
                <a:cs typeface="B Koodak" panose="00000700000000000000" pitchFamily="2" charset="-78"/>
              </a:rPr>
              <a:t> </a:t>
            </a:r>
            <a:r>
              <a:rPr lang="en-US" dirty="0" err="1">
                <a:cs typeface="B Koodak" panose="00000700000000000000" pitchFamily="2" charset="-78"/>
              </a:rPr>
              <a:t>داده</a:t>
            </a:r>
            <a:r>
              <a:rPr lang="en-US" dirty="0">
                <a:cs typeface="B Koodak" panose="00000700000000000000" pitchFamily="2" charset="-78"/>
              </a:rPr>
              <a:t> </a:t>
            </a:r>
            <a:r>
              <a:rPr lang="en-US" dirty="0" err="1">
                <a:cs typeface="B Koodak" panose="00000700000000000000" pitchFamily="2" charset="-78"/>
              </a:rPr>
              <a:t>شده</a:t>
            </a:r>
            <a:r>
              <a:rPr lang="en-US" dirty="0">
                <a:cs typeface="B Koodak" panose="00000700000000000000" pitchFamily="2" charset="-78"/>
              </a:rPr>
              <a:t> </a:t>
            </a:r>
            <a:r>
              <a:rPr lang="en-US" dirty="0" err="1">
                <a:cs typeface="B Koodak" panose="00000700000000000000" pitchFamily="2" charset="-78"/>
              </a:rPr>
              <a:t>است</a:t>
            </a:r>
            <a:r>
              <a:rPr lang="en-US" dirty="0">
                <a:cs typeface="B Koodak" panose="00000700000000000000" pitchFamily="2" charset="-78"/>
              </a:rPr>
              <a:t>.</a:t>
            </a:r>
          </a:p>
        </p:txBody>
      </p:sp>
      <p:sp>
        <p:nvSpPr>
          <p:cNvPr id="14" name="TextBox 13">
            <a:extLst>
              <a:ext uri="{FF2B5EF4-FFF2-40B4-BE49-F238E27FC236}">
                <a16:creationId xmlns:a16="http://schemas.microsoft.com/office/drawing/2014/main" id="{1E4424F4-B3FB-1FCB-7BC5-A6FCD98C620C}"/>
              </a:ext>
            </a:extLst>
          </p:cNvPr>
          <p:cNvSpPr txBox="1"/>
          <p:nvPr/>
        </p:nvSpPr>
        <p:spPr>
          <a:xfrm>
            <a:off x="4572000" y="1395731"/>
            <a:ext cx="4572000" cy="646331"/>
          </a:xfrm>
          <a:prstGeom prst="rect">
            <a:avLst/>
          </a:prstGeom>
          <a:noFill/>
        </p:spPr>
        <p:txBody>
          <a:bodyPr wrap="square">
            <a:spAutoFit/>
          </a:bodyPr>
          <a:lstStyle/>
          <a:p>
            <a:pPr algn="r" rtl="1"/>
            <a:r>
              <a:rPr lang="en-US" dirty="0">
                <a:cs typeface="B Koodak" panose="00000700000000000000" pitchFamily="2" charset="-78"/>
              </a:rPr>
              <a:t> </a:t>
            </a:r>
            <a:r>
              <a:rPr lang="en-US" dirty="0" err="1">
                <a:solidFill>
                  <a:srgbClr val="FF0000"/>
                </a:solidFill>
                <a:cs typeface="B Koodak" panose="00000700000000000000" pitchFamily="2" charset="-78"/>
              </a:rPr>
              <a:t>یادگیری</a:t>
            </a:r>
            <a:r>
              <a:rPr lang="en-US" dirty="0">
                <a:solidFill>
                  <a:srgbClr val="FF0000"/>
                </a:solidFill>
                <a:cs typeface="B Koodak" panose="00000700000000000000" pitchFamily="2" charset="-78"/>
              </a:rPr>
              <a:t> </a:t>
            </a:r>
            <a:r>
              <a:rPr lang="en-US" dirty="0" err="1">
                <a:solidFill>
                  <a:srgbClr val="FF0000"/>
                </a:solidFill>
                <a:cs typeface="B Koodak" panose="00000700000000000000" pitchFamily="2" charset="-78"/>
              </a:rPr>
              <a:t>بدون</a:t>
            </a:r>
            <a:r>
              <a:rPr lang="en-US" dirty="0">
                <a:solidFill>
                  <a:srgbClr val="FF0000"/>
                </a:solidFill>
                <a:cs typeface="B Koodak" panose="00000700000000000000" pitchFamily="2" charset="-78"/>
              </a:rPr>
              <a:t> </a:t>
            </a:r>
            <a:r>
              <a:rPr lang="en-US" dirty="0" err="1">
                <a:solidFill>
                  <a:srgbClr val="FF0000"/>
                </a:solidFill>
                <a:cs typeface="B Koodak" panose="00000700000000000000" pitchFamily="2" charset="-78"/>
              </a:rPr>
              <a:t>نظارت</a:t>
            </a:r>
            <a:r>
              <a:rPr lang="en-US" dirty="0">
                <a:solidFill>
                  <a:srgbClr val="FF0000"/>
                </a:solidFill>
                <a:cs typeface="B Koodak" panose="00000700000000000000" pitchFamily="2" charset="-78"/>
              </a:rPr>
              <a:t>. </a:t>
            </a:r>
            <a:r>
              <a:rPr lang="en-US" dirty="0" err="1">
                <a:cs typeface="B Koodak" panose="00000700000000000000" pitchFamily="2" charset="-78"/>
              </a:rPr>
              <a:t>هیچ</a:t>
            </a:r>
            <a:r>
              <a:rPr lang="en-US" dirty="0">
                <a:cs typeface="B Koodak" panose="00000700000000000000" pitchFamily="2" charset="-78"/>
              </a:rPr>
              <a:t> </a:t>
            </a:r>
            <a:r>
              <a:rPr lang="en-US" dirty="0" err="1">
                <a:cs typeface="B Koodak" panose="00000700000000000000" pitchFamily="2" charset="-78"/>
              </a:rPr>
              <a:t>گونه</a:t>
            </a:r>
            <a:r>
              <a:rPr lang="en-US" dirty="0">
                <a:cs typeface="B Koodak" panose="00000700000000000000" pitchFamily="2" charset="-78"/>
              </a:rPr>
              <a:t> </a:t>
            </a:r>
            <a:r>
              <a:rPr lang="en-US" dirty="0" err="1">
                <a:cs typeface="B Koodak" panose="00000700000000000000" pitchFamily="2" charset="-78"/>
              </a:rPr>
              <a:t>اطالعاتی</a:t>
            </a:r>
            <a:r>
              <a:rPr lang="en-US" dirty="0">
                <a:cs typeface="B Koodak" panose="00000700000000000000" pitchFamily="2" charset="-78"/>
              </a:rPr>
              <a:t> </a:t>
            </a:r>
            <a:r>
              <a:rPr lang="en-US" dirty="0" err="1">
                <a:cs typeface="B Koodak" panose="00000700000000000000" pitchFamily="2" charset="-78"/>
              </a:rPr>
              <a:t>در</a:t>
            </a:r>
            <a:r>
              <a:rPr lang="en-US" dirty="0">
                <a:cs typeface="B Koodak" panose="00000700000000000000" pitchFamily="2" charset="-78"/>
              </a:rPr>
              <a:t> </a:t>
            </a:r>
            <a:r>
              <a:rPr lang="en-US" dirty="0" err="1">
                <a:cs typeface="B Koodak" panose="00000700000000000000" pitchFamily="2" charset="-78"/>
              </a:rPr>
              <a:t>مورد</a:t>
            </a:r>
            <a:r>
              <a:rPr lang="en-US" dirty="0">
                <a:cs typeface="B Koodak" panose="00000700000000000000" pitchFamily="2" charset="-78"/>
              </a:rPr>
              <a:t> </a:t>
            </a:r>
            <a:r>
              <a:rPr lang="en-US" dirty="0" err="1">
                <a:cs typeface="B Koodak" panose="00000700000000000000" pitchFamily="2" charset="-78"/>
              </a:rPr>
              <a:t>پاسخ</a:t>
            </a:r>
            <a:r>
              <a:rPr lang="en-US" dirty="0">
                <a:cs typeface="B Koodak" panose="00000700000000000000" pitchFamily="2" charset="-78"/>
              </a:rPr>
              <a:t> </a:t>
            </a:r>
            <a:r>
              <a:rPr lang="en-US" dirty="0" err="1">
                <a:cs typeface="B Koodak" panose="00000700000000000000" pitchFamily="2" charset="-78"/>
              </a:rPr>
              <a:t>های</a:t>
            </a:r>
            <a:r>
              <a:rPr lang="en-US" dirty="0">
                <a:cs typeface="B Koodak" panose="00000700000000000000" pitchFamily="2" charset="-78"/>
              </a:rPr>
              <a:t> </a:t>
            </a:r>
            <a:r>
              <a:rPr lang="en-US" dirty="0" err="1">
                <a:cs typeface="B Koodak" panose="00000700000000000000" pitchFamily="2" charset="-78"/>
              </a:rPr>
              <a:t>درست</a:t>
            </a:r>
            <a:r>
              <a:rPr lang="en-US" dirty="0">
                <a:cs typeface="B Koodak" panose="00000700000000000000" pitchFamily="2" charset="-78"/>
              </a:rPr>
              <a:t> </a:t>
            </a:r>
            <a:r>
              <a:rPr lang="en-US" dirty="0" err="1">
                <a:cs typeface="B Koodak" panose="00000700000000000000" pitchFamily="2" charset="-78"/>
              </a:rPr>
              <a:t>داده</a:t>
            </a:r>
            <a:r>
              <a:rPr lang="en-US" dirty="0">
                <a:cs typeface="B Koodak" panose="00000700000000000000" pitchFamily="2" charset="-78"/>
              </a:rPr>
              <a:t> </a:t>
            </a:r>
            <a:r>
              <a:rPr lang="en-US" dirty="0" err="1">
                <a:cs typeface="B Koodak" panose="00000700000000000000" pitchFamily="2" charset="-78"/>
              </a:rPr>
              <a:t>نشده</a:t>
            </a:r>
            <a:r>
              <a:rPr lang="en-US" dirty="0">
                <a:cs typeface="B Koodak" panose="00000700000000000000" pitchFamily="2" charset="-78"/>
              </a:rPr>
              <a:t> </a:t>
            </a:r>
            <a:r>
              <a:rPr lang="en-US" dirty="0" err="1">
                <a:cs typeface="B Koodak" panose="00000700000000000000" pitchFamily="2" charset="-78"/>
              </a:rPr>
              <a:t>است</a:t>
            </a:r>
            <a:r>
              <a:rPr lang="en-US" dirty="0">
                <a:cs typeface="B Koodak" panose="00000700000000000000" pitchFamily="2" charset="-78"/>
              </a:rPr>
              <a:t>!</a:t>
            </a:r>
          </a:p>
        </p:txBody>
      </p:sp>
      <p:pic>
        <p:nvPicPr>
          <p:cNvPr id="18" name="Picture 17">
            <a:extLst>
              <a:ext uri="{FF2B5EF4-FFF2-40B4-BE49-F238E27FC236}">
                <a16:creationId xmlns:a16="http://schemas.microsoft.com/office/drawing/2014/main" id="{DC3B1BCC-B39D-0DD0-795B-C291B2EEFA50}"/>
              </a:ext>
            </a:extLst>
          </p:cNvPr>
          <p:cNvPicPr>
            <a:picLocks noChangeAspect="1"/>
          </p:cNvPicPr>
          <p:nvPr/>
        </p:nvPicPr>
        <p:blipFill>
          <a:blip r:embed="rId2"/>
          <a:stretch>
            <a:fillRect/>
          </a:stretch>
        </p:blipFill>
        <p:spPr>
          <a:xfrm>
            <a:off x="79132" y="1575892"/>
            <a:ext cx="4712676" cy="2287612"/>
          </a:xfrm>
          <a:prstGeom prst="rect">
            <a:avLst/>
          </a:prstGeom>
        </p:spPr>
      </p:pic>
      <p:sp>
        <p:nvSpPr>
          <p:cNvPr id="20" name="TextBox 19">
            <a:extLst>
              <a:ext uri="{FF2B5EF4-FFF2-40B4-BE49-F238E27FC236}">
                <a16:creationId xmlns:a16="http://schemas.microsoft.com/office/drawing/2014/main" id="{EC685514-52EB-A9F3-6E9A-683E52D0EFD1}"/>
              </a:ext>
            </a:extLst>
          </p:cNvPr>
          <p:cNvSpPr txBox="1"/>
          <p:nvPr/>
        </p:nvSpPr>
        <p:spPr>
          <a:xfrm>
            <a:off x="4453304" y="3991708"/>
            <a:ext cx="4593980" cy="646331"/>
          </a:xfrm>
          <a:prstGeom prst="rect">
            <a:avLst/>
          </a:prstGeom>
          <a:noFill/>
        </p:spPr>
        <p:txBody>
          <a:bodyPr wrap="square">
            <a:spAutoFit/>
          </a:bodyPr>
          <a:lstStyle/>
          <a:p>
            <a:pPr algn="r" rtl="1"/>
            <a:r>
              <a:rPr lang="en-US" dirty="0" err="1">
                <a:solidFill>
                  <a:srgbClr val="FF0000"/>
                </a:solidFill>
                <a:cs typeface="B Koodak" panose="00000700000000000000" pitchFamily="2" charset="-78"/>
              </a:rPr>
              <a:t>هدف</a:t>
            </a:r>
            <a:r>
              <a:rPr lang="en-US" dirty="0">
                <a:cs typeface="B Koodak" panose="00000700000000000000" pitchFamily="2" charset="-78"/>
              </a:rPr>
              <a:t>. </a:t>
            </a:r>
            <a:r>
              <a:rPr lang="en-US" dirty="0" err="1">
                <a:cs typeface="B Koodak" panose="00000700000000000000" pitchFamily="2" charset="-78"/>
              </a:rPr>
              <a:t>تشخیص</a:t>
            </a:r>
            <a:r>
              <a:rPr lang="en-US" dirty="0">
                <a:cs typeface="B Koodak" panose="00000700000000000000" pitchFamily="2" charset="-78"/>
              </a:rPr>
              <a:t> </a:t>
            </a:r>
            <a:r>
              <a:rPr lang="en-US" dirty="0" err="1">
                <a:cs typeface="B Koodak" panose="00000700000000000000" pitchFamily="2" charset="-78"/>
              </a:rPr>
              <a:t>ساختار</a:t>
            </a:r>
            <a:r>
              <a:rPr lang="en-US" dirty="0">
                <a:cs typeface="B Koodak" panose="00000700000000000000" pitchFamily="2" charset="-78"/>
              </a:rPr>
              <a:t> </a:t>
            </a:r>
            <a:r>
              <a:rPr lang="en-US" dirty="0" err="1">
                <a:cs typeface="B Koodak" panose="00000700000000000000" pitchFamily="2" charset="-78"/>
              </a:rPr>
              <a:t>در</a:t>
            </a:r>
            <a:r>
              <a:rPr lang="en-US" dirty="0">
                <a:cs typeface="B Koodak" panose="00000700000000000000" pitchFamily="2" charset="-78"/>
              </a:rPr>
              <a:t> </a:t>
            </a:r>
            <a:r>
              <a:rPr lang="en-US" dirty="0" err="1">
                <a:cs typeface="B Koodak" panose="00000700000000000000" pitchFamily="2" charset="-78"/>
              </a:rPr>
              <a:t>داده</a:t>
            </a:r>
            <a:r>
              <a:rPr lang="en-US" dirty="0">
                <a:cs typeface="B Koodak" panose="00000700000000000000" pitchFamily="2" charset="-78"/>
              </a:rPr>
              <a:t> </a:t>
            </a:r>
            <a:r>
              <a:rPr lang="en-US" dirty="0" err="1">
                <a:cs typeface="B Koodak" panose="00000700000000000000" pitchFamily="2" charset="-78"/>
              </a:rPr>
              <a:t>های</a:t>
            </a:r>
            <a:r>
              <a:rPr lang="en-US" dirty="0">
                <a:cs typeface="B Koodak" panose="00000700000000000000" pitchFamily="2" charset="-78"/>
              </a:rPr>
              <a:t> </a:t>
            </a:r>
            <a:r>
              <a:rPr lang="en-US" dirty="0" err="1">
                <a:cs typeface="B Koodak" panose="00000700000000000000" pitchFamily="2" charset="-78"/>
              </a:rPr>
              <a:t>ورودی</a:t>
            </a:r>
            <a:r>
              <a:rPr lang="en-US" dirty="0">
                <a:cs typeface="B Koodak" panose="00000700000000000000" pitchFamily="2" charset="-78"/>
              </a:rPr>
              <a:t> )</a:t>
            </a:r>
            <a:r>
              <a:rPr lang="en-US" dirty="0" err="1">
                <a:cs typeface="B Koodak" panose="00000700000000000000" pitchFamily="2" charset="-78"/>
              </a:rPr>
              <a:t>گروه</a:t>
            </a:r>
            <a:r>
              <a:rPr lang="en-US" dirty="0">
                <a:cs typeface="B Koodak" panose="00000700000000000000" pitchFamily="2" charset="-78"/>
              </a:rPr>
              <a:t> </a:t>
            </a:r>
            <a:r>
              <a:rPr lang="en-US" dirty="0" err="1">
                <a:cs typeface="B Koodak" panose="00000700000000000000" pitchFamily="2" charset="-78"/>
              </a:rPr>
              <a:t>بندی</a:t>
            </a:r>
            <a:r>
              <a:rPr lang="en-US" dirty="0">
                <a:cs typeface="B Koodak" panose="00000700000000000000" pitchFamily="2" charset="-78"/>
              </a:rPr>
              <a:t> </a:t>
            </a:r>
            <a:r>
              <a:rPr lang="en-US" dirty="0" err="1">
                <a:cs typeface="B Koodak" panose="00000700000000000000" pitchFamily="2" charset="-78"/>
              </a:rPr>
              <a:t>داده</a:t>
            </a:r>
            <a:r>
              <a:rPr lang="en-US" dirty="0">
                <a:cs typeface="B Koodak" panose="00000700000000000000" pitchFamily="2" charset="-78"/>
              </a:rPr>
              <a:t> </a:t>
            </a:r>
            <a:r>
              <a:rPr lang="en-US" dirty="0" err="1">
                <a:cs typeface="B Koodak" panose="00000700000000000000" pitchFamily="2" charset="-78"/>
              </a:rPr>
              <a:t>های</a:t>
            </a:r>
            <a:r>
              <a:rPr lang="en-US" dirty="0">
                <a:cs typeface="B Koodak" panose="00000700000000000000" pitchFamily="2" charset="-78"/>
              </a:rPr>
              <a:t> </a:t>
            </a:r>
            <a:r>
              <a:rPr lang="en-US" dirty="0" err="1">
                <a:cs typeface="B Koodak" panose="00000700000000000000" pitchFamily="2" charset="-78"/>
              </a:rPr>
              <a:t>مشابه</a:t>
            </a:r>
            <a:r>
              <a:rPr lang="en-US" dirty="0">
                <a:cs typeface="B Koodak" panose="00000700000000000000" pitchFamily="2" charset="-78"/>
              </a:rPr>
              <a:t>(.</a:t>
            </a:r>
          </a:p>
        </p:txBody>
      </p:sp>
    </p:spTree>
    <p:extLst>
      <p:ext uri="{BB962C8B-B14F-4D97-AF65-F5344CB8AC3E}">
        <p14:creationId xmlns:p14="http://schemas.microsoft.com/office/powerpoint/2010/main" val="35853558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8CC06E-6714-E39D-A84F-17FD79F6B99B}"/>
              </a:ext>
            </a:extLst>
          </p:cNvPr>
          <p:cNvPicPr>
            <a:picLocks noChangeAspect="1"/>
          </p:cNvPicPr>
          <p:nvPr/>
        </p:nvPicPr>
        <p:blipFill>
          <a:blip r:embed="rId2"/>
          <a:stretch>
            <a:fillRect/>
          </a:stretch>
        </p:blipFill>
        <p:spPr>
          <a:xfrm>
            <a:off x="2133600" y="1335113"/>
            <a:ext cx="4876800" cy="2758440"/>
          </a:xfrm>
          <a:prstGeom prst="rect">
            <a:avLst/>
          </a:prstGeom>
        </p:spPr>
      </p:pic>
      <p:sp>
        <p:nvSpPr>
          <p:cNvPr id="4" name="TextBox 3">
            <a:extLst>
              <a:ext uri="{FF2B5EF4-FFF2-40B4-BE49-F238E27FC236}">
                <a16:creationId xmlns:a16="http://schemas.microsoft.com/office/drawing/2014/main" id="{0D6F498C-1821-6577-8F46-7FEADF8F346F}"/>
              </a:ext>
            </a:extLst>
          </p:cNvPr>
          <p:cNvSpPr txBox="1"/>
          <p:nvPr/>
        </p:nvSpPr>
        <p:spPr>
          <a:xfrm>
            <a:off x="5222891" y="483577"/>
            <a:ext cx="3575018" cy="461665"/>
          </a:xfrm>
          <a:prstGeom prst="rect">
            <a:avLst/>
          </a:prstGeom>
          <a:noFill/>
        </p:spPr>
        <p:txBody>
          <a:bodyPr wrap="none" rtlCol="0">
            <a:spAutoFit/>
          </a:bodyPr>
          <a:lstStyle/>
          <a:p>
            <a:pPr algn="r" rtl="1"/>
            <a:r>
              <a:rPr lang="fa-IR" sz="2400" dirty="0">
                <a:cs typeface="B Koodak" panose="00000700000000000000" pitchFamily="2" charset="-78"/>
              </a:rPr>
              <a:t>مثال : سیستم های پیشنهاد دهنده</a:t>
            </a:r>
            <a:endParaRPr lang="en-US" sz="2400" dirty="0">
              <a:cs typeface="B Koodak" panose="00000700000000000000" pitchFamily="2" charset="-78"/>
            </a:endParaRPr>
          </a:p>
        </p:txBody>
      </p:sp>
    </p:spTree>
    <p:extLst>
      <p:ext uri="{BB962C8B-B14F-4D97-AF65-F5344CB8AC3E}">
        <p14:creationId xmlns:p14="http://schemas.microsoft.com/office/powerpoint/2010/main" val="11356026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 name="PlaceHolder 1"/>
          <p:cNvSpPr>
            <a:spLocks noGrp="1"/>
          </p:cNvSpPr>
          <p:nvPr>
            <p:ph type="title"/>
          </p:nvPr>
        </p:nvSpPr>
        <p:spPr>
          <a:xfrm>
            <a:off x="3336840" y="1386720"/>
            <a:ext cx="5195520" cy="1365120"/>
          </a:xfrm>
          <a:prstGeom prst="rect">
            <a:avLst/>
          </a:prstGeom>
          <a:noFill/>
          <a:ln w="0">
            <a:noFill/>
          </a:ln>
        </p:spPr>
        <p:txBody>
          <a:bodyPr lIns="91440" tIns="91440" rIns="91440" bIns="91440" anchor="b">
            <a:noAutofit/>
          </a:bodyPr>
          <a:lstStyle/>
          <a:p>
            <a:pPr indent="0" rtl="1">
              <a:lnSpc>
                <a:spcPct val="100000"/>
              </a:lnSpc>
              <a:buNone/>
              <a:tabLst>
                <a:tab pos="0" algn="l"/>
              </a:tabLst>
            </a:pPr>
            <a:r>
              <a:rPr lang="fa-IR" sz="4400" b="0" strike="noStrike" spc="-1">
                <a:solidFill>
                  <a:srgbClr val="000000"/>
                </a:solidFill>
                <a:latin typeface="Arial"/>
                <a:cs typeface="B Titr"/>
              </a:rPr>
              <a:t>با سپاس از توجه شما</a:t>
            </a:r>
            <a:endParaRPr lang="en-US" sz="4400" b="0" strike="noStrike" spc="-1">
              <a:solidFill>
                <a:srgbClr val="000000"/>
              </a:solidFill>
              <a:latin typeface="Arial"/>
            </a:endParaRPr>
          </a:p>
        </p:txBody>
      </p:sp>
      <p:sp>
        <p:nvSpPr>
          <p:cNvPr id="329" name="PlaceHolder 2"/>
          <p:cNvSpPr>
            <a:spLocks noGrp="1"/>
          </p:cNvSpPr>
          <p:nvPr>
            <p:ph type="subTitle"/>
          </p:nvPr>
        </p:nvSpPr>
        <p:spPr>
          <a:xfrm>
            <a:off x="4129560" y="3210840"/>
            <a:ext cx="4224600" cy="536400"/>
          </a:xfrm>
          <a:prstGeom prst="rect">
            <a:avLst/>
          </a:prstGeom>
          <a:noFill/>
          <a:ln w="0">
            <a:noFill/>
          </a:ln>
        </p:spPr>
        <p:txBody>
          <a:bodyPr lIns="90000" tIns="45000" rIns="90000" bIns="45000" anchor="t">
            <a:noAutofit/>
          </a:bodyPr>
          <a:lstStyle/>
          <a:p>
            <a:pPr indent="0">
              <a:lnSpc>
                <a:spcPct val="100000"/>
              </a:lnSpc>
              <a:buNone/>
            </a:pPr>
            <a:endParaRPr lang="en-US" sz="2000" b="0" strike="noStrike" spc="-1" dirty="0">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p15="http://schemas.microsoft.com/office/powerpoint/2012/main">
      <p:transition spd="med">
        <p:fade/>
      </p:transition>
    </mc:Fallback>
  </mc:AlternateContent>
</p:sld>
</file>

<file path=ppt/theme/theme1.xml><?xml version="1.0" encoding="utf-8"?>
<a:theme xmlns:a="http://schemas.openxmlformats.org/drawingml/2006/main" name="rashasite.ir">
  <a:themeElements>
    <a:clrScheme name="Simple Light">
      <a:dk1>
        <a:srgbClr val="434343"/>
      </a:dk1>
      <a:lt1>
        <a:srgbClr val="FFFFFF"/>
      </a:lt1>
      <a:dk2>
        <a:srgbClr val="595959"/>
      </a:dk2>
      <a:lt2>
        <a:srgbClr val="EEEEEE"/>
      </a:lt2>
      <a:accent1>
        <a:srgbClr val="F3F3F3"/>
      </a:accent1>
      <a:accent2>
        <a:srgbClr val="D9D9D9"/>
      </a:accent2>
      <a:accent3>
        <a:srgbClr val="B7B7B7"/>
      </a:accent3>
      <a:accent4>
        <a:srgbClr val="999999"/>
      </a:accent4>
      <a:accent5>
        <a:srgbClr val="666666"/>
      </a:accent5>
      <a:accent6>
        <a:srgbClr val="000000"/>
      </a:accent6>
      <a:hlink>
        <a:srgbClr val="43434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rashasite.ir">
  <a:themeElements>
    <a:clrScheme name="Simple Light">
      <a:dk1>
        <a:srgbClr val="434343"/>
      </a:dk1>
      <a:lt1>
        <a:srgbClr val="FFFFFF"/>
      </a:lt1>
      <a:dk2>
        <a:srgbClr val="595959"/>
      </a:dk2>
      <a:lt2>
        <a:srgbClr val="EEEEEE"/>
      </a:lt2>
      <a:accent1>
        <a:srgbClr val="F3F3F3"/>
      </a:accent1>
      <a:accent2>
        <a:srgbClr val="D9D9D9"/>
      </a:accent2>
      <a:accent3>
        <a:srgbClr val="B7B7B7"/>
      </a:accent3>
      <a:accent4>
        <a:srgbClr val="999999"/>
      </a:accent4>
      <a:accent5>
        <a:srgbClr val="666666"/>
      </a:accent5>
      <a:accent6>
        <a:srgbClr val="000000"/>
      </a:accent6>
      <a:hlink>
        <a:srgbClr val="43434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rashasite.ir">
  <a:themeElements>
    <a:clrScheme name="Simple Light">
      <a:dk1>
        <a:srgbClr val="434343"/>
      </a:dk1>
      <a:lt1>
        <a:srgbClr val="FFFFFF"/>
      </a:lt1>
      <a:dk2>
        <a:srgbClr val="595959"/>
      </a:dk2>
      <a:lt2>
        <a:srgbClr val="EEEEEE"/>
      </a:lt2>
      <a:accent1>
        <a:srgbClr val="F3F3F3"/>
      </a:accent1>
      <a:accent2>
        <a:srgbClr val="D9D9D9"/>
      </a:accent2>
      <a:accent3>
        <a:srgbClr val="B7B7B7"/>
      </a:accent3>
      <a:accent4>
        <a:srgbClr val="999999"/>
      </a:accent4>
      <a:accent5>
        <a:srgbClr val="666666"/>
      </a:accent5>
      <a:accent6>
        <a:srgbClr val="000000"/>
      </a:accent6>
      <a:hlink>
        <a:srgbClr val="43434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rashasite.ir">
  <a:themeElements>
    <a:clrScheme name="Simple Light">
      <a:dk1>
        <a:srgbClr val="434343"/>
      </a:dk1>
      <a:lt1>
        <a:srgbClr val="FFFFFF"/>
      </a:lt1>
      <a:dk2>
        <a:srgbClr val="595959"/>
      </a:dk2>
      <a:lt2>
        <a:srgbClr val="EEEEEE"/>
      </a:lt2>
      <a:accent1>
        <a:srgbClr val="F3F3F3"/>
      </a:accent1>
      <a:accent2>
        <a:srgbClr val="D9D9D9"/>
      </a:accent2>
      <a:accent3>
        <a:srgbClr val="B7B7B7"/>
      </a:accent3>
      <a:accent4>
        <a:srgbClr val="999999"/>
      </a:accent4>
      <a:accent5>
        <a:srgbClr val="666666"/>
      </a:accent5>
      <a:accent6>
        <a:srgbClr val="000000"/>
      </a:accent6>
      <a:hlink>
        <a:srgbClr val="43434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rashasite.ir">
  <a:themeElements>
    <a:clrScheme name="Simple Light">
      <a:dk1>
        <a:srgbClr val="434343"/>
      </a:dk1>
      <a:lt1>
        <a:srgbClr val="FFFFFF"/>
      </a:lt1>
      <a:dk2>
        <a:srgbClr val="595959"/>
      </a:dk2>
      <a:lt2>
        <a:srgbClr val="EEEEEE"/>
      </a:lt2>
      <a:accent1>
        <a:srgbClr val="F3F3F3"/>
      </a:accent1>
      <a:accent2>
        <a:srgbClr val="D9D9D9"/>
      </a:accent2>
      <a:accent3>
        <a:srgbClr val="B7B7B7"/>
      </a:accent3>
      <a:accent4>
        <a:srgbClr val="999999"/>
      </a:accent4>
      <a:accent5>
        <a:srgbClr val="666666"/>
      </a:accent5>
      <a:accent6>
        <a:srgbClr val="000000"/>
      </a:accent6>
      <a:hlink>
        <a:srgbClr val="43434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rashasite.ir">
  <a:themeElements>
    <a:clrScheme name="Simple Light">
      <a:dk1>
        <a:srgbClr val="434343"/>
      </a:dk1>
      <a:lt1>
        <a:srgbClr val="FFFFFF"/>
      </a:lt1>
      <a:dk2>
        <a:srgbClr val="595959"/>
      </a:dk2>
      <a:lt2>
        <a:srgbClr val="EEEEEE"/>
      </a:lt2>
      <a:accent1>
        <a:srgbClr val="F3F3F3"/>
      </a:accent1>
      <a:accent2>
        <a:srgbClr val="D9D9D9"/>
      </a:accent2>
      <a:accent3>
        <a:srgbClr val="B7B7B7"/>
      </a:accent3>
      <a:accent4>
        <a:srgbClr val="999999"/>
      </a:accent4>
      <a:accent5>
        <a:srgbClr val="666666"/>
      </a:accent5>
      <a:accent6>
        <a:srgbClr val="000000"/>
      </a:accent6>
      <a:hlink>
        <a:srgbClr val="43434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rashasite.ir">
  <a:themeElements>
    <a:clrScheme name="Simple Light">
      <a:dk1>
        <a:srgbClr val="434343"/>
      </a:dk1>
      <a:lt1>
        <a:srgbClr val="FFFFFF"/>
      </a:lt1>
      <a:dk2>
        <a:srgbClr val="595959"/>
      </a:dk2>
      <a:lt2>
        <a:srgbClr val="EEEEEE"/>
      </a:lt2>
      <a:accent1>
        <a:srgbClr val="F3F3F3"/>
      </a:accent1>
      <a:accent2>
        <a:srgbClr val="D9D9D9"/>
      </a:accent2>
      <a:accent3>
        <a:srgbClr val="B7B7B7"/>
      </a:accent3>
      <a:accent4>
        <a:srgbClr val="999999"/>
      </a:accent4>
      <a:accent5>
        <a:srgbClr val="666666"/>
      </a:accent5>
      <a:accent6>
        <a:srgbClr val="000000"/>
      </a:accent6>
      <a:hlink>
        <a:srgbClr val="43434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rashasite.ir">
  <a:themeElements>
    <a:clrScheme name="Simple Light">
      <a:dk1>
        <a:srgbClr val="434343"/>
      </a:dk1>
      <a:lt1>
        <a:srgbClr val="FFFFFF"/>
      </a:lt1>
      <a:dk2>
        <a:srgbClr val="595959"/>
      </a:dk2>
      <a:lt2>
        <a:srgbClr val="EEEEEE"/>
      </a:lt2>
      <a:accent1>
        <a:srgbClr val="F3F3F3"/>
      </a:accent1>
      <a:accent2>
        <a:srgbClr val="D9D9D9"/>
      </a:accent2>
      <a:accent3>
        <a:srgbClr val="B7B7B7"/>
      </a:accent3>
      <a:accent4>
        <a:srgbClr val="999999"/>
      </a:accent4>
      <a:accent5>
        <a:srgbClr val="666666"/>
      </a:accent5>
      <a:accent6>
        <a:srgbClr val="000000"/>
      </a:accent6>
      <a:hlink>
        <a:srgbClr val="43434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rashasite.ir">
  <a:themeElements>
    <a:clrScheme name="Simple Light">
      <a:dk1>
        <a:srgbClr val="434343"/>
      </a:dk1>
      <a:lt1>
        <a:srgbClr val="FFFFFF"/>
      </a:lt1>
      <a:dk2>
        <a:srgbClr val="595959"/>
      </a:dk2>
      <a:lt2>
        <a:srgbClr val="EEEEEE"/>
      </a:lt2>
      <a:accent1>
        <a:srgbClr val="F3F3F3"/>
      </a:accent1>
      <a:accent2>
        <a:srgbClr val="D9D9D9"/>
      </a:accent2>
      <a:accent3>
        <a:srgbClr val="B7B7B7"/>
      </a:accent3>
      <a:accent4>
        <a:srgbClr val="999999"/>
      </a:accent4>
      <a:accent5>
        <a:srgbClr val="666666"/>
      </a:accent5>
      <a:accent6>
        <a:srgbClr val="000000"/>
      </a:accent6>
      <a:hlink>
        <a:srgbClr val="43434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rashasite.ir">
  <a:themeElements>
    <a:clrScheme name="Simple Light">
      <a:dk1>
        <a:srgbClr val="434343"/>
      </a:dk1>
      <a:lt1>
        <a:srgbClr val="FFFFFF"/>
      </a:lt1>
      <a:dk2>
        <a:srgbClr val="595959"/>
      </a:dk2>
      <a:lt2>
        <a:srgbClr val="EEEEEE"/>
      </a:lt2>
      <a:accent1>
        <a:srgbClr val="F3F3F3"/>
      </a:accent1>
      <a:accent2>
        <a:srgbClr val="D9D9D9"/>
      </a:accent2>
      <a:accent3>
        <a:srgbClr val="B7B7B7"/>
      </a:accent3>
      <a:accent4>
        <a:srgbClr val="999999"/>
      </a:accent4>
      <a:accent5>
        <a:srgbClr val="666666"/>
      </a:accent5>
      <a:accent6>
        <a:srgbClr val="000000"/>
      </a:accent6>
      <a:hlink>
        <a:srgbClr val="43434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rashasite.ir">
  <a:themeElements>
    <a:clrScheme name="Simple Light">
      <a:dk1>
        <a:srgbClr val="434343"/>
      </a:dk1>
      <a:lt1>
        <a:srgbClr val="FFFFFF"/>
      </a:lt1>
      <a:dk2>
        <a:srgbClr val="595959"/>
      </a:dk2>
      <a:lt2>
        <a:srgbClr val="EEEEEE"/>
      </a:lt2>
      <a:accent1>
        <a:srgbClr val="F3F3F3"/>
      </a:accent1>
      <a:accent2>
        <a:srgbClr val="D9D9D9"/>
      </a:accent2>
      <a:accent3>
        <a:srgbClr val="B7B7B7"/>
      </a:accent3>
      <a:accent4>
        <a:srgbClr val="999999"/>
      </a:accent4>
      <a:accent5>
        <a:srgbClr val="666666"/>
      </a:accent5>
      <a:accent6>
        <a:srgbClr val="000000"/>
      </a:accent6>
      <a:hlink>
        <a:srgbClr val="434343"/>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1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185</TotalTime>
  <Words>959</Words>
  <Application>Microsoft Office PowerPoint</Application>
  <PresentationFormat>On-screen Show (16:9)</PresentationFormat>
  <Paragraphs>87</Paragraphs>
  <Slides>24</Slides>
  <Notes>1</Notes>
  <HiddenSlides>0</HiddenSlides>
  <MMClips>0</MMClips>
  <ScaleCrop>false</ScaleCrop>
  <HeadingPairs>
    <vt:vector size="6" baseType="variant">
      <vt:variant>
        <vt:lpstr>Fonts Used</vt:lpstr>
      </vt:variant>
      <vt:variant>
        <vt:i4>9</vt:i4>
      </vt:variant>
      <vt:variant>
        <vt:lpstr>Theme</vt:lpstr>
      </vt:variant>
      <vt:variant>
        <vt:i4>11</vt:i4>
      </vt:variant>
      <vt:variant>
        <vt:lpstr>Slide Titles</vt:lpstr>
      </vt:variant>
      <vt:variant>
        <vt:i4>24</vt:i4>
      </vt:variant>
    </vt:vector>
  </HeadingPairs>
  <TitlesOfParts>
    <vt:vector size="44" baseType="lpstr">
      <vt:lpstr>Arial</vt:lpstr>
      <vt:lpstr>B Koodak</vt:lpstr>
      <vt:lpstr>B Nazanin</vt:lpstr>
      <vt:lpstr>B Titr</vt:lpstr>
      <vt:lpstr>Calibri</vt:lpstr>
      <vt:lpstr>Montserrat</vt:lpstr>
      <vt:lpstr>Symbol</vt:lpstr>
      <vt:lpstr>Times New Roman</vt:lpstr>
      <vt:lpstr>Wingdings</vt:lpstr>
      <vt:lpstr>rashasite.ir</vt:lpstr>
      <vt:lpstr>rashasite.ir</vt:lpstr>
      <vt:lpstr>rashasite.ir</vt:lpstr>
      <vt:lpstr>rashasite.ir</vt:lpstr>
      <vt:lpstr>rashasite.ir</vt:lpstr>
      <vt:lpstr>rashasite.ir</vt:lpstr>
      <vt:lpstr>rashasite.ir</vt:lpstr>
      <vt:lpstr>rashasite.ir</vt:lpstr>
      <vt:lpstr>rashasite.ir</vt:lpstr>
      <vt:lpstr>rashasite.ir</vt:lpstr>
      <vt:lpstr>rashasite.ir</vt:lpstr>
      <vt:lpstr>یادگیری ماشین</vt:lpstr>
      <vt:lpstr>فهرست</vt:lpstr>
      <vt:lpstr>یادگیری ماشین چیست؟</vt:lpstr>
      <vt:lpstr>تعاریف</vt:lpstr>
      <vt:lpstr>PowerPoint Presentation</vt:lpstr>
      <vt:lpstr>PowerPoint Presentation</vt:lpstr>
      <vt:lpstr>PowerPoint Presentation</vt:lpstr>
      <vt:lpstr>تشخیص هرزنامه</vt:lpstr>
      <vt:lpstr>تشخیص هرزنامه</vt:lpstr>
      <vt:lpstr>داده در یادگیری ماشین</vt:lpstr>
      <vt:lpstr>یادگیری نظارت شده</vt:lpstr>
      <vt:lpstr>یادگیری ماشین: الهام از دنیای واقعی برای همه!</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یادگیری بدون نظارت</vt:lpstr>
      <vt:lpstr>PowerPoint Presentation</vt:lpstr>
      <vt:lpstr>PowerPoint Presentation</vt:lpstr>
      <vt:lpstr>PowerPoint Presentation</vt:lpstr>
      <vt:lpstr>با سپاس از توجه شما</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subject/>
  <dc:creator>rashasite.ir</dc:creator>
  <dc:description/>
  <cp:lastModifiedBy>saeed safaee</cp:lastModifiedBy>
  <cp:revision>51</cp:revision>
  <dcterms:modified xsi:type="dcterms:W3CDTF">2025-05-28T15:55:01Z</dcterms:modified>
  <dc:language>fa-IR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35</vt:i4>
  </property>
  <property fmtid="{D5CDD505-2E9C-101B-9397-08002B2CF9AE}" pid="3" name="PresentationFormat">
    <vt:lpwstr>On-screen Show (16:9)</vt:lpwstr>
  </property>
  <property fmtid="{D5CDD505-2E9C-101B-9397-08002B2CF9AE}" pid="4" name="Slides">
    <vt:i4>35</vt:i4>
  </property>
</Properties>
</file>