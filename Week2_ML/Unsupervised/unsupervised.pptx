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3"/>
  </p:notesMasterIdLst>
  <p:sldIdLst>
    <p:sldId id="326" r:id="rId2"/>
    <p:sldId id="256" r:id="rId3"/>
    <p:sldId id="258" r:id="rId4"/>
    <p:sldId id="259" r:id="rId5"/>
    <p:sldId id="261" r:id="rId6"/>
    <p:sldId id="260" r:id="rId7"/>
    <p:sldId id="299" r:id="rId8"/>
    <p:sldId id="300" r:id="rId9"/>
    <p:sldId id="329" r:id="rId10"/>
    <p:sldId id="266" r:id="rId11"/>
    <p:sldId id="308" r:id="rId12"/>
    <p:sldId id="309" r:id="rId13"/>
    <p:sldId id="310" r:id="rId14"/>
    <p:sldId id="314" r:id="rId15"/>
    <p:sldId id="307" r:id="rId16"/>
    <p:sldId id="315" r:id="rId17"/>
    <p:sldId id="306" r:id="rId18"/>
    <p:sldId id="262" r:id="rId19"/>
    <p:sldId id="317" r:id="rId20"/>
    <p:sldId id="318" r:id="rId21"/>
    <p:sldId id="319" r:id="rId22"/>
    <p:sldId id="320" r:id="rId23"/>
    <p:sldId id="267" r:id="rId24"/>
    <p:sldId id="321" r:id="rId25"/>
    <p:sldId id="327" r:id="rId26"/>
    <p:sldId id="322" r:id="rId27"/>
    <p:sldId id="323" r:id="rId28"/>
    <p:sldId id="324" r:id="rId29"/>
    <p:sldId id="325" r:id="rId30"/>
    <p:sldId id="270" r:id="rId31"/>
    <p:sldId id="297" r:id="rId32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34"/>
    </p:embeddedFont>
    <p:embeddedFont>
      <p:font typeface="B Nazanin" panose="00000400000000000000" pitchFamily="2" charset="-78"/>
      <p:regular r:id="rId35"/>
      <p:bold r:id="rId36"/>
    </p:embeddedFont>
    <p:embeddedFont>
      <p:font typeface="B Titr" panose="00000700000000000000" pitchFamily="2" charset="-78"/>
      <p:bold r:id="rId37"/>
    </p:embeddedFont>
    <p:embeddedFont>
      <p:font typeface="Cambria Math" panose="02040503050406030204" pitchFamily="18" charset="0"/>
      <p:regular r:id="rId38"/>
    </p:embeddedFont>
    <p:embeddedFont>
      <p:font typeface="Exo 2" panose="020B0604020202020204" charset="0"/>
      <p:regular r:id="rId39"/>
      <p:bold r:id="rId40"/>
      <p:italic r:id="rId41"/>
      <p:boldItalic r:id="rId42"/>
    </p:embeddedFont>
    <p:embeddedFont>
      <p:font typeface="IRANSansXFaNum" pitchFamily="2" charset="-78"/>
      <p:regular r:id="rId43"/>
      <p:bold r:id="rId44"/>
    </p:embeddedFont>
    <p:embeddedFont>
      <p:font typeface="Roboto Condensed Light" panose="02000000000000000000" pitchFamily="2" charset="0"/>
      <p:regular r:id="rId45"/>
      <p:bold r:id="rId46"/>
      <p:italic r:id="rId47"/>
      <p:boldItalic r:id="rId48"/>
    </p:embeddedFont>
    <p:embeddedFont>
      <p:font typeface="Sahel" panose="020B0603030804020204" pitchFamily="34" charset="-78"/>
      <p:regular r:id="rId49"/>
      <p:bold r:id="rId50"/>
    </p:embeddedFont>
    <p:embeddedFont>
      <p:font typeface="Vazirmatn RD" pitchFamily="2" charset="-78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madarababadi157@gmail.com" initials="" lastIdx="4" clrIdx="0">
    <p:extLst>
      <p:ext uri="{19B8F6BF-5375-455C-9EA6-DF929625EA0E}">
        <p15:presenceInfo xmlns:p15="http://schemas.microsoft.com/office/powerpoint/2012/main" userId="f75c1988f67bae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3CADCC-DB96-45F9-8729-C7A6F4BBFB54}">
  <a:tblStyle styleId="{9E3CADCC-DB96-45F9-8729-C7A6F4BBFB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96" autoAdjust="0"/>
  </p:normalViewPr>
  <p:slideViewPr>
    <p:cSldViewPr>
      <p:cViewPr>
        <p:scale>
          <a:sx n="99" d="100"/>
          <a:sy n="99" d="100"/>
        </p:scale>
        <p:origin x="994" y="216"/>
      </p:cViewPr>
      <p:guideLst>
        <p:guide orient="horz" pos="1620"/>
        <p:guide pos="2880"/>
      </p:guideLst>
    </p:cSldViewPr>
  </p:slideViewPr>
  <p:outlineViewPr>
    <p:cViewPr varScale="1"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78980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609D139D-99E8-82F5-B798-79B1708B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58d3b44f08_1_23:notes">
            <a:extLst>
              <a:ext uri="{FF2B5EF4-FFF2-40B4-BE49-F238E27FC236}">
                <a16:creationId xmlns:a16="http://schemas.microsoft.com/office/drawing/2014/main" id="{489E3BB7-1295-620A-588A-30CB38A03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58d3b44f08_1_23:notes">
            <a:extLst>
              <a:ext uri="{FF2B5EF4-FFF2-40B4-BE49-F238E27FC236}">
                <a16:creationId xmlns:a16="http://schemas.microsoft.com/office/drawing/2014/main" id="{253F1AFB-E2C7-7B34-DE6C-F20B0780C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012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https://rashasite.ir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0422e07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0422e07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8d3b44f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8d3b44f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1abfbaf28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41abfbaf28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BE65B227-FFDB-29B3-DC5B-01B78FAC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E274BDBC-C798-6374-790D-EB9AB46444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8BDBAC59-BB24-1E3B-7F6F-6F3B40A58C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8720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B7BD0E09-A542-1F03-939C-8E871D63E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A32C3259-2F49-558F-2D61-5E61708208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37E2C869-6D5F-1CC0-D3D4-85328AC36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2867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15364425-F7BD-5056-EF05-A37F17E4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DCF674B8-1193-D23D-BA0E-9D11CFDFD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372D94DC-CE32-E0A2-C246-D36CA162F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892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419515fe0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419515fe0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3D9020F6-546C-CC9C-3FBA-82063DA3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C8489941-C615-4542-4B37-8424179F9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71FF5C90-DB98-CC92-8E29-845D907CC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7424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FD8DC4C0-2DDF-B6C2-998D-802D8FF8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894A3609-8DCE-DF8F-86B6-899455F21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4CA610B2-DB4B-4CDF-E919-F182435E8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353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E315199E-1140-1597-565F-78F481E03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5C6E58D1-DB97-42FD-0B53-E198AE1EA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3BA6E8C7-E71F-F6DD-7579-798270834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797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B1636454-5CBE-D9E9-3076-2262D847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C3A54D7A-7BAD-169E-E127-1BF76C215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41ECC7E0-512C-4537-FFBD-AB44A08723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94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A1219C45-4569-BAEC-B954-BB862306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FB8AB998-87D6-6FAD-8C7D-0231A39E9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FEF836DB-D2E9-20E8-5EE4-E915B5B98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855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0422e07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40422e07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C8DC2F09-25EF-BC35-ADE2-4850A225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87A6E8DC-9946-CB59-5770-4CA6C1145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F5D976E9-A1B5-1088-B750-17637A6C9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049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8d3b44f08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58d3b44f08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116C1E9B-2E10-0048-D5D2-C787A709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B7A4E909-761E-2CC9-190C-636CF881A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935C42EE-4500-B8DA-D2D8-C12A34C78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800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F4302EE4-30A3-EEA2-140C-473B796C9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A7C60C00-E3FD-D0E8-D682-BBD68DE5F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0FA49954-9CA7-4A8C-7DAF-A50D07DE66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557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AB219DA9-0718-3D71-25CE-55AEE6BD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581B257A-62AF-5C5C-C09B-D3CA9223D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053F7208-007A-D961-5CF5-C41801C14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1985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8A42F186-B617-C944-F78C-BAF1A620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FA0B7460-FBCC-4A1E-6742-AC7450DC0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CDC710E3-7A78-F764-132E-9134FE9BD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5653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58d3b44f0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58d3b44f08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C139F922-B2D2-42C3-F9DE-BE806F9E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011FF12A-1792-82FF-74A0-AC8FDFE9BD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4D691C4A-220B-A0E6-BEE8-C75C9B263D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9627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49D83067-DCBD-91DE-EB06-75D393B3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01D112FE-4A5B-49BA-B5D3-3BA93344E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3D5A6A5A-B20F-1796-FA68-96A647894A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6317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A335109C-78A7-0D6E-A89D-0A8B69437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D67C0BD3-7AA6-F7DD-5A75-3A347C4AF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E6DA5046-01B5-F60A-9050-EE836C22E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1477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197DD796-460A-CFA7-8C81-1FF04681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1AB1A494-C177-674A-FE59-4BB565E1D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5758989D-29AC-56FF-61CC-0D5B65D71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52414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B47B0BE7-CABC-5FD6-D186-F535437B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3FE8B542-9775-5BD3-59A4-213C85C082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8F93DB23-AB95-18E4-904E-070BDF50E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9946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D8285651-B41D-889F-0AB2-36CDD4D8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>
            <a:extLst>
              <a:ext uri="{FF2B5EF4-FFF2-40B4-BE49-F238E27FC236}">
                <a16:creationId xmlns:a16="http://schemas.microsoft.com/office/drawing/2014/main" id="{5DAEC6C1-684D-43F1-7A0E-FAB7C7DA5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>
            <a:extLst>
              <a:ext uri="{FF2B5EF4-FFF2-40B4-BE49-F238E27FC236}">
                <a16:creationId xmlns:a16="http://schemas.microsoft.com/office/drawing/2014/main" id="{F8C75F00-50B1-29C7-54D4-70DFB3753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0505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0422e07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40422e07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58d3b44f0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58d3b44f08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userDrawn="1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CUSTOM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 userDrawn="1">
  <p:cSld name="CUSTOM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 userDrawn="1">
  <p:cSld name="CUSTOM_1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 userDrawn="1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 userDrawn="1">
  <p:cSld name="CUSTOM_2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userDrawn="1">
  <p:cSld name="CUSTOM_2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 userDrawn="1">
  <p:cSld name="CUSTOM_2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 userDrawn="1">
  <p:cSld name="CUSTOM_1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 userDrawn="1">
  <p:cSld name="CUSTOM_2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 userDrawn="1">
  <p:cSld name="CUSTOM_15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5" userDrawn="1">
  <p:cSld name="CUSTOM_15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6" r:id="rId7"/>
    <p:sldLayoutId id="2147483657" r:id="rId8"/>
    <p:sldLayoutId id="2147483660" r:id="rId9"/>
    <p:sldLayoutId id="2147483662" r:id="rId10"/>
    <p:sldLayoutId id="2147483665" r:id="rId11"/>
    <p:sldLayoutId id="214748366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0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EFEED3B0-926F-E9FF-9153-0F6D64704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F7D1D25-F351-6E4D-17ED-5FD93A27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4853" y="1495712"/>
            <a:ext cx="6334293" cy="215207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752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ctrTitle" idx="4294967295"/>
          </p:nvPr>
        </p:nvSpPr>
        <p:spPr>
          <a:xfrm>
            <a:off x="1135981" y="1275606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fa-IR" sz="5400" dirty="0">
                <a:solidFill>
                  <a:srgbClr val="434343"/>
                </a:solidFill>
                <a:cs typeface="B Titr" panose="00000700000000000000" pitchFamily="2" charset="-78"/>
              </a:rPr>
              <a:t> غیرنظارت شده</a:t>
            </a:r>
          </a:p>
        </p:txBody>
      </p:sp>
      <p:cxnSp>
        <p:nvCxnSpPr>
          <p:cNvPr id="138" name="Google Shape;138;p28"/>
          <p:cNvCxnSpPr/>
          <p:nvPr/>
        </p:nvCxnSpPr>
        <p:spPr>
          <a:xfrm>
            <a:off x="7145675" y="3176000"/>
            <a:ext cx="20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62;p27"/>
          <p:cNvSpPr txBox="1">
            <a:spLocks/>
          </p:cNvSpPr>
          <p:nvPr/>
        </p:nvSpPr>
        <p:spPr>
          <a:xfrm>
            <a:off x="3635896" y="3291830"/>
            <a:ext cx="4176464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r">
              <a:spcBef>
                <a:spcPts val="800"/>
              </a:spcBef>
            </a:pPr>
            <a:r>
              <a:rPr lang="en-US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unsupervised</a:t>
            </a:r>
            <a:endParaRPr lang="fa-IR" sz="24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>
            <a:spLocks noGrp="1"/>
          </p:cNvSpPr>
          <p:nvPr>
            <p:ph type="ctrTitle" idx="4294967295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200" dirty="0">
                <a:cs typeface="B Titr" panose="00000700000000000000" pitchFamily="2" charset="-78"/>
              </a:rPr>
              <a:t>فهرست</a:t>
            </a:r>
            <a:endParaRPr sz="3200" dirty="0">
              <a:cs typeface="B Titr" panose="00000700000000000000" pitchFamily="2" charset="-78"/>
            </a:endParaRPr>
          </a:p>
        </p:txBody>
      </p:sp>
      <p:cxnSp>
        <p:nvCxnSpPr>
          <p:cNvPr id="159" name="Google Shape;159;p30"/>
          <p:cNvCxnSpPr/>
          <p:nvPr/>
        </p:nvCxnSpPr>
        <p:spPr>
          <a:xfrm>
            <a:off x="5861950" y="3131400"/>
            <a:ext cx="0" cy="203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" name="Google Shape;160;p30"/>
          <p:cNvSpPr txBox="1">
            <a:spLocks noGrp="1"/>
          </p:cNvSpPr>
          <p:nvPr>
            <p:ph type="title" idx="4294967295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>
                <a:cs typeface="B Titr" panose="00000700000000000000" pitchFamily="2" charset="-78"/>
              </a:rPr>
              <a:t>1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161" name="Google Shape;161;p30"/>
          <p:cNvSpPr txBox="1">
            <a:spLocks noGrp="1"/>
          </p:cNvSpPr>
          <p:nvPr>
            <p:ph type="title" idx="4294967295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>
                <a:cs typeface="B Titr" panose="00000700000000000000" pitchFamily="2" charset="-78"/>
              </a:rPr>
              <a:t>2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 idx="4294967295"/>
          </p:nvPr>
        </p:nvSpPr>
        <p:spPr>
          <a:xfrm>
            <a:off x="5922008" y="4132033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>
                <a:cs typeface="B Titr" panose="00000700000000000000" pitchFamily="2" charset="-78"/>
              </a:rPr>
              <a:t>3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41" name="Google Shape;341;p31"/>
          <p:cNvSpPr txBox="1">
            <a:spLocks noGrp="1"/>
          </p:cNvSpPr>
          <p:nvPr>
            <p:ph type="subTitle" idx="4294967295"/>
          </p:nvPr>
        </p:nvSpPr>
        <p:spPr>
          <a:xfrm>
            <a:off x="6444208" y="2156110"/>
            <a:ext cx="160008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dirty="0">
                <a:cs typeface="B Titr" panose="00000700000000000000" pitchFamily="2" charset="-78"/>
              </a:rPr>
              <a:t>خوشه‌بندی</a:t>
            </a:r>
            <a:endParaRPr sz="2000" dirty="0">
              <a:cs typeface="B Titr" panose="00000700000000000000" pitchFamily="2" charset="-78"/>
            </a:endParaRPr>
          </a:p>
        </p:txBody>
      </p:sp>
      <p:sp>
        <p:nvSpPr>
          <p:cNvPr id="42" name="Google Shape;342;p31"/>
          <p:cNvSpPr txBox="1">
            <a:spLocks noGrp="1"/>
          </p:cNvSpPr>
          <p:nvPr>
            <p:ph type="subTitle" idx="4294967295"/>
          </p:nvPr>
        </p:nvSpPr>
        <p:spPr>
          <a:xfrm>
            <a:off x="6444208" y="2411914"/>
            <a:ext cx="1456064" cy="375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1"/>
            <a:r>
              <a:rPr lang="en-US" sz="1600" b="1" dirty="0">
                <a:cs typeface="B Nazanin" panose="00000400000000000000" pitchFamily="2" charset="-78"/>
              </a:rPr>
              <a:t>clustering</a:t>
            </a:r>
            <a:endParaRPr sz="1600" b="1" dirty="0">
              <a:cs typeface="B Nazanin" panose="00000400000000000000" pitchFamily="2" charset="-78"/>
            </a:endParaRPr>
          </a:p>
        </p:txBody>
      </p:sp>
      <p:sp>
        <p:nvSpPr>
          <p:cNvPr id="43" name="Google Shape;341;p31"/>
          <p:cNvSpPr txBox="1">
            <a:spLocks noGrp="1"/>
          </p:cNvSpPr>
          <p:nvPr>
            <p:ph type="subTitle" idx="4294967295"/>
          </p:nvPr>
        </p:nvSpPr>
        <p:spPr>
          <a:xfrm>
            <a:off x="6444208" y="3164222"/>
            <a:ext cx="1872208" cy="3272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1">
              <a:buNone/>
            </a:pPr>
            <a:r>
              <a:rPr lang="fa-IR" sz="2000" dirty="0">
                <a:cs typeface="B Titr" panose="00000700000000000000" pitchFamily="2" charset="-78"/>
              </a:rPr>
              <a:t>تشخیص ناهنجاری</a:t>
            </a:r>
          </a:p>
        </p:txBody>
      </p:sp>
      <p:sp>
        <p:nvSpPr>
          <p:cNvPr id="44" name="Google Shape;342;p31"/>
          <p:cNvSpPr txBox="1">
            <a:spLocks noGrp="1"/>
          </p:cNvSpPr>
          <p:nvPr>
            <p:ph type="subTitle" idx="4294967295"/>
          </p:nvPr>
        </p:nvSpPr>
        <p:spPr>
          <a:xfrm>
            <a:off x="6444207" y="3492034"/>
            <a:ext cx="2016225" cy="375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1"/>
            <a:r>
              <a:rPr lang="en-US" sz="1600" b="1" dirty="0">
                <a:cs typeface="B Nazanin" panose="00000400000000000000" pitchFamily="2" charset="-78"/>
              </a:rPr>
              <a:t>anomaly detection</a:t>
            </a:r>
            <a:endParaRPr sz="1600" b="1" dirty="0">
              <a:cs typeface="B Nazanin" panose="00000400000000000000" pitchFamily="2" charset="-78"/>
            </a:endParaRPr>
          </a:p>
        </p:txBody>
      </p:sp>
      <p:sp>
        <p:nvSpPr>
          <p:cNvPr id="45" name="Google Shape;341;p31"/>
          <p:cNvSpPr txBox="1">
            <a:spLocks noGrp="1"/>
          </p:cNvSpPr>
          <p:nvPr>
            <p:ph type="subTitle" idx="4294967295"/>
          </p:nvPr>
        </p:nvSpPr>
        <p:spPr>
          <a:xfrm>
            <a:off x="6444208" y="4172334"/>
            <a:ext cx="160008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1">
              <a:buNone/>
            </a:pPr>
            <a:r>
              <a:rPr lang="fa-IR" sz="2000" dirty="0">
                <a:cs typeface="B Titr" panose="00000700000000000000" pitchFamily="2" charset="-78"/>
              </a:rPr>
              <a:t>کاهش ابعاد</a:t>
            </a:r>
          </a:p>
        </p:txBody>
      </p:sp>
      <p:sp>
        <p:nvSpPr>
          <p:cNvPr id="46" name="Google Shape;342;p31"/>
          <p:cNvSpPr txBox="1">
            <a:spLocks noGrp="1"/>
          </p:cNvSpPr>
          <p:nvPr>
            <p:ph type="subTitle" idx="4294967295"/>
          </p:nvPr>
        </p:nvSpPr>
        <p:spPr>
          <a:xfrm>
            <a:off x="6444207" y="4428138"/>
            <a:ext cx="2520275" cy="375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Dimensionality Reduction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/>
      <p:bldP spid="161" grpId="0"/>
      <p:bldP spid="162" grpId="0"/>
      <p:bldP spid="41" grpId="0" build="p"/>
      <p:bldP spid="42" grpId="0" build="p"/>
      <p:bldP spid="43" grpId="0" build="p"/>
      <p:bldP spid="44" grpId="0" build="p"/>
      <p:bldP spid="45" grpId="0" build="p"/>
      <p:bldP spid="4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ctrTitle" idx="4294967295"/>
          </p:nvPr>
        </p:nvSpPr>
        <p:spPr>
          <a:xfrm flipH="1">
            <a:off x="893134" y="2629770"/>
            <a:ext cx="3574823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000" dirty="0">
                <a:cs typeface="B Titr" panose="00000700000000000000" pitchFamily="2" charset="-78"/>
              </a:rPr>
              <a:t>خوشه بندی</a:t>
            </a:r>
            <a:endParaRPr sz="4000" dirty="0">
              <a:cs typeface="B Titr" panose="00000700000000000000" pitchFamily="2" charset="-78"/>
            </a:endParaRPr>
          </a:p>
        </p:txBody>
      </p:sp>
      <p:sp>
        <p:nvSpPr>
          <p:cNvPr id="176" name="Google Shape;176;p31"/>
          <p:cNvSpPr txBox="1">
            <a:spLocks noGrp="1"/>
          </p:cNvSpPr>
          <p:nvPr>
            <p:ph type="title" idx="4294967295"/>
          </p:nvPr>
        </p:nvSpPr>
        <p:spPr>
          <a:xfrm flipH="1">
            <a:off x="539552" y="1995686"/>
            <a:ext cx="976149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1500" dirty="0"/>
              <a:t>1</a:t>
            </a:r>
            <a:endParaRPr sz="11500" dirty="0"/>
          </a:p>
        </p:txBody>
      </p:sp>
      <p:cxnSp>
        <p:nvCxnSpPr>
          <p:cNvPr id="177" name="Google Shape;177;p31"/>
          <p:cNvCxnSpPr/>
          <p:nvPr/>
        </p:nvCxnSpPr>
        <p:spPr>
          <a:xfrm>
            <a:off x="0" y="3795886"/>
            <a:ext cx="156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342;p31"/>
          <p:cNvSpPr txBox="1">
            <a:spLocks noGrp="1"/>
          </p:cNvSpPr>
          <p:nvPr>
            <p:ph type="subTitle" idx="4294967295"/>
          </p:nvPr>
        </p:nvSpPr>
        <p:spPr>
          <a:xfrm>
            <a:off x="1259632" y="3924082"/>
            <a:ext cx="3096344" cy="7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Arial Rounded MT Bold" panose="020F0704030504030204" pitchFamily="34" charset="0"/>
                <a:cs typeface="B Nazanin" panose="00000400000000000000" pitchFamily="2" charset="-78"/>
              </a:rPr>
              <a:t>clustering</a:t>
            </a:r>
            <a:endParaRPr sz="1600" b="1" dirty="0">
              <a:latin typeface="Arial Rounded MT Bold" panose="020F070403050403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176" grpId="0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/>
          <p:nvPr/>
        </p:nvSpPr>
        <p:spPr>
          <a:xfrm>
            <a:off x="1626222" y="2383928"/>
            <a:ext cx="1486200" cy="9462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3"/>
          <p:cNvSpPr/>
          <p:nvPr/>
        </p:nvSpPr>
        <p:spPr>
          <a:xfrm>
            <a:off x="6012160" y="2383928"/>
            <a:ext cx="1486200" cy="9462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3"/>
          <p:cNvSpPr/>
          <p:nvPr/>
        </p:nvSpPr>
        <p:spPr>
          <a:xfrm>
            <a:off x="3044250" y="1166872"/>
            <a:ext cx="3055500" cy="8337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1" name="Google Shape;201;p33"/>
          <p:cNvCxnSpPr/>
          <p:nvPr/>
        </p:nvCxnSpPr>
        <p:spPr>
          <a:xfrm rot="5400000">
            <a:off x="2374110" y="1730591"/>
            <a:ext cx="611100" cy="584700"/>
          </a:xfrm>
          <a:prstGeom prst="bentConnector3">
            <a:avLst>
              <a:gd name="adj1" fmla="val -6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33"/>
          <p:cNvCxnSpPr/>
          <p:nvPr/>
        </p:nvCxnSpPr>
        <p:spPr>
          <a:xfrm>
            <a:off x="6177460" y="1768391"/>
            <a:ext cx="577800" cy="560100"/>
          </a:xfrm>
          <a:prstGeom prst="bentConnector3">
            <a:avLst>
              <a:gd name="adj1" fmla="val 9974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6012160" y="2580029"/>
            <a:ext cx="1486200" cy="4732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DBSCAN</a:t>
            </a:r>
            <a:endParaRPr lang="fa-IR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44210" y="2542737"/>
            <a:ext cx="1486200" cy="4732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K-means</a:t>
            </a:r>
            <a:endParaRPr lang="fa-IR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44250" y="1268508"/>
            <a:ext cx="3055500" cy="5155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a-IR" sz="2000" dirty="0">
                <a:cs typeface="B Titr" panose="00000700000000000000" pitchFamily="2" charset="-78"/>
              </a:rPr>
              <a:t> الگوریتم‌های خوشه‌بندی</a:t>
            </a:r>
            <a:endParaRPr lang="fa-IR" sz="20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animBg="1"/>
      <p:bldP spid="194" grpId="0" animBg="1"/>
      <p:bldP spid="199" grpId="0" animBg="1"/>
      <p:bldP spid="21" grpId="0"/>
      <p:bldP spid="23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122926-A1EC-A730-0B9A-E5764D907511}"/>
              </a:ext>
            </a:extLst>
          </p:cNvPr>
          <p:cNvSpPr txBox="1"/>
          <p:nvPr/>
        </p:nvSpPr>
        <p:spPr>
          <a:xfrm>
            <a:off x="4716016" y="1056100"/>
            <a:ext cx="4104456" cy="200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zirmatn RD" pitchFamily="2" charset="-78"/>
                <a:cs typeface="Vazirmatn RD" pitchFamily="2" charset="-78"/>
              </a:rPr>
              <a:t>نحوه کار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zirmatn RD" pitchFamily="2" charset="-78"/>
                <a:cs typeface="Vazirmatn RD" pitchFamily="2" charset="-78"/>
              </a:rPr>
              <a:t>: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zirmatn RD" pitchFamily="2" charset="-78"/>
                <a:cs typeface="Vazirmatn RD" pitchFamily="2" charset="-78"/>
              </a:rPr>
              <a:t> </a:t>
            </a:r>
            <a:endParaRPr lang="en-US" altLang="en-US" dirty="0">
              <a:solidFill>
                <a:schemeClr val="tx1"/>
              </a:solidFill>
              <a:latin typeface="Vazirmatn RD" pitchFamily="2" charset="-78"/>
              <a:cs typeface="Vazirmatn RD" pitchFamily="2" charset="-78"/>
            </a:endParaRPr>
          </a:p>
          <a:p>
            <a:pPr marL="342900" lvl="0" indent="-34290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SA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انتخاب تعداد خوشه‌ها</a:t>
            </a:r>
            <a:r>
              <a:rPr lang="en-US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 (k) </a:t>
            </a:r>
          </a:p>
          <a:p>
            <a:pPr marL="342900" lvl="0" indent="-34290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SA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مقداردهی اولیه مراکز خوشه</a:t>
            </a:r>
            <a:r>
              <a:rPr lang="en-US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 </a:t>
            </a:r>
            <a:r>
              <a:rPr lang="fa-IR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به صورت تصادفی</a:t>
            </a:r>
            <a:r>
              <a:rPr lang="en-US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 </a:t>
            </a:r>
          </a:p>
          <a:p>
            <a:pPr marL="342900" lvl="0" indent="-34290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SA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تخصیص نقاط به نزدیک‌ترین مرکز خوشه</a:t>
            </a:r>
            <a:r>
              <a:rPr lang="en-US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 </a:t>
            </a:r>
          </a:p>
          <a:p>
            <a:pPr marL="342900" lvl="0" indent="-34290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SA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به‌روزرسانی مراکز خوشه</a:t>
            </a:r>
            <a:r>
              <a:rPr lang="en-US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 </a:t>
            </a:r>
          </a:p>
          <a:p>
            <a:pPr marL="342900" lvl="0" indent="-34290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SA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تکرار مراحل </a:t>
            </a:r>
            <a:r>
              <a:rPr lang="fa-IR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۳</a:t>
            </a:r>
            <a:r>
              <a:rPr lang="ar-SA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 و </a:t>
            </a:r>
            <a:r>
              <a:rPr lang="fa-IR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۴</a:t>
            </a:r>
            <a:r>
              <a:rPr lang="ar-SA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 تا همگرایی</a:t>
            </a:r>
            <a:r>
              <a:rPr lang="en-US" altLang="en-US" dirty="0">
                <a:solidFill>
                  <a:schemeClr val="tx1"/>
                </a:solidFill>
                <a:latin typeface="Vazirmatn RD" pitchFamily="2" charset="-78"/>
                <a:cs typeface="Vazirmatn RD" pitchFamily="2" charset="-78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76D3E-DBC7-FBCD-2C29-8C93F4EAE6A8}"/>
              </a:ext>
            </a:extLst>
          </p:cNvPr>
          <p:cNvSpPr txBox="1"/>
          <p:nvPr/>
        </p:nvSpPr>
        <p:spPr>
          <a:xfrm>
            <a:off x="3635896" y="407048"/>
            <a:ext cx="2777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800" b="1" dirty="0">
                <a:latin typeface="IRANSansXFaNum" pitchFamily="2" charset="-78"/>
                <a:cs typeface="+mj-cs"/>
              </a:rPr>
              <a:t>الگوریتم </a:t>
            </a:r>
            <a:r>
              <a:rPr lang="en-US" sz="2800" b="1" dirty="0">
                <a:latin typeface="IRANSansXFaNum" pitchFamily="2" charset="-78"/>
                <a:cs typeface="+mj-cs"/>
              </a:rPr>
              <a:t> k-means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61BE1CA-8EA7-E2A7-C9D6-04F14124B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22" y="1936102"/>
            <a:ext cx="3733800" cy="2800350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2">
          <a:extLst>
            <a:ext uri="{FF2B5EF4-FFF2-40B4-BE49-F238E27FC236}">
              <a16:creationId xmlns:a16="http://schemas.microsoft.com/office/drawing/2014/main" id="{A5E6AB3E-C7ED-DB14-4147-E54C618B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2906C-4C25-0462-0ED3-9BAF846829D5}"/>
              </a:ext>
            </a:extLst>
          </p:cNvPr>
          <p:cNvSpPr txBox="1"/>
          <p:nvPr/>
        </p:nvSpPr>
        <p:spPr>
          <a:xfrm>
            <a:off x="2584917" y="452633"/>
            <a:ext cx="3974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800" b="1" dirty="0">
                <a:latin typeface="Vazirmatn RD" pitchFamily="2" charset="-78"/>
                <a:cs typeface="+mj-cs"/>
              </a:rPr>
              <a:t>ریاضیات الگوریتم </a:t>
            </a:r>
            <a:r>
              <a:rPr lang="en-US" sz="2800" b="1" dirty="0">
                <a:latin typeface="Vazirmatn RD" pitchFamily="2" charset="-78"/>
                <a:cs typeface="+mj-cs"/>
              </a:rPr>
              <a:t> k-means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FC494-4259-944B-C813-CFBD70CC3B57}"/>
              </a:ext>
            </a:extLst>
          </p:cNvPr>
          <p:cNvSpPr txBox="1"/>
          <p:nvPr/>
        </p:nvSpPr>
        <p:spPr>
          <a:xfrm>
            <a:off x="4381262" y="1275606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>
                <a:latin typeface="Vazirmatn RD" pitchFamily="2" charset="-78"/>
                <a:cs typeface="Vazirmatn RD" pitchFamily="2" charset="-78"/>
              </a:rPr>
              <a:t>هدف: </a:t>
            </a:r>
            <a:r>
              <a:rPr lang="ar-SA" dirty="0">
                <a:latin typeface="Vazirmatn RD" pitchFamily="2" charset="-78"/>
                <a:cs typeface="Vazirmatn RD" pitchFamily="2" charset="-78"/>
              </a:rPr>
              <a:t>کمینه کردن مجموع مربعات فاصله‌ها درون خوشه‌ها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E5DAD-D4D8-4306-24C5-D51A0E58DADD}"/>
              </a:ext>
            </a:extLst>
          </p:cNvPr>
          <p:cNvSpPr txBox="1"/>
          <p:nvPr/>
        </p:nvSpPr>
        <p:spPr>
          <a:xfrm>
            <a:off x="7837646" y="1859722"/>
            <a:ext cx="936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>
                <a:latin typeface="Vazirmatn RD" pitchFamily="2" charset="-78"/>
                <a:cs typeface="Vazirmatn RD" pitchFamily="2" charset="-78"/>
              </a:rPr>
              <a:t>تابع هدف</a:t>
            </a:r>
            <a:r>
              <a:rPr lang="en-US" b="1" dirty="0">
                <a:latin typeface="Vazirmatn RD" pitchFamily="2" charset="-78"/>
                <a:cs typeface="Vazirmatn RD" pitchFamily="2" charset="-78"/>
              </a:rPr>
              <a:t>:</a:t>
            </a:r>
            <a:endParaRPr lang="ar-SA" b="1" dirty="0">
              <a:latin typeface="Vazirmatn RD" pitchFamily="2" charset="-78"/>
              <a:cs typeface="Vazirmatn RD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079E48-7F71-CCE6-A1C8-4AE2A1BB29C6}"/>
                  </a:ext>
                </a:extLst>
              </p:cNvPr>
              <p:cNvSpPr txBox="1"/>
              <p:nvPr/>
            </p:nvSpPr>
            <p:spPr>
              <a:xfrm>
                <a:off x="1727928" y="1620872"/>
                <a:ext cx="2502747" cy="8270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J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079E48-7F71-CCE6-A1C8-4AE2A1BB2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928" y="1620872"/>
                <a:ext cx="2502747" cy="827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D405DA-2EDF-B92F-3F85-68ABFE42B73A}"/>
                  </a:ext>
                </a:extLst>
              </p:cNvPr>
              <p:cNvSpPr txBox="1"/>
              <p:nvPr/>
            </p:nvSpPr>
            <p:spPr>
              <a:xfrm>
                <a:off x="1727928" y="3151732"/>
                <a:ext cx="4837606" cy="451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 </m:t>
                          </m:r>
                          <m:sSup>
                            <m:sSup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 </m:t>
                          </m:r>
                          <m:sSup>
                            <m:sSup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∀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D405DA-2EDF-B92F-3F85-68ABFE42B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928" y="3151732"/>
                <a:ext cx="4837606" cy="451470"/>
              </a:xfrm>
              <a:prstGeom prst="rect">
                <a:avLst/>
              </a:prstGeom>
              <a:blipFill>
                <a:blip r:embed="rId5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3994E0A-480A-3939-FD18-F064BD5F8A32}"/>
              </a:ext>
            </a:extLst>
          </p:cNvPr>
          <p:cNvSpPr txBox="1"/>
          <p:nvPr/>
        </p:nvSpPr>
        <p:spPr>
          <a:xfrm>
            <a:off x="7499042" y="2709920"/>
            <a:ext cx="1305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b="1" dirty="0">
                <a:latin typeface="Vazirmatn RD" pitchFamily="2" charset="-78"/>
                <a:cs typeface="Vazirmatn RD" pitchFamily="2" charset="-78"/>
              </a:rPr>
              <a:t>مراحل الگوریتم:</a:t>
            </a:r>
            <a:endParaRPr lang="en-US" b="1" dirty="0">
              <a:latin typeface="Vazirmatn RD" pitchFamily="2" charset="-78"/>
              <a:cs typeface="Vazirmatn RD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296F33-324C-B854-C9C3-C080B2C155BC}"/>
              </a:ext>
            </a:extLst>
          </p:cNvPr>
          <p:cNvSpPr txBox="1"/>
          <p:nvPr/>
        </p:nvSpPr>
        <p:spPr>
          <a:xfrm>
            <a:off x="6826784" y="3242389"/>
            <a:ext cx="19469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b="1" dirty="0">
                <a:latin typeface="Vazirmatn RD" pitchFamily="2" charset="-78"/>
                <a:cs typeface="Vazirmatn RD" pitchFamily="2" charset="-78"/>
              </a:rPr>
              <a:t>1</a:t>
            </a:r>
            <a:r>
              <a:rPr lang="fa-IR" b="1" dirty="0">
                <a:latin typeface="Vazirmatn RD" pitchFamily="2" charset="-78"/>
                <a:cs typeface="Vazirmatn RD" pitchFamily="2" charset="-78"/>
              </a:rPr>
              <a:t>. مرحله تخصیص:</a:t>
            </a:r>
            <a:endParaRPr lang="en-US" b="1" dirty="0">
              <a:latin typeface="Vazirmatn RD" pitchFamily="2" charset="-78"/>
              <a:cs typeface="Vazirmatn RD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3E1857-47B2-EFA3-0157-D02DEB398971}"/>
              </a:ext>
            </a:extLst>
          </p:cNvPr>
          <p:cNvSpPr txBox="1"/>
          <p:nvPr/>
        </p:nvSpPr>
        <p:spPr>
          <a:xfrm>
            <a:off x="6826784" y="3997396"/>
            <a:ext cx="19469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b="1" dirty="0">
                <a:latin typeface="Vazirmatn RD" pitchFamily="2" charset="-78"/>
                <a:cs typeface="Vazirmatn RD" pitchFamily="2" charset="-78"/>
              </a:rPr>
              <a:t>2</a:t>
            </a:r>
            <a:r>
              <a:rPr lang="fa-IR" b="1" dirty="0">
                <a:latin typeface="Vazirmatn RD" pitchFamily="2" charset="-78"/>
                <a:cs typeface="Vazirmatn RD" pitchFamily="2" charset="-78"/>
              </a:rPr>
              <a:t>. مرحله به‌روزرسانی:</a:t>
            </a:r>
            <a:endParaRPr lang="en-US" b="1" dirty="0">
              <a:latin typeface="Vazirmatn RD" pitchFamily="2" charset="-78"/>
              <a:cs typeface="Vazirmatn RD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26D45D-4B26-6CED-9A60-686D6576450E}"/>
              </a:ext>
            </a:extLst>
          </p:cNvPr>
          <p:cNvSpPr txBox="1"/>
          <p:nvPr/>
        </p:nvSpPr>
        <p:spPr>
          <a:xfrm>
            <a:off x="4201750" y="458809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FF0000"/>
                </a:solidFill>
                <a:latin typeface="Vazirmatn RD" pitchFamily="2" charset="-78"/>
                <a:cs typeface="Vazirmatn RD" pitchFamily="2" charset="-78"/>
              </a:rPr>
              <a:t>تکرار بین تخصیص و به‌روزرسانی تا همگرایی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D40AD9-FCF0-2312-ED2A-CD9262E79D9F}"/>
                  </a:ext>
                </a:extLst>
              </p:cNvPr>
              <p:cNvSpPr txBox="1"/>
              <p:nvPr/>
            </p:nvSpPr>
            <p:spPr>
              <a:xfrm>
                <a:off x="1727928" y="3822732"/>
                <a:ext cx="2149306" cy="737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​= </m:t>
                      </m:r>
                      <m:f>
                        <m:fPr>
                          <m:ctrlPr>
                            <a:rPr lang="pt-B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m:rPr>
                                  <m:nor/>
                                </m:r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​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pt-B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D40AD9-FCF0-2312-ED2A-CD9262E79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928" y="3822732"/>
                <a:ext cx="2149306" cy="7377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1B7B43D-3BEF-F465-1E07-3F68234414BA}"/>
              </a:ext>
            </a:extLst>
          </p:cNvPr>
          <p:cNvSpPr txBox="1"/>
          <p:nvPr/>
        </p:nvSpPr>
        <p:spPr>
          <a:xfrm>
            <a:off x="6138092" y="2275227"/>
            <a:ext cx="2635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1200" dirty="0">
                <a:solidFill>
                  <a:srgbClr val="FF0000"/>
                </a:solidFill>
                <a:latin typeface="Vazirmatn RD" pitchFamily="2" charset="-78"/>
                <a:cs typeface="Vazirmatn RD" pitchFamily="2" charset="-78"/>
              </a:rPr>
              <a:t>معیار کمینه‌سازی واریانس درون خوشه‌ها</a:t>
            </a:r>
            <a:endParaRPr lang="en-US" sz="1200" dirty="0">
              <a:solidFill>
                <a:srgbClr val="FF0000"/>
              </a:solidFill>
              <a:latin typeface="Vazirmatn RD" pitchFamily="2" charset="-78"/>
              <a:cs typeface="Vazirmatn R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1865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3" grpId="0"/>
      <p:bldP spid="5" grpId="0"/>
      <p:bldP spid="11" grpId="0"/>
      <p:bldP spid="12" grpId="0"/>
      <p:bldP spid="16" grpId="0"/>
      <p:bldP spid="17" grpId="0"/>
      <p:bldP spid="23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2">
          <a:extLst>
            <a:ext uri="{FF2B5EF4-FFF2-40B4-BE49-F238E27FC236}">
              <a16:creationId xmlns:a16="http://schemas.microsoft.com/office/drawing/2014/main" id="{B24EEC75-AC91-9463-2786-FD0BBB46C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FE9A152-F779-DD3A-0DD1-504E9EB66D3F}"/>
                  </a:ext>
                </a:extLst>
              </p:cNvPr>
              <p:cNvSpPr txBox="1"/>
              <p:nvPr/>
            </p:nvSpPr>
            <p:spPr>
              <a:xfrm>
                <a:off x="2212395" y="1131590"/>
                <a:ext cx="4719209" cy="3270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>
                  <a:lnSpc>
                    <a:spcPct val="150000"/>
                  </a:lnSpc>
                  <a:buNone/>
                </a:pPr>
                <a:r>
                  <a:rPr lang="ar-SA" dirty="0">
                    <a:effectLst/>
                    <a:latin typeface="Vazirmatn RD" pitchFamily="2" charset="-78"/>
                    <a:cs typeface="Vazirmatn RD" pitchFamily="2" charset="-78"/>
                  </a:rPr>
                  <a:t>فرض کنید داده‌ها </a:t>
                </a:r>
                <a:r>
                  <a:rPr lang="en-US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X={(1,2),(2,1),(5,4),(6,5)} </a:t>
                </a:r>
                <a:r>
                  <a:rPr lang="fa-IR" dirty="0">
                    <a:effectLst/>
                    <a:latin typeface="Vazirmatn RD" pitchFamily="2" charset="-78"/>
                    <a:cs typeface="Vazirmatn RD" pitchFamily="2" charset="-78"/>
                  </a:rPr>
                  <a:t> </a:t>
                </a:r>
                <a:r>
                  <a:rPr lang="ar-SA" dirty="0">
                    <a:effectLst/>
                    <a:latin typeface="Vazirmatn RD" pitchFamily="2" charset="-78"/>
                    <a:cs typeface="Vazirmatn RD" pitchFamily="2" charset="-78"/>
                  </a:rPr>
                  <a:t>و</a:t>
                </a:r>
                <a:r>
                  <a:rPr lang="en-US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k=2 </a:t>
                </a:r>
                <a:r>
                  <a:rPr lang="fa-IR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 </a:t>
                </a:r>
                <a:r>
                  <a:rPr lang="ar-SA" dirty="0">
                    <a:effectLst/>
                    <a:latin typeface="Vazirmatn RD" pitchFamily="2" charset="-78"/>
                    <a:cs typeface="Vazirmatn RD" pitchFamily="2" charset="-78"/>
                  </a:rPr>
                  <a:t>باشد:</a:t>
                </a:r>
              </a:p>
              <a:p>
                <a:pPr marL="342900" indent="-342900" algn="r" rtl="1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ar-SA" b="1" dirty="0">
                    <a:latin typeface="Vazirmatn RD" pitchFamily="2" charset="-78"/>
                    <a:cs typeface="Vazirmatn RD" pitchFamily="2" charset="-78"/>
                  </a:rPr>
                  <a:t>مراکز اولیه</a:t>
                </a:r>
                <a:r>
                  <a:rPr lang="ar-SA" dirty="0">
                    <a:latin typeface="Vazirmatn RD" pitchFamily="2" charset="-78"/>
                    <a:cs typeface="Vazirmatn RD" pitchFamily="2" charset="-78"/>
                  </a:rPr>
                  <a:t>: 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μ</a:t>
                </a:r>
                <a:r>
                  <a:rPr lang="el-GR" baseline="-25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1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​=(1,2)،</a:t>
                </a:r>
                <a:r>
                  <a:rPr lang="fa-IR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 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μ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2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​=(6,5)</a:t>
                </a:r>
              </a:p>
              <a:p>
                <a:pPr marL="342900" indent="-342900" algn="r" rtl="1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ar-SA" b="1" dirty="0">
                    <a:latin typeface="Vazirmatn RD" pitchFamily="2" charset="-78"/>
                    <a:cs typeface="Vazirmatn RD" pitchFamily="2" charset="-78"/>
                  </a:rPr>
                  <a:t>تخصیص</a:t>
                </a:r>
                <a:r>
                  <a:rPr lang="ar-SA" dirty="0">
                    <a:latin typeface="Vazirmatn RD" pitchFamily="2" charset="-78"/>
                    <a:cs typeface="Vazirmatn RD" pitchFamily="2" charset="-78"/>
                  </a:rPr>
                  <a:t>: </a:t>
                </a:r>
              </a:p>
              <a:p>
                <a:pPr marL="800100" indent="-342900" algn="r" rtl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ar-SA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(1,2) </a:t>
                </a:r>
                <a:r>
                  <a:rPr lang="fa-IR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و </a:t>
                </a:r>
                <a:r>
                  <a:rPr lang="ar-SA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(1, 2) به 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μ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1</a:t>
                </a:r>
                <a:endParaRPr lang="el-GR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Vazirmatn RD" pitchFamily="2" charset="-78"/>
                </a:endParaRPr>
              </a:p>
              <a:p>
                <a:pPr marL="800100" lvl="1" indent="-342900" algn="r" rtl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 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(5,4) </a:t>
                </a:r>
                <a:r>
                  <a:rPr lang="ar-SA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و (6,5) به 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μ</a:t>
                </a:r>
                <a:r>
                  <a:rPr lang="el-GR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Vazirmatn RD" pitchFamily="2" charset="-78"/>
                  </a:rPr>
                  <a:t>2</a:t>
                </a:r>
              </a:p>
              <a:p>
                <a:pPr marL="342900" indent="-342900" algn="r" rtl="1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ar-SA" b="1" dirty="0">
                    <a:latin typeface="Vazirmatn RD" pitchFamily="2" charset="-78"/>
                    <a:cs typeface="Vazirmatn RD" pitchFamily="2" charset="-78"/>
                  </a:rPr>
                  <a:t>به‌روزرسانی</a:t>
                </a:r>
                <a:r>
                  <a:rPr lang="ar-SA" dirty="0">
                    <a:latin typeface="Vazirmatn RD" pitchFamily="2" charset="-78"/>
                    <a:cs typeface="Vazirmatn RD" pitchFamily="2" charset="-78"/>
                  </a:rPr>
                  <a:t>: </a:t>
                </a:r>
              </a:p>
              <a:p>
                <a:pPr marL="800100" lvl="1" indent="-342900" algn="r" rtl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=</m:t>
                    </m:r>
                    <m:f>
                      <m:fPr>
                        <m:ctrlPr>
                          <a:rPr lang="el-G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</m:ctrlPr>
                      </m:fPr>
                      <m:num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(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1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,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2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)+(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2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,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1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)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2</m:t>
                        </m:r>
                      </m:den>
                    </m:f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=(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1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.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5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,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1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.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5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)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Vazirmatn RD" pitchFamily="2" charset="-78"/>
                </a:endParaRPr>
              </a:p>
              <a:p>
                <a:pPr marL="800100" indent="-342900" algn="r" rtl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2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=</m:t>
                    </m:r>
                    <m:f>
                      <m:fPr>
                        <m:ctrlPr>
                          <a:rPr lang="el-G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</m:ctrlPr>
                      </m:fPr>
                      <m:num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(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5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,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4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)+(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6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,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5</m:t>
                        </m:r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)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zirmatn RD" pitchFamily="2" charset="-78"/>
                          </a:rPr>
                          <m:t>2</m:t>
                        </m:r>
                      </m:den>
                    </m:f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=(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5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.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5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,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4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.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5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zirmatn RD" pitchFamily="2" charset="-78"/>
                      </a:rPr>
                      <m:t>)</m:t>
                    </m:r>
                  </m:oMath>
                </a14:m>
                <a:endParaRPr lang="el-GR" dirty="0">
                  <a:latin typeface="Cambria Math" panose="02040503050406030204" pitchFamily="18" charset="0"/>
                  <a:ea typeface="Cambria Math" panose="02040503050406030204" pitchFamily="18" charset="0"/>
                  <a:cs typeface="Vazirmatn RD" pitchFamily="2" charset="-78"/>
                </a:endParaRPr>
              </a:p>
              <a:p>
                <a:pPr marL="342900" indent="-342900" algn="r" rtl="1">
                  <a:lnSpc>
                    <a:spcPct val="150000"/>
                  </a:lnSpc>
                  <a:buFont typeface="+mj-lt"/>
                  <a:buAutoNum type="arabicPeriod" startAt="4"/>
                </a:pPr>
                <a:r>
                  <a:rPr lang="ar-SA" b="1" dirty="0">
                    <a:latin typeface="Vazirmatn RD" pitchFamily="2" charset="-78"/>
                    <a:cs typeface="Vazirmatn RD" pitchFamily="2" charset="-78"/>
                  </a:rPr>
                  <a:t>تکرار تا همگرایی.</a:t>
                </a: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FE9A152-F779-DD3A-0DD1-504E9EB66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395" y="1131590"/>
                <a:ext cx="4719209" cy="3270382"/>
              </a:xfrm>
              <a:prstGeom prst="rect">
                <a:avLst/>
              </a:prstGeom>
              <a:blipFill>
                <a:blip r:embed="rId4"/>
                <a:stretch>
                  <a:fillRect r="-1163" b="-2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TextBox 172">
            <a:extLst>
              <a:ext uri="{FF2B5EF4-FFF2-40B4-BE49-F238E27FC236}">
                <a16:creationId xmlns:a16="http://schemas.microsoft.com/office/drawing/2014/main" id="{1C81B99D-14C5-9973-EBA5-2D067F964A3C}"/>
              </a:ext>
            </a:extLst>
          </p:cNvPr>
          <p:cNvSpPr txBox="1"/>
          <p:nvPr/>
        </p:nvSpPr>
        <p:spPr>
          <a:xfrm>
            <a:off x="4236811" y="315863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400" b="1" dirty="0">
                <a:latin typeface="Vazirmatn RD" pitchFamily="2" charset="-78"/>
                <a:cs typeface="B Titr" panose="00000700000000000000" pitchFamily="2" charset="-78"/>
              </a:rPr>
              <a:t>مثال</a:t>
            </a:r>
          </a:p>
        </p:txBody>
      </p:sp>
    </p:spTree>
    <p:extLst>
      <p:ext uri="{BB962C8B-B14F-4D97-AF65-F5344CB8AC3E}">
        <p14:creationId xmlns:p14="http://schemas.microsoft.com/office/powerpoint/2010/main" val="275688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17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5CE6E4EA-27A1-A7DC-D6F0-B6631BBB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49D6B-7BBA-24F6-5BDA-CC5B7FFDEE81}"/>
              </a:ext>
            </a:extLst>
          </p:cNvPr>
          <p:cNvSpPr txBox="1"/>
          <p:nvPr/>
        </p:nvSpPr>
        <p:spPr>
          <a:xfrm>
            <a:off x="2060848" y="267494"/>
            <a:ext cx="5022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dirty="0">
                <a:cs typeface="B Titr" panose="00000700000000000000" pitchFamily="2" charset="-78"/>
              </a:rPr>
              <a:t>معیارهای انتخاب بهترین تعداد خوشه</a:t>
            </a:r>
            <a:endParaRPr lang="en-US" sz="2800" dirty="0"/>
          </a:p>
        </p:txBody>
      </p:sp>
      <p:cxnSp>
        <p:nvCxnSpPr>
          <p:cNvPr id="4" name="Google Shape;275;p38">
            <a:extLst>
              <a:ext uri="{FF2B5EF4-FFF2-40B4-BE49-F238E27FC236}">
                <a16:creationId xmlns:a16="http://schemas.microsoft.com/office/drawing/2014/main" id="{3DDE1D41-0248-DB72-AE6E-A1C609F47565}"/>
              </a:ext>
            </a:extLst>
          </p:cNvPr>
          <p:cNvCxnSpPr>
            <a:cxnSpLocks/>
          </p:cNvCxnSpPr>
          <p:nvPr/>
        </p:nvCxnSpPr>
        <p:spPr>
          <a:xfrm>
            <a:off x="4572000" y="1635646"/>
            <a:ext cx="0" cy="273630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77BE63A-8732-25BD-74B3-7083DF7CE436}"/>
              </a:ext>
            </a:extLst>
          </p:cNvPr>
          <p:cNvSpPr txBox="1"/>
          <p:nvPr/>
        </p:nvSpPr>
        <p:spPr>
          <a:xfrm>
            <a:off x="6404" y="120359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dirty="0">
                <a:cs typeface="+mn-cs"/>
              </a:rPr>
              <a:t>Elbow Method</a:t>
            </a:r>
            <a:endParaRPr lang="ar-SA" sz="2000" dirty="0"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0E861-3080-EFBA-47F4-6759C9E4E587}"/>
              </a:ext>
            </a:extLst>
          </p:cNvPr>
          <p:cNvSpPr txBox="1"/>
          <p:nvPr/>
        </p:nvSpPr>
        <p:spPr>
          <a:xfrm>
            <a:off x="4578404" y="120359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dirty="0">
                <a:cs typeface="+mn-cs"/>
              </a:rPr>
              <a:t>Silhouette Method</a:t>
            </a:r>
            <a:endParaRPr lang="ar-SA" sz="2000" dirty="0"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00AEE3-E0F4-B521-EC1A-B05708167173}"/>
              </a:ext>
            </a:extLst>
          </p:cNvPr>
          <p:cNvSpPr txBox="1"/>
          <p:nvPr/>
        </p:nvSpPr>
        <p:spPr>
          <a:xfrm>
            <a:off x="312184" y="1754401"/>
            <a:ext cx="39604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cs typeface="+mn-cs"/>
              </a:rPr>
              <a:t>مجموع مربعات فاصله‌ها را برای </a:t>
            </a:r>
            <a:r>
              <a:rPr lang="en-US" dirty="0">
                <a:cs typeface="+mn-cs"/>
              </a:rPr>
              <a:t>K</a:t>
            </a:r>
            <a:r>
              <a:rPr lang="fa-IR" dirty="0">
                <a:cs typeface="+mn-cs"/>
              </a:rPr>
              <a:t> </a:t>
            </a:r>
            <a:r>
              <a:rPr lang="ar-SA" dirty="0">
                <a:cs typeface="+mn-cs"/>
              </a:rPr>
              <a:t>های مختلف محاسبه می‌کند. نقطه‌ای که کاهش واریانس کند می‌شود (شبیه آرنج) به‌عنوان </a:t>
            </a:r>
            <a:r>
              <a:rPr lang="en-US" dirty="0">
                <a:cs typeface="+mn-cs"/>
              </a:rPr>
              <a:t>K </a:t>
            </a:r>
            <a:r>
              <a:rPr lang="fa-IR" dirty="0">
                <a:cs typeface="+mn-cs"/>
              </a:rPr>
              <a:t> </a:t>
            </a:r>
            <a:r>
              <a:rPr lang="ar-SA" dirty="0">
                <a:cs typeface="+mn-cs"/>
              </a:rPr>
              <a:t>بهینه انتخاب می‌شود.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88FAA-8D66-ED63-B89B-A119A00E34B6}"/>
              </a:ext>
            </a:extLst>
          </p:cNvPr>
          <p:cNvSpPr txBox="1"/>
          <p:nvPr/>
        </p:nvSpPr>
        <p:spPr>
          <a:xfrm>
            <a:off x="4727195" y="1805168"/>
            <a:ext cx="41399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cs typeface="+mn-cs"/>
              </a:rPr>
              <a:t>میانگین امتیاز سیلوئت (شباهت درون خوشه‌ای در مقابل جدایی بین خوشه‌ای) را برای هر </a:t>
            </a:r>
            <a:r>
              <a:rPr lang="en-US" dirty="0">
                <a:cs typeface="+mn-cs"/>
              </a:rPr>
              <a:t>K </a:t>
            </a:r>
            <a:r>
              <a:rPr lang="fa-IR" dirty="0">
                <a:cs typeface="+mn-cs"/>
              </a:rPr>
              <a:t> </a:t>
            </a:r>
            <a:r>
              <a:rPr lang="ar-SA" dirty="0">
                <a:cs typeface="+mn-cs"/>
              </a:rPr>
              <a:t>محاسبه می‌کند.</a:t>
            </a:r>
            <a:endParaRPr lang="fa-IR" dirty="0">
              <a:cs typeface="+mn-cs"/>
            </a:endParaRPr>
          </a:p>
          <a:p>
            <a:pPr algn="r" rtl="1"/>
            <a:r>
              <a:rPr lang="en-US" dirty="0">
                <a:cs typeface="+mn-cs"/>
              </a:rPr>
              <a:t>K </a:t>
            </a:r>
            <a:r>
              <a:rPr lang="fa-IR" dirty="0">
                <a:cs typeface="+mn-cs"/>
              </a:rPr>
              <a:t> </a:t>
            </a:r>
            <a:r>
              <a:rPr lang="ar-SA" dirty="0">
                <a:cs typeface="+mn-cs"/>
              </a:rPr>
              <a:t>با بالاترین امتیاز بهینه است.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B527B9-ABFD-F1AF-84F4-C38711A867AF}"/>
                  </a:ext>
                </a:extLst>
              </p:cNvPr>
              <p:cNvSpPr txBox="1"/>
              <p:nvPr/>
            </p:nvSpPr>
            <p:spPr>
              <a:xfrm>
                <a:off x="668055" y="2570190"/>
                <a:ext cx="2976969" cy="6599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𝑛𝑒𝑟𝑠𝑖𝑎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B527B9-ABFD-F1AF-84F4-C38711A86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55" y="2570190"/>
                <a:ext cx="2976969" cy="6599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19857-7F62-7661-FFA7-CF105E263171}"/>
                  </a:ext>
                </a:extLst>
              </p:cNvPr>
              <p:cNvSpPr txBox="1"/>
              <p:nvPr/>
            </p:nvSpPr>
            <p:spPr>
              <a:xfrm>
                <a:off x="6300192" y="2671724"/>
                <a:ext cx="1745542" cy="456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⁡{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)}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19857-7F62-7661-FFA7-CF105E263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2671724"/>
                <a:ext cx="1745542" cy="456856"/>
              </a:xfrm>
              <a:prstGeom prst="rect">
                <a:avLst/>
              </a:prstGeom>
              <a:blipFill>
                <a:blip r:embed="rId4"/>
                <a:stretch>
                  <a:fillRect l="-1742" t="-1333" r="-2787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7DC92C1-0D39-AABB-BA9D-3EB404FBA6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625" t="23401" r="19288" b="15000"/>
          <a:stretch/>
        </p:blipFill>
        <p:spPr>
          <a:xfrm>
            <a:off x="5498977" y="3396686"/>
            <a:ext cx="3168350" cy="1566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C5B1E7-AA30-11F0-2A9C-65944D7B2B4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497"/>
          <a:stretch/>
        </p:blipFill>
        <p:spPr>
          <a:xfrm>
            <a:off x="746272" y="3400147"/>
            <a:ext cx="3092262" cy="155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9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2" grpId="0"/>
      <p:bldP spid="14" grpId="0"/>
      <p:bldP spid="18" grpId="0"/>
      <p:bldP spid="2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38"/>
          <p:cNvCxnSpPr/>
          <p:nvPr/>
        </p:nvCxnSpPr>
        <p:spPr>
          <a:xfrm>
            <a:off x="3235200" y="2186175"/>
            <a:ext cx="0" cy="164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38"/>
          <p:cNvCxnSpPr/>
          <p:nvPr/>
        </p:nvCxnSpPr>
        <p:spPr>
          <a:xfrm>
            <a:off x="5908800" y="2186175"/>
            <a:ext cx="0" cy="164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38"/>
          <p:cNvSpPr/>
          <p:nvPr/>
        </p:nvSpPr>
        <p:spPr>
          <a:xfrm>
            <a:off x="1576050" y="1853650"/>
            <a:ext cx="644700" cy="644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38"/>
          <p:cNvSpPr/>
          <p:nvPr/>
        </p:nvSpPr>
        <p:spPr>
          <a:xfrm>
            <a:off x="4249650" y="3516549"/>
            <a:ext cx="644700" cy="644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9" name="Google Shape;279;p38"/>
          <p:cNvSpPr/>
          <p:nvPr/>
        </p:nvSpPr>
        <p:spPr>
          <a:xfrm>
            <a:off x="6923250" y="1855160"/>
            <a:ext cx="644700" cy="644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97;p33"/>
          <p:cNvSpPr txBox="1">
            <a:spLocks noGrp="1"/>
          </p:cNvSpPr>
          <p:nvPr>
            <p:ph type="ctrTitle" idx="4294967295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200" dirty="0">
                <a:cs typeface="+mj-cs"/>
              </a:rPr>
              <a:t>کاربردهای </a:t>
            </a:r>
            <a:r>
              <a:rPr lang="en-US" sz="3200" dirty="0">
                <a:cs typeface="+mj-cs"/>
              </a:rPr>
              <a:t> K-Means</a:t>
            </a:r>
            <a:endParaRPr sz="3200" dirty="0">
              <a:cs typeface="+mj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372200" y="3249205"/>
            <a:ext cx="1728192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spcBef>
                <a:spcPts val="1200"/>
              </a:spcBef>
            </a:pPr>
            <a:r>
              <a:rPr lang="fa-IR" sz="1600" b="1" dirty="0">
                <a:solidFill>
                  <a:schemeClr val="tx1"/>
                </a:solidFill>
                <a:cs typeface="B Nazanin" panose="00000400000000000000" pitchFamily="2" charset="-78"/>
              </a:rPr>
              <a:t>برای تفکیک رنگ‌ها در تصاویر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7494" y="2689866"/>
            <a:ext cx="299669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Color Segmentation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5656" y="3198218"/>
            <a:ext cx="1728192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spcBef>
                <a:spcPts val="1200"/>
              </a:spcBef>
            </a:pPr>
            <a:r>
              <a:rPr lang="fa-IR" sz="1600" b="1" dirty="0">
                <a:solidFill>
                  <a:schemeClr val="tx1"/>
                </a:solidFill>
                <a:cs typeface="B Nazanin" panose="00000400000000000000" pitchFamily="2" charset="-78"/>
              </a:rPr>
              <a:t>تولید برچسب‌های اولیه برای داده‌های بدون برچسب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0362" y="2645151"/>
            <a:ext cx="2592284" cy="4732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cs typeface="B Titr" panose="00000700000000000000" pitchFamily="2" charset="-78"/>
              </a:rPr>
              <a:t>Semi-Supervised</a:t>
            </a:r>
            <a:endParaRPr lang="fa-IR" sz="18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635481" y="2375934"/>
            <a:ext cx="1728192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spcBef>
                <a:spcPts val="1200"/>
              </a:spcBef>
            </a:pPr>
            <a:r>
              <a:rPr lang="fa-IR" sz="1600" b="1" dirty="0">
                <a:solidFill>
                  <a:schemeClr val="tx1"/>
                </a:solidFill>
                <a:cs typeface="B Nazanin" panose="00000400000000000000" pitchFamily="2" charset="-78"/>
              </a:rPr>
              <a:t>آماده کردن داده‌ها برای آموزش مدل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8364" y="1788955"/>
            <a:ext cx="1755317" cy="4732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Preprocessing </a:t>
            </a:r>
            <a:endParaRPr lang="fa-IR" sz="18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grpSp>
        <p:nvGrpSpPr>
          <p:cNvPr id="12" name="Google Shape;5767;p61">
            <a:extLst>
              <a:ext uri="{FF2B5EF4-FFF2-40B4-BE49-F238E27FC236}">
                <a16:creationId xmlns:a16="http://schemas.microsoft.com/office/drawing/2014/main" id="{E8AA0659-600F-EFD6-1BA0-5A38E2E971A1}"/>
              </a:ext>
            </a:extLst>
          </p:cNvPr>
          <p:cNvGrpSpPr/>
          <p:nvPr/>
        </p:nvGrpSpPr>
        <p:grpSpPr>
          <a:xfrm>
            <a:off x="7075812" y="1985757"/>
            <a:ext cx="339575" cy="352352"/>
            <a:chOff x="-44914800" y="3560450"/>
            <a:chExt cx="300900" cy="300100"/>
          </a:xfrm>
          <a:solidFill>
            <a:schemeClr val="bg1"/>
          </a:solidFill>
        </p:grpSpPr>
        <p:sp>
          <p:nvSpPr>
            <p:cNvPr id="13" name="Google Shape;5768;p61">
              <a:extLst>
                <a:ext uri="{FF2B5EF4-FFF2-40B4-BE49-F238E27FC236}">
                  <a16:creationId xmlns:a16="http://schemas.microsoft.com/office/drawing/2014/main" id="{75161518-526F-56EC-B398-6A91009B15BE}"/>
                </a:ext>
              </a:extLst>
            </p:cNvPr>
            <p:cNvSpPr/>
            <p:nvPr/>
          </p:nvSpPr>
          <p:spPr>
            <a:xfrm>
              <a:off x="-44914800" y="3560450"/>
              <a:ext cx="300900" cy="300100"/>
            </a:xfrm>
            <a:custGeom>
              <a:avLst/>
              <a:gdLst/>
              <a:ahLst/>
              <a:cxnLst/>
              <a:rect l="l" t="t" r="r" b="b"/>
              <a:pathLst>
                <a:path w="12036" h="12004" extrusionOk="0">
                  <a:moveTo>
                    <a:pt x="9893" y="1418"/>
                  </a:moveTo>
                  <a:lnTo>
                    <a:pt x="9893" y="1764"/>
                  </a:lnTo>
                  <a:cubicBezTo>
                    <a:pt x="9893" y="1953"/>
                    <a:pt x="10051" y="2111"/>
                    <a:pt x="10240" y="2111"/>
                  </a:cubicBezTo>
                  <a:lnTo>
                    <a:pt x="10618" y="2111"/>
                  </a:lnTo>
                  <a:lnTo>
                    <a:pt x="10618" y="9924"/>
                  </a:lnTo>
                  <a:lnTo>
                    <a:pt x="10240" y="9924"/>
                  </a:lnTo>
                  <a:cubicBezTo>
                    <a:pt x="10051" y="9924"/>
                    <a:pt x="9893" y="10082"/>
                    <a:pt x="9893" y="10271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71"/>
                  </a:lnTo>
                  <a:cubicBezTo>
                    <a:pt x="2143" y="10082"/>
                    <a:pt x="1985" y="9924"/>
                    <a:pt x="1796" y="9924"/>
                  </a:cubicBezTo>
                  <a:lnTo>
                    <a:pt x="1450" y="9924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4"/>
                  </a:lnTo>
                  <a:cubicBezTo>
                    <a:pt x="1" y="1953"/>
                    <a:pt x="158" y="2111"/>
                    <a:pt x="379" y="2111"/>
                  </a:cubicBezTo>
                  <a:lnTo>
                    <a:pt x="725" y="2111"/>
                  </a:lnTo>
                  <a:lnTo>
                    <a:pt x="725" y="9861"/>
                  </a:lnTo>
                  <a:lnTo>
                    <a:pt x="379" y="9861"/>
                  </a:lnTo>
                  <a:cubicBezTo>
                    <a:pt x="158" y="9861"/>
                    <a:pt x="1" y="10019"/>
                    <a:pt x="1" y="10208"/>
                  </a:cubicBezTo>
                  <a:lnTo>
                    <a:pt x="1" y="11657"/>
                  </a:lnTo>
                  <a:cubicBezTo>
                    <a:pt x="1" y="11846"/>
                    <a:pt x="158" y="12003"/>
                    <a:pt x="379" y="12003"/>
                  </a:cubicBezTo>
                  <a:lnTo>
                    <a:pt x="1796" y="12003"/>
                  </a:lnTo>
                  <a:cubicBezTo>
                    <a:pt x="1985" y="12003"/>
                    <a:pt x="2143" y="11846"/>
                    <a:pt x="2143" y="11657"/>
                  </a:cubicBezTo>
                  <a:lnTo>
                    <a:pt x="2143" y="11279"/>
                  </a:lnTo>
                  <a:lnTo>
                    <a:pt x="9893" y="11279"/>
                  </a:lnTo>
                  <a:lnTo>
                    <a:pt x="9893" y="11657"/>
                  </a:lnTo>
                  <a:cubicBezTo>
                    <a:pt x="9893" y="11846"/>
                    <a:pt x="10051" y="12003"/>
                    <a:pt x="10240" y="12003"/>
                  </a:cubicBezTo>
                  <a:lnTo>
                    <a:pt x="11657" y="12003"/>
                  </a:lnTo>
                  <a:cubicBezTo>
                    <a:pt x="11878" y="12003"/>
                    <a:pt x="12036" y="11846"/>
                    <a:pt x="12036" y="11657"/>
                  </a:cubicBezTo>
                  <a:lnTo>
                    <a:pt x="12036" y="10208"/>
                  </a:lnTo>
                  <a:cubicBezTo>
                    <a:pt x="12036" y="10019"/>
                    <a:pt x="11878" y="9861"/>
                    <a:pt x="11657" y="9861"/>
                  </a:cubicBezTo>
                  <a:lnTo>
                    <a:pt x="11311" y="9861"/>
                  </a:lnTo>
                  <a:lnTo>
                    <a:pt x="11311" y="2111"/>
                  </a:lnTo>
                  <a:lnTo>
                    <a:pt x="11657" y="2111"/>
                  </a:lnTo>
                  <a:cubicBezTo>
                    <a:pt x="11878" y="2111"/>
                    <a:pt x="12036" y="1953"/>
                    <a:pt x="12036" y="1764"/>
                  </a:cubicBezTo>
                  <a:lnTo>
                    <a:pt x="12036" y="347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47"/>
                  </a:cubicBezTo>
                  <a:lnTo>
                    <a:pt x="9893" y="693"/>
                  </a:ln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69;p61">
              <a:extLst>
                <a:ext uri="{FF2B5EF4-FFF2-40B4-BE49-F238E27FC236}">
                  <a16:creationId xmlns:a16="http://schemas.microsoft.com/office/drawing/2014/main" id="{4CC219B1-27EE-4DD4-75AF-274BBAF5F7EF}"/>
                </a:ext>
              </a:extLst>
            </p:cNvPr>
            <p:cNvSpPr/>
            <p:nvPr/>
          </p:nvSpPr>
          <p:spPr>
            <a:xfrm>
              <a:off x="-44861250" y="3632100"/>
              <a:ext cx="193800" cy="146525"/>
            </a:xfrm>
            <a:custGeom>
              <a:avLst/>
              <a:gdLst/>
              <a:ahLst/>
              <a:cxnLst/>
              <a:rect l="l" t="t" r="r" b="b"/>
              <a:pathLst>
                <a:path w="7752" h="5861" extrusionOk="0">
                  <a:moveTo>
                    <a:pt x="3845" y="1009"/>
                  </a:moveTo>
                  <a:cubicBezTo>
                    <a:pt x="4443" y="1009"/>
                    <a:pt x="4916" y="1482"/>
                    <a:pt x="4916" y="2080"/>
                  </a:cubicBezTo>
                  <a:cubicBezTo>
                    <a:pt x="4916" y="2679"/>
                    <a:pt x="4443" y="3151"/>
                    <a:pt x="3845" y="3151"/>
                  </a:cubicBezTo>
                  <a:cubicBezTo>
                    <a:pt x="3277" y="3151"/>
                    <a:pt x="2805" y="2679"/>
                    <a:pt x="2805" y="2080"/>
                  </a:cubicBezTo>
                  <a:cubicBezTo>
                    <a:pt x="2805" y="1482"/>
                    <a:pt x="3277" y="1009"/>
                    <a:pt x="3845" y="1009"/>
                  </a:cubicBezTo>
                  <a:close/>
                  <a:moveTo>
                    <a:pt x="348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5829"/>
                  </a:lnTo>
                  <a:lnTo>
                    <a:pt x="2206" y="3624"/>
                  </a:lnTo>
                  <a:cubicBezTo>
                    <a:pt x="2269" y="3561"/>
                    <a:pt x="2356" y="3530"/>
                    <a:pt x="2447" y="3530"/>
                  </a:cubicBezTo>
                  <a:cubicBezTo>
                    <a:pt x="2537" y="3530"/>
                    <a:pt x="2632" y="3561"/>
                    <a:pt x="2710" y="3624"/>
                  </a:cubicBezTo>
                  <a:lnTo>
                    <a:pt x="3939" y="4821"/>
                  </a:lnTo>
                  <a:lnTo>
                    <a:pt x="5042" y="3656"/>
                  </a:lnTo>
                  <a:cubicBezTo>
                    <a:pt x="5136" y="3561"/>
                    <a:pt x="5199" y="3530"/>
                    <a:pt x="5294" y="3530"/>
                  </a:cubicBezTo>
                  <a:cubicBezTo>
                    <a:pt x="5388" y="3530"/>
                    <a:pt x="5483" y="3561"/>
                    <a:pt x="5546" y="3656"/>
                  </a:cubicBezTo>
                  <a:lnTo>
                    <a:pt x="7751" y="5861"/>
                  </a:lnTo>
                  <a:lnTo>
                    <a:pt x="7751" y="379"/>
                  </a:lnTo>
                  <a:cubicBezTo>
                    <a:pt x="7720" y="159"/>
                    <a:pt x="7562" y="1"/>
                    <a:pt x="73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770;p61">
              <a:extLst>
                <a:ext uri="{FF2B5EF4-FFF2-40B4-BE49-F238E27FC236}">
                  <a16:creationId xmlns:a16="http://schemas.microsoft.com/office/drawing/2014/main" id="{346D0B48-B60A-7682-170C-B47D93D5E256}"/>
                </a:ext>
              </a:extLst>
            </p:cNvPr>
            <p:cNvSpPr/>
            <p:nvPr/>
          </p:nvSpPr>
          <p:spPr>
            <a:xfrm>
              <a:off x="-44773800" y="36754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771;p61">
              <a:extLst>
                <a:ext uri="{FF2B5EF4-FFF2-40B4-BE49-F238E27FC236}">
                  <a16:creationId xmlns:a16="http://schemas.microsoft.com/office/drawing/2014/main" id="{0DD7B2A4-ACD5-42BA-A687-B63CDF199155}"/>
                </a:ext>
              </a:extLst>
            </p:cNvPr>
            <p:cNvSpPr/>
            <p:nvPr/>
          </p:nvSpPr>
          <p:spPr>
            <a:xfrm>
              <a:off x="-44750975" y="3741600"/>
              <a:ext cx="70900" cy="48050"/>
            </a:xfrm>
            <a:custGeom>
              <a:avLst/>
              <a:gdLst/>
              <a:ahLst/>
              <a:cxnLst/>
              <a:rect l="l" t="t" r="r" b="b"/>
              <a:pathLst>
                <a:path w="2836" h="1922" extrusionOk="0">
                  <a:moveTo>
                    <a:pt x="883" y="0"/>
                  </a:moveTo>
                  <a:lnTo>
                    <a:pt x="1" y="945"/>
                  </a:lnTo>
                  <a:lnTo>
                    <a:pt x="1009" y="1922"/>
                  </a:lnTo>
                  <a:lnTo>
                    <a:pt x="2836" y="1922"/>
                  </a:lnTo>
                  <a:lnTo>
                    <a:pt x="8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772;p61">
              <a:extLst>
                <a:ext uri="{FF2B5EF4-FFF2-40B4-BE49-F238E27FC236}">
                  <a16:creationId xmlns:a16="http://schemas.microsoft.com/office/drawing/2014/main" id="{100C8701-EE10-F43C-EF01-F0BDA7790969}"/>
                </a:ext>
              </a:extLst>
            </p:cNvPr>
            <p:cNvSpPr/>
            <p:nvPr/>
          </p:nvSpPr>
          <p:spPr>
            <a:xfrm>
              <a:off x="-44848625" y="3740025"/>
              <a:ext cx="97675" cy="49625"/>
            </a:xfrm>
            <a:custGeom>
              <a:avLst/>
              <a:gdLst/>
              <a:ahLst/>
              <a:cxnLst/>
              <a:rect l="l" t="t" r="r" b="b"/>
              <a:pathLst>
                <a:path w="3907" h="1985" extrusionOk="0">
                  <a:moveTo>
                    <a:pt x="1985" y="0"/>
                  </a:moveTo>
                  <a:lnTo>
                    <a:pt x="0" y="1985"/>
                  </a:lnTo>
                  <a:lnTo>
                    <a:pt x="3907" y="1985"/>
                  </a:lnTo>
                  <a:lnTo>
                    <a:pt x="19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4235;p58">
            <a:extLst>
              <a:ext uri="{FF2B5EF4-FFF2-40B4-BE49-F238E27FC236}">
                <a16:creationId xmlns:a16="http://schemas.microsoft.com/office/drawing/2014/main" id="{9EFCB748-0DA3-21C5-02B5-E361E746A4BA}"/>
              </a:ext>
            </a:extLst>
          </p:cNvPr>
          <p:cNvGrpSpPr/>
          <p:nvPr/>
        </p:nvGrpSpPr>
        <p:grpSpPr>
          <a:xfrm>
            <a:off x="4408325" y="3670099"/>
            <a:ext cx="327351" cy="327351"/>
            <a:chOff x="2676100" y="832575"/>
            <a:chExt cx="483125" cy="483125"/>
          </a:xfrm>
          <a:solidFill>
            <a:schemeClr val="bg1"/>
          </a:solidFill>
        </p:grpSpPr>
        <p:sp>
          <p:nvSpPr>
            <p:cNvPr id="19" name="Google Shape;4236;p58">
              <a:extLst>
                <a:ext uri="{FF2B5EF4-FFF2-40B4-BE49-F238E27FC236}">
                  <a16:creationId xmlns:a16="http://schemas.microsoft.com/office/drawing/2014/main" id="{C0F17CBC-7A39-DCDF-20E3-1FB75ECD8308}"/>
                </a:ext>
              </a:extLst>
            </p:cNvPr>
            <p:cNvSpPr/>
            <p:nvPr/>
          </p:nvSpPr>
          <p:spPr>
            <a:xfrm>
              <a:off x="2676100" y="83257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0351" y="1132"/>
                  </a:moveTo>
                  <a:lnTo>
                    <a:pt x="10562" y="2008"/>
                  </a:lnTo>
                  <a:cubicBezTo>
                    <a:pt x="10614" y="2226"/>
                    <a:pt x="10789" y="2392"/>
                    <a:pt x="11009" y="2434"/>
                  </a:cubicBezTo>
                  <a:cubicBezTo>
                    <a:pt x="12021" y="2618"/>
                    <a:pt x="12981" y="3014"/>
                    <a:pt x="13826" y="3596"/>
                  </a:cubicBezTo>
                  <a:cubicBezTo>
                    <a:pt x="13922" y="3663"/>
                    <a:pt x="14033" y="3696"/>
                    <a:pt x="14146" y="3696"/>
                  </a:cubicBezTo>
                  <a:cubicBezTo>
                    <a:pt x="14247" y="3696"/>
                    <a:pt x="14349" y="3669"/>
                    <a:pt x="14439" y="3614"/>
                  </a:cubicBezTo>
                  <a:lnTo>
                    <a:pt x="15179" y="3171"/>
                  </a:lnTo>
                  <a:lnTo>
                    <a:pt x="16154" y="4146"/>
                  </a:lnTo>
                  <a:lnTo>
                    <a:pt x="15711" y="4889"/>
                  </a:lnTo>
                  <a:cubicBezTo>
                    <a:pt x="15596" y="5079"/>
                    <a:pt x="15602" y="5317"/>
                    <a:pt x="15729" y="5499"/>
                  </a:cubicBezTo>
                  <a:cubicBezTo>
                    <a:pt x="16311" y="6344"/>
                    <a:pt x="16707" y="7304"/>
                    <a:pt x="16891" y="8316"/>
                  </a:cubicBezTo>
                  <a:cubicBezTo>
                    <a:pt x="16933" y="8536"/>
                    <a:pt x="17100" y="8711"/>
                    <a:pt x="17317" y="8763"/>
                  </a:cubicBezTo>
                  <a:lnTo>
                    <a:pt x="18193" y="8974"/>
                  </a:lnTo>
                  <a:lnTo>
                    <a:pt x="18193" y="10351"/>
                  </a:lnTo>
                  <a:lnTo>
                    <a:pt x="17317" y="10562"/>
                  </a:lnTo>
                  <a:cubicBezTo>
                    <a:pt x="17100" y="10614"/>
                    <a:pt x="16933" y="10789"/>
                    <a:pt x="16894" y="11009"/>
                  </a:cubicBezTo>
                  <a:cubicBezTo>
                    <a:pt x="16710" y="12021"/>
                    <a:pt x="16311" y="12981"/>
                    <a:pt x="15729" y="13826"/>
                  </a:cubicBezTo>
                  <a:cubicBezTo>
                    <a:pt x="15605" y="14007"/>
                    <a:pt x="15596" y="14246"/>
                    <a:pt x="15711" y="14436"/>
                  </a:cubicBezTo>
                  <a:lnTo>
                    <a:pt x="16154" y="15179"/>
                  </a:lnTo>
                  <a:lnTo>
                    <a:pt x="15179" y="16154"/>
                  </a:lnTo>
                  <a:lnTo>
                    <a:pt x="14439" y="15710"/>
                  </a:lnTo>
                  <a:cubicBezTo>
                    <a:pt x="14349" y="15656"/>
                    <a:pt x="14247" y="15629"/>
                    <a:pt x="14146" y="15629"/>
                  </a:cubicBezTo>
                  <a:cubicBezTo>
                    <a:pt x="14033" y="15629"/>
                    <a:pt x="13922" y="15662"/>
                    <a:pt x="13826" y="15729"/>
                  </a:cubicBezTo>
                  <a:cubicBezTo>
                    <a:pt x="12981" y="16311"/>
                    <a:pt x="12021" y="16707"/>
                    <a:pt x="11009" y="16891"/>
                  </a:cubicBezTo>
                  <a:cubicBezTo>
                    <a:pt x="10789" y="16933"/>
                    <a:pt x="10614" y="17099"/>
                    <a:pt x="10562" y="17317"/>
                  </a:cubicBezTo>
                  <a:lnTo>
                    <a:pt x="10351" y="18192"/>
                  </a:lnTo>
                  <a:lnTo>
                    <a:pt x="8974" y="18192"/>
                  </a:lnTo>
                  <a:lnTo>
                    <a:pt x="8763" y="17317"/>
                  </a:lnTo>
                  <a:cubicBezTo>
                    <a:pt x="8712" y="17099"/>
                    <a:pt x="8536" y="16933"/>
                    <a:pt x="8316" y="16891"/>
                  </a:cubicBezTo>
                  <a:cubicBezTo>
                    <a:pt x="7304" y="16707"/>
                    <a:pt x="6344" y="16311"/>
                    <a:pt x="5499" y="15729"/>
                  </a:cubicBezTo>
                  <a:cubicBezTo>
                    <a:pt x="5404" y="15662"/>
                    <a:pt x="5293" y="15629"/>
                    <a:pt x="5181" y="15629"/>
                  </a:cubicBezTo>
                  <a:cubicBezTo>
                    <a:pt x="5081" y="15629"/>
                    <a:pt x="4979" y="15656"/>
                    <a:pt x="4889" y="15710"/>
                  </a:cubicBezTo>
                  <a:lnTo>
                    <a:pt x="4146" y="16154"/>
                  </a:lnTo>
                  <a:lnTo>
                    <a:pt x="3171" y="15179"/>
                  </a:lnTo>
                  <a:lnTo>
                    <a:pt x="3615" y="14436"/>
                  </a:lnTo>
                  <a:cubicBezTo>
                    <a:pt x="3729" y="14246"/>
                    <a:pt x="3723" y="14007"/>
                    <a:pt x="3597" y="13826"/>
                  </a:cubicBezTo>
                  <a:cubicBezTo>
                    <a:pt x="3014" y="12981"/>
                    <a:pt x="2618" y="12021"/>
                    <a:pt x="2434" y="11009"/>
                  </a:cubicBezTo>
                  <a:cubicBezTo>
                    <a:pt x="2392" y="10789"/>
                    <a:pt x="2226" y="10614"/>
                    <a:pt x="2011" y="10562"/>
                  </a:cubicBezTo>
                  <a:lnTo>
                    <a:pt x="1133" y="10351"/>
                  </a:lnTo>
                  <a:lnTo>
                    <a:pt x="1133" y="8974"/>
                  </a:lnTo>
                  <a:lnTo>
                    <a:pt x="2008" y="8763"/>
                  </a:lnTo>
                  <a:cubicBezTo>
                    <a:pt x="2226" y="8711"/>
                    <a:pt x="2392" y="8536"/>
                    <a:pt x="2431" y="8316"/>
                  </a:cubicBezTo>
                  <a:cubicBezTo>
                    <a:pt x="2615" y="7304"/>
                    <a:pt x="3014" y="6344"/>
                    <a:pt x="3597" y="5499"/>
                  </a:cubicBezTo>
                  <a:cubicBezTo>
                    <a:pt x="3720" y="5317"/>
                    <a:pt x="3729" y="5079"/>
                    <a:pt x="3615" y="4889"/>
                  </a:cubicBezTo>
                  <a:lnTo>
                    <a:pt x="3171" y="4146"/>
                  </a:lnTo>
                  <a:lnTo>
                    <a:pt x="4146" y="3171"/>
                  </a:lnTo>
                  <a:lnTo>
                    <a:pt x="4889" y="3614"/>
                  </a:lnTo>
                  <a:cubicBezTo>
                    <a:pt x="4979" y="3669"/>
                    <a:pt x="5081" y="3696"/>
                    <a:pt x="5181" y="3696"/>
                  </a:cubicBezTo>
                  <a:cubicBezTo>
                    <a:pt x="5293" y="3696"/>
                    <a:pt x="5404" y="3663"/>
                    <a:pt x="5499" y="3596"/>
                  </a:cubicBezTo>
                  <a:cubicBezTo>
                    <a:pt x="6344" y="3014"/>
                    <a:pt x="7304" y="2618"/>
                    <a:pt x="8316" y="2434"/>
                  </a:cubicBezTo>
                  <a:cubicBezTo>
                    <a:pt x="8536" y="2392"/>
                    <a:pt x="8712" y="2226"/>
                    <a:pt x="8763" y="2008"/>
                  </a:cubicBezTo>
                  <a:lnTo>
                    <a:pt x="8974" y="1132"/>
                  </a:lnTo>
                  <a:close/>
                  <a:moveTo>
                    <a:pt x="8530" y="0"/>
                  </a:moveTo>
                  <a:cubicBezTo>
                    <a:pt x="8268" y="0"/>
                    <a:pt x="8041" y="178"/>
                    <a:pt x="7981" y="432"/>
                  </a:cubicBezTo>
                  <a:lnTo>
                    <a:pt x="7748" y="1392"/>
                  </a:lnTo>
                  <a:cubicBezTo>
                    <a:pt x="6833" y="1604"/>
                    <a:pt x="5961" y="1963"/>
                    <a:pt x="5167" y="2461"/>
                  </a:cubicBezTo>
                  <a:lnTo>
                    <a:pt x="4348" y="1969"/>
                  </a:lnTo>
                  <a:cubicBezTo>
                    <a:pt x="4260" y="1915"/>
                    <a:pt x="4160" y="1889"/>
                    <a:pt x="4061" y="1889"/>
                  </a:cubicBezTo>
                  <a:cubicBezTo>
                    <a:pt x="3913" y="1889"/>
                    <a:pt x="3767" y="1946"/>
                    <a:pt x="3657" y="2056"/>
                  </a:cubicBezTo>
                  <a:lnTo>
                    <a:pt x="2057" y="3657"/>
                  </a:lnTo>
                  <a:cubicBezTo>
                    <a:pt x="1872" y="3841"/>
                    <a:pt x="1839" y="4125"/>
                    <a:pt x="1972" y="4348"/>
                  </a:cubicBezTo>
                  <a:lnTo>
                    <a:pt x="2461" y="5163"/>
                  </a:lnTo>
                  <a:cubicBezTo>
                    <a:pt x="1963" y="5958"/>
                    <a:pt x="1604" y="6830"/>
                    <a:pt x="1395" y="7745"/>
                  </a:cubicBezTo>
                  <a:lnTo>
                    <a:pt x="435" y="7978"/>
                  </a:lnTo>
                  <a:cubicBezTo>
                    <a:pt x="179" y="8041"/>
                    <a:pt x="0" y="8267"/>
                    <a:pt x="0" y="8530"/>
                  </a:cubicBezTo>
                  <a:lnTo>
                    <a:pt x="0" y="10795"/>
                  </a:lnTo>
                  <a:cubicBezTo>
                    <a:pt x="0" y="11057"/>
                    <a:pt x="179" y="11284"/>
                    <a:pt x="432" y="11344"/>
                  </a:cubicBezTo>
                  <a:lnTo>
                    <a:pt x="1392" y="11580"/>
                  </a:lnTo>
                  <a:cubicBezTo>
                    <a:pt x="1604" y="12492"/>
                    <a:pt x="1963" y="13364"/>
                    <a:pt x="2461" y="14158"/>
                  </a:cubicBezTo>
                  <a:lnTo>
                    <a:pt x="1969" y="14977"/>
                  </a:lnTo>
                  <a:cubicBezTo>
                    <a:pt x="1836" y="15200"/>
                    <a:pt x="1872" y="15484"/>
                    <a:pt x="2057" y="15668"/>
                  </a:cubicBezTo>
                  <a:lnTo>
                    <a:pt x="3657" y="17268"/>
                  </a:lnTo>
                  <a:cubicBezTo>
                    <a:pt x="3766" y="17378"/>
                    <a:pt x="3911" y="17435"/>
                    <a:pt x="4057" y="17435"/>
                  </a:cubicBezTo>
                  <a:cubicBezTo>
                    <a:pt x="4157" y="17435"/>
                    <a:pt x="4258" y="17408"/>
                    <a:pt x="4348" y="17353"/>
                  </a:cubicBezTo>
                  <a:lnTo>
                    <a:pt x="5164" y="16864"/>
                  </a:lnTo>
                  <a:cubicBezTo>
                    <a:pt x="5958" y="17362"/>
                    <a:pt x="6830" y="17721"/>
                    <a:pt x="7745" y="17930"/>
                  </a:cubicBezTo>
                  <a:lnTo>
                    <a:pt x="7978" y="18890"/>
                  </a:lnTo>
                  <a:cubicBezTo>
                    <a:pt x="8041" y="19147"/>
                    <a:pt x="8268" y="19325"/>
                    <a:pt x="8530" y="19325"/>
                  </a:cubicBezTo>
                  <a:lnTo>
                    <a:pt x="10795" y="19325"/>
                  </a:lnTo>
                  <a:cubicBezTo>
                    <a:pt x="11058" y="19325"/>
                    <a:pt x="11284" y="19147"/>
                    <a:pt x="11344" y="18893"/>
                  </a:cubicBezTo>
                  <a:lnTo>
                    <a:pt x="11577" y="17933"/>
                  </a:lnTo>
                  <a:cubicBezTo>
                    <a:pt x="12492" y="17721"/>
                    <a:pt x="13364" y="17362"/>
                    <a:pt x="14159" y="16864"/>
                  </a:cubicBezTo>
                  <a:lnTo>
                    <a:pt x="14977" y="17356"/>
                  </a:lnTo>
                  <a:cubicBezTo>
                    <a:pt x="15066" y="17410"/>
                    <a:pt x="15166" y="17436"/>
                    <a:pt x="15266" y="17436"/>
                  </a:cubicBezTo>
                  <a:cubicBezTo>
                    <a:pt x="15413" y="17436"/>
                    <a:pt x="15559" y="17379"/>
                    <a:pt x="15668" y="17271"/>
                  </a:cubicBezTo>
                  <a:lnTo>
                    <a:pt x="17269" y="15668"/>
                  </a:lnTo>
                  <a:cubicBezTo>
                    <a:pt x="17453" y="15484"/>
                    <a:pt x="17489" y="15200"/>
                    <a:pt x="17353" y="14977"/>
                  </a:cubicBezTo>
                  <a:lnTo>
                    <a:pt x="16864" y="14161"/>
                  </a:lnTo>
                  <a:cubicBezTo>
                    <a:pt x="17362" y="13367"/>
                    <a:pt x="17722" y="12495"/>
                    <a:pt x="17930" y="11580"/>
                  </a:cubicBezTo>
                  <a:lnTo>
                    <a:pt x="18890" y="11347"/>
                  </a:lnTo>
                  <a:cubicBezTo>
                    <a:pt x="19147" y="11284"/>
                    <a:pt x="19325" y="11057"/>
                    <a:pt x="19325" y="10795"/>
                  </a:cubicBezTo>
                  <a:lnTo>
                    <a:pt x="19325" y="8530"/>
                  </a:lnTo>
                  <a:cubicBezTo>
                    <a:pt x="19325" y="8267"/>
                    <a:pt x="19147" y="8041"/>
                    <a:pt x="18893" y="7981"/>
                  </a:cubicBezTo>
                  <a:lnTo>
                    <a:pt x="17933" y="7748"/>
                  </a:lnTo>
                  <a:cubicBezTo>
                    <a:pt x="17722" y="6833"/>
                    <a:pt x="17362" y="5961"/>
                    <a:pt x="16864" y="5166"/>
                  </a:cubicBezTo>
                  <a:lnTo>
                    <a:pt x="17356" y="4348"/>
                  </a:lnTo>
                  <a:cubicBezTo>
                    <a:pt x="17489" y="4128"/>
                    <a:pt x="17453" y="3841"/>
                    <a:pt x="17272" y="3657"/>
                  </a:cubicBezTo>
                  <a:lnTo>
                    <a:pt x="15668" y="2056"/>
                  </a:lnTo>
                  <a:cubicBezTo>
                    <a:pt x="15559" y="1947"/>
                    <a:pt x="15415" y="1890"/>
                    <a:pt x="15268" y="1890"/>
                  </a:cubicBezTo>
                  <a:cubicBezTo>
                    <a:pt x="15168" y="1890"/>
                    <a:pt x="15068" y="1917"/>
                    <a:pt x="14977" y="1972"/>
                  </a:cubicBezTo>
                  <a:lnTo>
                    <a:pt x="14162" y="2461"/>
                  </a:lnTo>
                  <a:cubicBezTo>
                    <a:pt x="13367" y="1963"/>
                    <a:pt x="12495" y="1604"/>
                    <a:pt x="11580" y="1395"/>
                  </a:cubicBezTo>
                  <a:lnTo>
                    <a:pt x="11347" y="435"/>
                  </a:lnTo>
                  <a:cubicBezTo>
                    <a:pt x="11284" y="178"/>
                    <a:pt x="11058" y="0"/>
                    <a:pt x="107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237;p58">
              <a:extLst>
                <a:ext uri="{FF2B5EF4-FFF2-40B4-BE49-F238E27FC236}">
                  <a16:creationId xmlns:a16="http://schemas.microsoft.com/office/drawing/2014/main" id="{A975F5DB-1537-8665-3C52-9857347D6600}"/>
                </a:ext>
              </a:extLst>
            </p:cNvPr>
            <p:cNvSpPr/>
            <p:nvPr/>
          </p:nvSpPr>
          <p:spPr>
            <a:xfrm>
              <a:off x="2762000" y="918475"/>
              <a:ext cx="311400" cy="311400"/>
            </a:xfrm>
            <a:custGeom>
              <a:avLst/>
              <a:gdLst/>
              <a:ahLst/>
              <a:cxnLst/>
              <a:rect l="l" t="t" r="r" b="b"/>
              <a:pathLst>
                <a:path w="12456" h="12456" extrusionOk="0">
                  <a:moveTo>
                    <a:pt x="6227" y="1133"/>
                  </a:moveTo>
                  <a:cubicBezTo>
                    <a:pt x="9038" y="1133"/>
                    <a:pt x="11323" y="3418"/>
                    <a:pt x="11323" y="6226"/>
                  </a:cubicBezTo>
                  <a:cubicBezTo>
                    <a:pt x="11323" y="9038"/>
                    <a:pt x="9038" y="11323"/>
                    <a:pt x="6227" y="11323"/>
                  </a:cubicBezTo>
                  <a:cubicBezTo>
                    <a:pt x="3419" y="11323"/>
                    <a:pt x="1133" y="9038"/>
                    <a:pt x="1133" y="6226"/>
                  </a:cubicBezTo>
                  <a:cubicBezTo>
                    <a:pt x="1133" y="3418"/>
                    <a:pt x="3419" y="1133"/>
                    <a:pt x="6227" y="1133"/>
                  </a:cubicBezTo>
                  <a:close/>
                  <a:moveTo>
                    <a:pt x="6227" y="0"/>
                  </a:moveTo>
                  <a:cubicBezTo>
                    <a:pt x="2794" y="0"/>
                    <a:pt x="1" y="2793"/>
                    <a:pt x="1" y="6226"/>
                  </a:cubicBezTo>
                  <a:cubicBezTo>
                    <a:pt x="1" y="9663"/>
                    <a:pt x="2794" y="12456"/>
                    <a:pt x="6227" y="12456"/>
                  </a:cubicBezTo>
                  <a:cubicBezTo>
                    <a:pt x="9663" y="12456"/>
                    <a:pt x="12456" y="9663"/>
                    <a:pt x="12456" y="6226"/>
                  </a:cubicBezTo>
                  <a:cubicBezTo>
                    <a:pt x="12456" y="2793"/>
                    <a:pt x="9663" y="0"/>
                    <a:pt x="62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21" name="Google Shape;4238;p58">
              <a:extLst>
                <a:ext uri="{FF2B5EF4-FFF2-40B4-BE49-F238E27FC236}">
                  <a16:creationId xmlns:a16="http://schemas.microsoft.com/office/drawing/2014/main" id="{89D1067B-4E26-26B8-464D-05D66BA19A4C}"/>
                </a:ext>
              </a:extLst>
            </p:cNvPr>
            <p:cNvSpPr/>
            <p:nvPr/>
          </p:nvSpPr>
          <p:spPr>
            <a:xfrm>
              <a:off x="2810775" y="975076"/>
              <a:ext cx="206024" cy="198149"/>
            </a:xfrm>
            <a:custGeom>
              <a:avLst/>
              <a:gdLst/>
              <a:ahLst/>
              <a:cxnLst/>
              <a:rect l="l" t="t" r="r" b="b"/>
              <a:pathLst>
                <a:path w="8241" h="7926" extrusionOk="0">
                  <a:moveTo>
                    <a:pt x="4275" y="1132"/>
                  </a:moveTo>
                  <a:cubicBezTo>
                    <a:pt x="4640" y="1132"/>
                    <a:pt x="5009" y="1203"/>
                    <a:pt x="5360" y="1348"/>
                  </a:cubicBezTo>
                  <a:cubicBezTo>
                    <a:pt x="6416" y="1785"/>
                    <a:pt x="7108" y="2818"/>
                    <a:pt x="7108" y="3962"/>
                  </a:cubicBezTo>
                  <a:cubicBezTo>
                    <a:pt x="7105" y="5527"/>
                    <a:pt x="5840" y="6792"/>
                    <a:pt x="4276" y="6795"/>
                  </a:cubicBezTo>
                  <a:cubicBezTo>
                    <a:pt x="3131" y="6795"/>
                    <a:pt x="2099" y="6103"/>
                    <a:pt x="1661" y="5046"/>
                  </a:cubicBezTo>
                  <a:cubicBezTo>
                    <a:pt x="1223" y="3987"/>
                    <a:pt x="1465" y="2770"/>
                    <a:pt x="2274" y="1961"/>
                  </a:cubicBezTo>
                  <a:cubicBezTo>
                    <a:pt x="2815" y="1419"/>
                    <a:pt x="3538" y="1132"/>
                    <a:pt x="4275" y="1132"/>
                  </a:cubicBezTo>
                  <a:close/>
                  <a:moveTo>
                    <a:pt x="4276" y="1"/>
                  </a:moveTo>
                  <a:cubicBezTo>
                    <a:pt x="2672" y="1"/>
                    <a:pt x="1229" y="964"/>
                    <a:pt x="613" y="2447"/>
                  </a:cubicBezTo>
                  <a:cubicBezTo>
                    <a:pt x="0" y="3926"/>
                    <a:pt x="341" y="5632"/>
                    <a:pt x="1474" y="6764"/>
                  </a:cubicBezTo>
                  <a:cubicBezTo>
                    <a:pt x="2232" y="7523"/>
                    <a:pt x="3247" y="7926"/>
                    <a:pt x="4279" y="7926"/>
                  </a:cubicBezTo>
                  <a:cubicBezTo>
                    <a:pt x="4789" y="7926"/>
                    <a:pt x="5302" y="7828"/>
                    <a:pt x="5791" y="7625"/>
                  </a:cubicBezTo>
                  <a:cubicBezTo>
                    <a:pt x="7274" y="7009"/>
                    <a:pt x="8240" y="5566"/>
                    <a:pt x="8240" y="3962"/>
                  </a:cubicBezTo>
                  <a:cubicBezTo>
                    <a:pt x="8237" y="1773"/>
                    <a:pt x="6465" y="1"/>
                    <a:pt x="42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95CEB31-2795-EBC4-A235-C37C07D6D748}"/>
              </a:ext>
            </a:extLst>
          </p:cNvPr>
          <p:cNvGrpSpPr/>
          <p:nvPr/>
        </p:nvGrpSpPr>
        <p:grpSpPr>
          <a:xfrm>
            <a:off x="1630445" y="1957292"/>
            <a:ext cx="505666" cy="457766"/>
            <a:chOff x="1653122" y="1938867"/>
            <a:chExt cx="505666" cy="514696"/>
          </a:xfrm>
        </p:grpSpPr>
        <p:grpSp>
          <p:nvGrpSpPr>
            <p:cNvPr id="24" name="Google Shape;6981;p64">
              <a:extLst>
                <a:ext uri="{FF2B5EF4-FFF2-40B4-BE49-F238E27FC236}">
                  <a16:creationId xmlns:a16="http://schemas.microsoft.com/office/drawing/2014/main" id="{1D2D1CDA-9D95-728C-57A8-185ABAC7D466}"/>
                </a:ext>
              </a:extLst>
            </p:cNvPr>
            <p:cNvGrpSpPr/>
            <p:nvPr/>
          </p:nvGrpSpPr>
          <p:grpSpPr>
            <a:xfrm flipV="1">
              <a:off x="1653122" y="1944841"/>
              <a:ext cx="235403" cy="161433"/>
              <a:chOff x="-27721750" y="3598250"/>
              <a:chExt cx="297750" cy="191400"/>
            </a:xfrm>
            <a:solidFill>
              <a:schemeClr val="bg1"/>
            </a:solidFill>
          </p:grpSpPr>
          <p:sp>
            <p:nvSpPr>
              <p:cNvPr id="25" name="Google Shape;6982;p64">
                <a:extLst>
                  <a:ext uri="{FF2B5EF4-FFF2-40B4-BE49-F238E27FC236}">
                    <a16:creationId xmlns:a16="http://schemas.microsoft.com/office/drawing/2014/main" id="{7B6C6BA9-B81B-DE9E-476D-F251044CAED3}"/>
                  </a:ext>
                </a:extLst>
              </p:cNvPr>
              <p:cNvSpPr/>
              <p:nvPr/>
            </p:nvSpPr>
            <p:spPr>
              <a:xfrm>
                <a:off x="-27616201" y="3651800"/>
                <a:ext cx="86650" cy="86676"/>
              </a:xfrm>
              <a:custGeom>
                <a:avLst/>
                <a:gdLst/>
                <a:ahLst/>
                <a:cxnLst/>
                <a:rect l="l" t="t" r="r" b="b"/>
                <a:pathLst>
                  <a:path w="3466" h="3467" extrusionOk="0">
                    <a:moveTo>
                      <a:pt x="1386" y="662"/>
                    </a:moveTo>
                    <a:cubicBezTo>
                      <a:pt x="1764" y="662"/>
                      <a:pt x="2079" y="977"/>
                      <a:pt x="2079" y="1387"/>
                    </a:cubicBezTo>
                    <a:cubicBezTo>
                      <a:pt x="2079" y="1765"/>
                      <a:pt x="1764" y="2080"/>
                      <a:pt x="1386" y="2080"/>
                    </a:cubicBezTo>
                    <a:cubicBezTo>
                      <a:pt x="977" y="2080"/>
                      <a:pt x="662" y="1765"/>
                      <a:pt x="662" y="1387"/>
                    </a:cubicBezTo>
                    <a:cubicBezTo>
                      <a:pt x="662" y="977"/>
                      <a:pt x="977" y="662"/>
                      <a:pt x="1386" y="662"/>
                    </a:cubicBezTo>
                    <a:close/>
                    <a:moveTo>
                      <a:pt x="1733" y="1"/>
                    </a:moveTo>
                    <a:cubicBezTo>
                      <a:pt x="788" y="1"/>
                      <a:pt x="0" y="788"/>
                      <a:pt x="0" y="1733"/>
                    </a:cubicBezTo>
                    <a:cubicBezTo>
                      <a:pt x="0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" name="Google Shape;6983;p64">
                <a:extLst>
                  <a:ext uri="{FF2B5EF4-FFF2-40B4-BE49-F238E27FC236}">
                    <a16:creationId xmlns:a16="http://schemas.microsoft.com/office/drawing/2014/main" id="{DC4425DE-1A4D-908C-3BC7-985831715171}"/>
                  </a:ext>
                </a:extLst>
              </p:cNvPr>
              <p:cNvSpPr/>
              <p:nvPr/>
            </p:nvSpPr>
            <p:spPr>
              <a:xfrm>
                <a:off x="-27721750" y="3598250"/>
                <a:ext cx="297750" cy="191400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7656" extrusionOk="0">
                    <a:moveTo>
                      <a:pt x="5955" y="1418"/>
                    </a:moveTo>
                    <a:cubicBezTo>
                      <a:pt x="7278" y="1418"/>
                      <a:pt x="8381" y="2521"/>
                      <a:pt x="8381" y="3875"/>
                    </a:cubicBezTo>
                    <a:cubicBezTo>
                      <a:pt x="8381" y="5199"/>
                      <a:pt x="7278" y="6301"/>
                      <a:pt x="5955" y="6301"/>
                    </a:cubicBezTo>
                    <a:cubicBezTo>
                      <a:pt x="4600" y="6301"/>
                      <a:pt x="3497" y="5199"/>
                      <a:pt x="3497" y="3875"/>
                    </a:cubicBezTo>
                    <a:cubicBezTo>
                      <a:pt x="3497" y="2521"/>
                      <a:pt x="4600" y="1418"/>
                      <a:pt x="5955" y="1418"/>
                    </a:cubicBezTo>
                    <a:close/>
                    <a:moveTo>
                      <a:pt x="5955" y="0"/>
                    </a:moveTo>
                    <a:cubicBezTo>
                      <a:pt x="2710" y="0"/>
                      <a:pt x="189" y="3466"/>
                      <a:pt x="95" y="3623"/>
                    </a:cubicBezTo>
                    <a:cubicBezTo>
                      <a:pt x="0" y="3749"/>
                      <a:pt x="0" y="3907"/>
                      <a:pt x="95" y="4033"/>
                    </a:cubicBezTo>
                    <a:cubicBezTo>
                      <a:pt x="189" y="4190"/>
                      <a:pt x="2773" y="7656"/>
                      <a:pt x="5955" y="7656"/>
                    </a:cubicBezTo>
                    <a:cubicBezTo>
                      <a:pt x="9137" y="7656"/>
                      <a:pt x="11689" y="4190"/>
                      <a:pt x="11815" y="4033"/>
                    </a:cubicBezTo>
                    <a:cubicBezTo>
                      <a:pt x="11909" y="3907"/>
                      <a:pt x="11909" y="3749"/>
                      <a:pt x="11815" y="3623"/>
                    </a:cubicBezTo>
                    <a:cubicBezTo>
                      <a:pt x="11689" y="3466"/>
                      <a:pt x="9168" y="0"/>
                      <a:pt x="59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7" name="Google Shape;6981;p64">
              <a:extLst>
                <a:ext uri="{FF2B5EF4-FFF2-40B4-BE49-F238E27FC236}">
                  <a16:creationId xmlns:a16="http://schemas.microsoft.com/office/drawing/2014/main" id="{06263854-3982-3D71-9D49-ED27E3718F28}"/>
                </a:ext>
              </a:extLst>
            </p:cNvPr>
            <p:cNvGrpSpPr/>
            <p:nvPr/>
          </p:nvGrpSpPr>
          <p:grpSpPr>
            <a:xfrm flipV="1">
              <a:off x="1923385" y="1944841"/>
              <a:ext cx="235403" cy="161433"/>
              <a:chOff x="-27721750" y="3598250"/>
              <a:chExt cx="297750" cy="191400"/>
            </a:xfrm>
            <a:solidFill>
              <a:schemeClr val="bg1"/>
            </a:solidFill>
          </p:grpSpPr>
          <p:sp>
            <p:nvSpPr>
              <p:cNvPr id="28" name="Google Shape;6982;p64">
                <a:extLst>
                  <a:ext uri="{FF2B5EF4-FFF2-40B4-BE49-F238E27FC236}">
                    <a16:creationId xmlns:a16="http://schemas.microsoft.com/office/drawing/2014/main" id="{82174964-BFB9-7DFD-8D23-32CA562C6EBA}"/>
                  </a:ext>
                </a:extLst>
              </p:cNvPr>
              <p:cNvSpPr/>
              <p:nvPr/>
            </p:nvSpPr>
            <p:spPr>
              <a:xfrm>
                <a:off x="-27616200" y="3651800"/>
                <a:ext cx="8665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3466" h="3467" extrusionOk="0">
                    <a:moveTo>
                      <a:pt x="1386" y="662"/>
                    </a:moveTo>
                    <a:cubicBezTo>
                      <a:pt x="1764" y="662"/>
                      <a:pt x="2079" y="977"/>
                      <a:pt x="2079" y="1387"/>
                    </a:cubicBezTo>
                    <a:cubicBezTo>
                      <a:pt x="2079" y="1765"/>
                      <a:pt x="1764" y="2080"/>
                      <a:pt x="1386" y="2080"/>
                    </a:cubicBezTo>
                    <a:cubicBezTo>
                      <a:pt x="977" y="2080"/>
                      <a:pt x="662" y="1765"/>
                      <a:pt x="662" y="1387"/>
                    </a:cubicBezTo>
                    <a:cubicBezTo>
                      <a:pt x="662" y="977"/>
                      <a:pt x="977" y="662"/>
                      <a:pt x="1386" y="662"/>
                    </a:cubicBezTo>
                    <a:close/>
                    <a:moveTo>
                      <a:pt x="1733" y="1"/>
                    </a:moveTo>
                    <a:cubicBezTo>
                      <a:pt x="788" y="1"/>
                      <a:pt x="0" y="788"/>
                      <a:pt x="0" y="1733"/>
                    </a:cubicBezTo>
                    <a:cubicBezTo>
                      <a:pt x="0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6983;p64">
                <a:extLst>
                  <a:ext uri="{FF2B5EF4-FFF2-40B4-BE49-F238E27FC236}">
                    <a16:creationId xmlns:a16="http://schemas.microsoft.com/office/drawing/2014/main" id="{66421010-54B9-5695-0CD4-0AE73D687729}"/>
                  </a:ext>
                </a:extLst>
              </p:cNvPr>
              <p:cNvSpPr/>
              <p:nvPr/>
            </p:nvSpPr>
            <p:spPr>
              <a:xfrm>
                <a:off x="-27721750" y="3598250"/>
                <a:ext cx="297750" cy="191400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7656" extrusionOk="0">
                    <a:moveTo>
                      <a:pt x="5955" y="1418"/>
                    </a:moveTo>
                    <a:cubicBezTo>
                      <a:pt x="7278" y="1418"/>
                      <a:pt x="8381" y="2521"/>
                      <a:pt x="8381" y="3875"/>
                    </a:cubicBezTo>
                    <a:cubicBezTo>
                      <a:pt x="8381" y="5199"/>
                      <a:pt x="7278" y="6301"/>
                      <a:pt x="5955" y="6301"/>
                    </a:cubicBezTo>
                    <a:cubicBezTo>
                      <a:pt x="4600" y="6301"/>
                      <a:pt x="3497" y="5199"/>
                      <a:pt x="3497" y="3875"/>
                    </a:cubicBezTo>
                    <a:cubicBezTo>
                      <a:pt x="3497" y="2521"/>
                      <a:pt x="4600" y="1418"/>
                      <a:pt x="5955" y="1418"/>
                    </a:cubicBezTo>
                    <a:close/>
                    <a:moveTo>
                      <a:pt x="5955" y="0"/>
                    </a:moveTo>
                    <a:cubicBezTo>
                      <a:pt x="2710" y="0"/>
                      <a:pt x="189" y="3466"/>
                      <a:pt x="95" y="3623"/>
                    </a:cubicBezTo>
                    <a:cubicBezTo>
                      <a:pt x="0" y="3749"/>
                      <a:pt x="0" y="3907"/>
                      <a:pt x="95" y="4033"/>
                    </a:cubicBezTo>
                    <a:cubicBezTo>
                      <a:pt x="189" y="4190"/>
                      <a:pt x="2773" y="7656"/>
                      <a:pt x="5955" y="7656"/>
                    </a:cubicBezTo>
                    <a:cubicBezTo>
                      <a:pt x="9137" y="7656"/>
                      <a:pt x="11689" y="4190"/>
                      <a:pt x="11815" y="4033"/>
                    </a:cubicBezTo>
                    <a:cubicBezTo>
                      <a:pt x="11909" y="3907"/>
                      <a:pt x="11909" y="3749"/>
                      <a:pt x="11815" y="3623"/>
                    </a:cubicBezTo>
                    <a:cubicBezTo>
                      <a:pt x="11689" y="3466"/>
                      <a:pt x="9168" y="0"/>
                      <a:pt x="59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CB9EEE-3482-A0FD-10AC-FAA3D9E15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9936" y="1938867"/>
              <a:ext cx="156032" cy="1581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oogle Shape;5955;p61">
              <a:extLst>
                <a:ext uri="{FF2B5EF4-FFF2-40B4-BE49-F238E27FC236}">
                  <a16:creationId xmlns:a16="http://schemas.microsoft.com/office/drawing/2014/main" id="{6CD2BB7B-2058-D2B1-47F9-29FBE487CDA4}"/>
                </a:ext>
              </a:extLst>
            </p:cNvPr>
            <p:cNvGrpSpPr/>
            <p:nvPr/>
          </p:nvGrpSpPr>
          <p:grpSpPr>
            <a:xfrm>
              <a:off x="1789046" y="2140616"/>
              <a:ext cx="315903" cy="312947"/>
              <a:chOff x="-47154800" y="3569100"/>
              <a:chExt cx="300100" cy="300100"/>
            </a:xfrm>
            <a:solidFill>
              <a:schemeClr val="bg1"/>
            </a:solidFill>
          </p:grpSpPr>
          <p:sp>
            <p:nvSpPr>
              <p:cNvPr id="34" name="Google Shape;5956;p61">
                <a:extLst>
                  <a:ext uri="{FF2B5EF4-FFF2-40B4-BE49-F238E27FC236}">
                    <a16:creationId xmlns:a16="http://schemas.microsoft.com/office/drawing/2014/main" id="{9F5A8FA9-0943-E937-6C63-385E7F4E765E}"/>
                  </a:ext>
                </a:extLst>
              </p:cNvPr>
              <p:cNvSpPr/>
              <p:nvPr/>
            </p:nvSpPr>
            <p:spPr>
              <a:xfrm>
                <a:off x="-46994900" y="3728200"/>
                <a:ext cx="140200" cy="141000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5640" extrusionOk="0">
                    <a:moveTo>
                      <a:pt x="2772" y="1733"/>
                    </a:moveTo>
                    <a:cubicBezTo>
                      <a:pt x="2961" y="1733"/>
                      <a:pt x="3119" y="1891"/>
                      <a:pt x="3119" y="2111"/>
                    </a:cubicBezTo>
                    <a:lnTo>
                      <a:pt x="3119" y="2458"/>
                    </a:lnTo>
                    <a:lnTo>
                      <a:pt x="3466" y="2458"/>
                    </a:lnTo>
                    <a:cubicBezTo>
                      <a:pt x="3655" y="2458"/>
                      <a:pt x="3812" y="2615"/>
                      <a:pt x="3812" y="2804"/>
                    </a:cubicBezTo>
                    <a:cubicBezTo>
                      <a:pt x="3812" y="2994"/>
                      <a:pt x="3655" y="3151"/>
                      <a:pt x="3466" y="3151"/>
                    </a:cubicBezTo>
                    <a:lnTo>
                      <a:pt x="2772" y="3151"/>
                    </a:lnTo>
                    <a:cubicBezTo>
                      <a:pt x="2552" y="3151"/>
                      <a:pt x="2426" y="2994"/>
                      <a:pt x="2426" y="2804"/>
                    </a:cubicBezTo>
                    <a:lnTo>
                      <a:pt x="2426" y="2111"/>
                    </a:lnTo>
                    <a:cubicBezTo>
                      <a:pt x="2426" y="1891"/>
                      <a:pt x="2552" y="1733"/>
                      <a:pt x="2772" y="1733"/>
                    </a:cubicBezTo>
                    <a:close/>
                    <a:moveTo>
                      <a:pt x="2457" y="1"/>
                    </a:moveTo>
                    <a:cubicBezTo>
                      <a:pt x="1197" y="158"/>
                      <a:pt x="221" y="1166"/>
                      <a:pt x="0" y="2458"/>
                    </a:cubicBezTo>
                    <a:lnTo>
                      <a:pt x="693" y="2458"/>
                    </a:lnTo>
                    <a:cubicBezTo>
                      <a:pt x="882" y="2458"/>
                      <a:pt x="1040" y="2615"/>
                      <a:pt x="1040" y="2804"/>
                    </a:cubicBezTo>
                    <a:cubicBezTo>
                      <a:pt x="1040" y="2994"/>
                      <a:pt x="882" y="3151"/>
                      <a:pt x="693" y="3151"/>
                    </a:cubicBezTo>
                    <a:lnTo>
                      <a:pt x="0" y="3151"/>
                    </a:lnTo>
                    <a:cubicBezTo>
                      <a:pt x="158" y="4411"/>
                      <a:pt x="1166" y="5451"/>
                      <a:pt x="2457" y="5608"/>
                    </a:cubicBezTo>
                    <a:lnTo>
                      <a:pt x="2457" y="4947"/>
                    </a:lnTo>
                    <a:cubicBezTo>
                      <a:pt x="2457" y="4726"/>
                      <a:pt x="2615" y="4569"/>
                      <a:pt x="2804" y="4569"/>
                    </a:cubicBezTo>
                    <a:cubicBezTo>
                      <a:pt x="2993" y="4569"/>
                      <a:pt x="3151" y="4726"/>
                      <a:pt x="3151" y="4947"/>
                    </a:cubicBezTo>
                    <a:lnTo>
                      <a:pt x="3151" y="5640"/>
                    </a:lnTo>
                    <a:cubicBezTo>
                      <a:pt x="4411" y="5482"/>
                      <a:pt x="5450" y="4474"/>
                      <a:pt x="5608" y="3214"/>
                    </a:cubicBezTo>
                    <a:lnTo>
                      <a:pt x="4883" y="3214"/>
                    </a:lnTo>
                    <a:cubicBezTo>
                      <a:pt x="4694" y="3151"/>
                      <a:pt x="4537" y="2994"/>
                      <a:pt x="4537" y="2804"/>
                    </a:cubicBezTo>
                    <a:cubicBezTo>
                      <a:pt x="4537" y="2615"/>
                      <a:pt x="4694" y="2458"/>
                      <a:pt x="4883" y="2458"/>
                    </a:cubicBezTo>
                    <a:lnTo>
                      <a:pt x="5608" y="2458"/>
                    </a:lnTo>
                    <a:cubicBezTo>
                      <a:pt x="5450" y="1198"/>
                      <a:pt x="4411" y="221"/>
                      <a:pt x="3151" y="1"/>
                    </a:cubicBezTo>
                    <a:lnTo>
                      <a:pt x="3151" y="694"/>
                    </a:lnTo>
                    <a:cubicBezTo>
                      <a:pt x="3151" y="883"/>
                      <a:pt x="2993" y="1040"/>
                      <a:pt x="2804" y="1040"/>
                    </a:cubicBezTo>
                    <a:cubicBezTo>
                      <a:pt x="2615" y="1040"/>
                      <a:pt x="2457" y="883"/>
                      <a:pt x="2457" y="694"/>
                    </a:cubicBezTo>
                    <a:lnTo>
                      <a:pt x="245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5957;p61">
                <a:extLst>
                  <a:ext uri="{FF2B5EF4-FFF2-40B4-BE49-F238E27FC236}">
                    <a16:creationId xmlns:a16="http://schemas.microsoft.com/office/drawing/2014/main" id="{52A7BC51-3ABF-457C-224B-D878C42A1FFD}"/>
                  </a:ext>
                </a:extLst>
              </p:cNvPr>
              <p:cNvSpPr/>
              <p:nvPr/>
            </p:nvSpPr>
            <p:spPr>
              <a:xfrm>
                <a:off x="-46978375" y="3574625"/>
                <a:ext cx="47275" cy="47275"/>
              </a:xfrm>
              <a:custGeom>
                <a:avLst/>
                <a:gdLst/>
                <a:ahLst/>
                <a:cxnLst/>
                <a:rect l="l" t="t" r="r" b="b"/>
                <a:pathLst>
                  <a:path w="1891" h="1891" extrusionOk="0">
                    <a:moveTo>
                      <a:pt x="1" y="0"/>
                    </a:moveTo>
                    <a:lnTo>
                      <a:pt x="1" y="1890"/>
                    </a:lnTo>
                    <a:lnTo>
                      <a:pt x="1891" y="189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5958;p61">
                <a:extLst>
                  <a:ext uri="{FF2B5EF4-FFF2-40B4-BE49-F238E27FC236}">
                    <a16:creationId xmlns:a16="http://schemas.microsoft.com/office/drawing/2014/main" id="{2F6C2E4A-77BB-C460-9E28-7D33A95B806E}"/>
                  </a:ext>
                </a:extLst>
              </p:cNvPr>
              <p:cNvSpPr/>
              <p:nvPr/>
            </p:nvSpPr>
            <p:spPr>
              <a:xfrm>
                <a:off x="-47075250" y="3665200"/>
                <a:ext cx="15775" cy="15775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1" y="0"/>
                    </a:moveTo>
                    <a:lnTo>
                      <a:pt x="1" y="630"/>
                    </a:lnTo>
                    <a:cubicBezTo>
                      <a:pt x="316" y="536"/>
                      <a:pt x="505" y="284"/>
                      <a:pt x="63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5959;p61">
                <a:extLst>
                  <a:ext uri="{FF2B5EF4-FFF2-40B4-BE49-F238E27FC236}">
                    <a16:creationId xmlns:a16="http://schemas.microsoft.com/office/drawing/2014/main" id="{38963269-2E59-94D2-EFD5-5BC8B926698F}"/>
                  </a:ext>
                </a:extLst>
              </p:cNvPr>
              <p:cNvSpPr/>
              <p:nvPr/>
            </p:nvSpPr>
            <p:spPr>
              <a:xfrm>
                <a:off x="-47110700" y="3631325"/>
                <a:ext cx="512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9" extrusionOk="0">
                    <a:moveTo>
                      <a:pt x="1040" y="0"/>
                    </a:moveTo>
                    <a:cubicBezTo>
                      <a:pt x="473" y="0"/>
                      <a:pt x="1" y="473"/>
                      <a:pt x="1" y="1040"/>
                    </a:cubicBezTo>
                    <a:cubicBezTo>
                      <a:pt x="1" y="1481"/>
                      <a:pt x="253" y="1859"/>
                      <a:pt x="694" y="2048"/>
                    </a:cubicBezTo>
                    <a:lnTo>
                      <a:pt x="694" y="1040"/>
                    </a:lnTo>
                    <a:cubicBezTo>
                      <a:pt x="694" y="851"/>
                      <a:pt x="851" y="694"/>
                      <a:pt x="1040" y="694"/>
                    </a:cubicBezTo>
                    <a:lnTo>
                      <a:pt x="2049" y="694"/>
                    </a:lnTo>
                    <a:cubicBezTo>
                      <a:pt x="1891" y="316"/>
                      <a:pt x="1482" y="0"/>
                      <a:pt x="10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5960;p61">
                <a:extLst>
                  <a:ext uri="{FF2B5EF4-FFF2-40B4-BE49-F238E27FC236}">
                    <a16:creationId xmlns:a16="http://schemas.microsoft.com/office/drawing/2014/main" id="{5AA0627E-63D2-ED59-C02C-B0FDA2C01FD3}"/>
                  </a:ext>
                </a:extLst>
              </p:cNvPr>
              <p:cNvSpPr/>
              <p:nvPr/>
            </p:nvSpPr>
            <p:spPr>
              <a:xfrm>
                <a:off x="-47075250" y="3665200"/>
                <a:ext cx="53575" cy="54350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2174" extrusionOk="0">
                    <a:moveTo>
                      <a:pt x="1355" y="0"/>
                    </a:moveTo>
                    <a:cubicBezTo>
                      <a:pt x="1229" y="693"/>
                      <a:pt x="694" y="1229"/>
                      <a:pt x="1" y="1386"/>
                    </a:cubicBezTo>
                    <a:lnTo>
                      <a:pt x="1" y="2174"/>
                    </a:lnTo>
                    <a:lnTo>
                      <a:pt x="2143" y="2174"/>
                    </a:lnTo>
                    <a:lnTo>
                      <a:pt x="214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5961;p61">
                <a:extLst>
                  <a:ext uri="{FF2B5EF4-FFF2-40B4-BE49-F238E27FC236}">
                    <a16:creationId xmlns:a16="http://schemas.microsoft.com/office/drawing/2014/main" id="{FB612B81-E42F-6E32-CB2E-1F2C6F360F4C}"/>
                  </a:ext>
                </a:extLst>
              </p:cNvPr>
              <p:cNvSpPr/>
              <p:nvPr/>
            </p:nvSpPr>
            <p:spPr>
              <a:xfrm>
                <a:off x="-47154800" y="3569100"/>
                <a:ext cx="229225" cy="300100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12004" extrusionOk="0">
                    <a:moveTo>
                      <a:pt x="2804" y="1765"/>
                    </a:moveTo>
                    <a:cubicBezTo>
                      <a:pt x="3687" y="1765"/>
                      <a:pt x="4380" y="2363"/>
                      <a:pt x="4537" y="3183"/>
                    </a:cubicBezTo>
                    <a:lnTo>
                      <a:pt x="5703" y="3183"/>
                    </a:lnTo>
                    <a:cubicBezTo>
                      <a:pt x="5892" y="3183"/>
                      <a:pt x="6049" y="3340"/>
                      <a:pt x="6049" y="3529"/>
                    </a:cubicBezTo>
                    <a:lnTo>
                      <a:pt x="6049" y="6428"/>
                    </a:lnTo>
                    <a:cubicBezTo>
                      <a:pt x="6049" y="6617"/>
                      <a:pt x="5892" y="6774"/>
                      <a:pt x="5703" y="6774"/>
                    </a:cubicBezTo>
                    <a:lnTo>
                      <a:pt x="2804" y="6774"/>
                    </a:lnTo>
                    <a:cubicBezTo>
                      <a:pt x="2615" y="6774"/>
                      <a:pt x="2458" y="6617"/>
                      <a:pt x="2458" y="6428"/>
                    </a:cubicBezTo>
                    <a:lnTo>
                      <a:pt x="2458" y="5262"/>
                    </a:lnTo>
                    <a:cubicBezTo>
                      <a:pt x="1670" y="5104"/>
                      <a:pt x="1040" y="4411"/>
                      <a:pt x="1040" y="3529"/>
                    </a:cubicBezTo>
                    <a:cubicBezTo>
                      <a:pt x="1040" y="2552"/>
                      <a:pt x="1828" y="1765"/>
                      <a:pt x="2804" y="1765"/>
                    </a:cubicBezTo>
                    <a:close/>
                    <a:moveTo>
                      <a:pt x="4191" y="8160"/>
                    </a:moveTo>
                    <a:cubicBezTo>
                      <a:pt x="4380" y="8160"/>
                      <a:pt x="4537" y="8318"/>
                      <a:pt x="4537" y="8507"/>
                    </a:cubicBezTo>
                    <a:cubicBezTo>
                      <a:pt x="4537" y="8696"/>
                      <a:pt x="4380" y="8853"/>
                      <a:pt x="4191" y="8853"/>
                    </a:cubicBezTo>
                    <a:lnTo>
                      <a:pt x="1387" y="8853"/>
                    </a:lnTo>
                    <a:cubicBezTo>
                      <a:pt x="1198" y="8853"/>
                      <a:pt x="1040" y="8696"/>
                      <a:pt x="1040" y="8507"/>
                    </a:cubicBezTo>
                    <a:cubicBezTo>
                      <a:pt x="1040" y="8318"/>
                      <a:pt x="1198" y="8160"/>
                      <a:pt x="1387" y="8160"/>
                    </a:cubicBezTo>
                    <a:close/>
                    <a:moveTo>
                      <a:pt x="4191" y="9515"/>
                    </a:moveTo>
                    <a:cubicBezTo>
                      <a:pt x="4380" y="9515"/>
                      <a:pt x="4537" y="9673"/>
                      <a:pt x="4537" y="9893"/>
                    </a:cubicBezTo>
                    <a:cubicBezTo>
                      <a:pt x="4537" y="10082"/>
                      <a:pt x="4380" y="10240"/>
                      <a:pt x="4191" y="10240"/>
                    </a:cubicBezTo>
                    <a:lnTo>
                      <a:pt x="1387" y="10240"/>
                    </a:lnTo>
                    <a:cubicBezTo>
                      <a:pt x="1198" y="10240"/>
                      <a:pt x="1040" y="10082"/>
                      <a:pt x="1040" y="9893"/>
                    </a:cubicBezTo>
                    <a:cubicBezTo>
                      <a:pt x="1040" y="9673"/>
                      <a:pt x="1198" y="9515"/>
                      <a:pt x="1387" y="9515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lnTo>
                      <a:pt x="1" y="11657"/>
                    </a:lnTo>
                    <a:cubicBezTo>
                      <a:pt x="1" y="11846"/>
                      <a:pt x="158" y="12004"/>
                      <a:pt x="347" y="12004"/>
                    </a:cubicBezTo>
                    <a:lnTo>
                      <a:pt x="7089" y="12004"/>
                    </a:lnTo>
                    <a:cubicBezTo>
                      <a:pt x="6239" y="11342"/>
                      <a:pt x="5671" y="10366"/>
                      <a:pt x="5671" y="9168"/>
                    </a:cubicBezTo>
                    <a:cubicBezTo>
                      <a:pt x="5671" y="7247"/>
                      <a:pt x="7247" y="5671"/>
                      <a:pt x="9168" y="5671"/>
                    </a:cubicBezTo>
                    <a:lnTo>
                      <a:pt x="9168" y="2805"/>
                    </a:lnTo>
                    <a:lnTo>
                      <a:pt x="6711" y="2805"/>
                    </a:lnTo>
                    <a:cubicBezTo>
                      <a:pt x="6522" y="2805"/>
                      <a:pt x="6365" y="2647"/>
                      <a:pt x="6365" y="2426"/>
                    </a:cubicBezTo>
                    <a:lnTo>
                      <a:pt x="63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" grpId="0" animBg="1"/>
      <p:bldP spid="278" grpId="0" animBg="1"/>
      <p:bldP spid="279" grpId="0" animBg="1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2">
          <a:extLst>
            <a:ext uri="{FF2B5EF4-FFF2-40B4-BE49-F238E27FC236}">
              <a16:creationId xmlns:a16="http://schemas.microsoft.com/office/drawing/2014/main" id="{6961FF0C-0E84-0451-1838-04302DCE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AD049E-5AAA-D70E-DB03-824A3E5B6348}"/>
              </a:ext>
            </a:extLst>
          </p:cNvPr>
          <p:cNvSpPr txBox="1"/>
          <p:nvPr/>
        </p:nvSpPr>
        <p:spPr>
          <a:xfrm>
            <a:off x="3145968" y="411510"/>
            <a:ext cx="2852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2800" b="1" dirty="0">
                <a:cs typeface="+mj-cs"/>
              </a:rPr>
              <a:t>الگوریتم </a:t>
            </a:r>
            <a:r>
              <a:rPr lang="en-US" sz="2800" b="1" dirty="0">
                <a:cs typeface="+mj-cs"/>
              </a:rPr>
              <a:t>DBSCAN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E99B1-4D45-64DA-DBCF-D5F0AE13F56E}"/>
              </a:ext>
            </a:extLst>
          </p:cNvPr>
          <p:cNvSpPr txBox="1"/>
          <p:nvPr/>
        </p:nvSpPr>
        <p:spPr>
          <a:xfrm>
            <a:off x="1331640" y="1203598"/>
            <a:ext cx="7200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500" dirty="0">
                <a:cs typeface="+mn-cs"/>
              </a:rPr>
              <a:t>DBSCAN</a:t>
            </a:r>
            <a:r>
              <a:rPr lang="fa-IR" sz="1500" dirty="0">
                <a:cs typeface="+mn-cs"/>
              </a:rPr>
              <a:t> </a:t>
            </a:r>
            <a:r>
              <a:rPr lang="ar-SA" sz="1500" dirty="0">
                <a:cs typeface="+mn-cs"/>
              </a:rPr>
              <a:t>یک الگوریتم خوشه‌بندی مبتنی بر چگالی است که خوشه‌ها را به عنوان مناطقی با چگالی بالا تشخیص می‌دهد و نقاط پرت را به عنوان ناهنجاری جدا می‌کند.</a:t>
            </a:r>
            <a:endParaRPr lang="en-US" sz="1500" dirty="0"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D980F-FA05-549F-37C9-29352EC9417A}"/>
              </a:ext>
            </a:extLst>
          </p:cNvPr>
          <p:cNvSpPr txBox="1"/>
          <p:nvPr/>
        </p:nvSpPr>
        <p:spPr>
          <a:xfrm>
            <a:off x="3960440" y="1757596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500" dirty="0">
                <a:solidFill>
                  <a:srgbClr val="FF0000"/>
                </a:solidFill>
                <a:cs typeface="+mn-cs"/>
              </a:rPr>
              <a:t>نیازی به تعیین تعداد خوشه‌ها ندارد.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76150-EEE1-2822-9750-85F2AB20B632}"/>
              </a:ext>
            </a:extLst>
          </p:cNvPr>
          <p:cNvSpPr txBox="1"/>
          <p:nvPr/>
        </p:nvSpPr>
        <p:spPr>
          <a:xfrm>
            <a:off x="1815537" y="2617832"/>
            <a:ext cx="6716903" cy="2219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>
                <a:cs typeface="+mn-cs"/>
              </a:rPr>
              <a:t>هایپر </a:t>
            </a:r>
            <a:r>
              <a:rPr lang="ar-SA" dirty="0">
                <a:cs typeface="+mn-cs"/>
              </a:rPr>
              <a:t>پارامترها: 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) </a:t>
            </a:r>
            <a:r>
              <a:rPr lang="el-GR" dirty="0">
                <a:cs typeface="+mn-cs"/>
              </a:rPr>
              <a:t>ε</a:t>
            </a:r>
            <a:r>
              <a:rPr lang="ar-SA" dirty="0">
                <a:cs typeface="+mn-cs"/>
              </a:rPr>
              <a:t>اپسیلون): شعاع همسایگی.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cs typeface="+mn-cs"/>
              </a:rPr>
              <a:t>MinPts</a:t>
            </a:r>
            <a:r>
              <a:rPr lang="fa-IR" dirty="0">
                <a:cs typeface="+mn-cs"/>
              </a:rPr>
              <a:t>: </a:t>
            </a:r>
            <a:r>
              <a:rPr lang="ar-SA" dirty="0">
                <a:cs typeface="+mn-cs"/>
              </a:rPr>
              <a:t>حداقل تعداد نقاط برای تشکیل یک خوشه.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SA" dirty="0">
                <a:cs typeface="+mn-cs"/>
              </a:rPr>
              <a:t>تعاریف: 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>
                <a:cs typeface="+mn-cs"/>
              </a:rPr>
              <a:t>نقطه هسته</a:t>
            </a:r>
            <a:r>
              <a:rPr lang="en-US" dirty="0">
                <a:cs typeface="+mn-cs"/>
              </a:rPr>
              <a:t> </a:t>
            </a:r>
            <a:r>
              <a:rPr lang="en-US" dirty="0">
                <a:latin typeface="+mn-lt"/>
                <a:cs typeface="+mn-cs"/>
              </a:rPr>
              <a:t>:</a:t>
            </a:r>
            <a:r>
              <a:rPr lang="en-US" dirty="0">
                <a:cs typeface="+mn-cs"/>
              </a:rPr>
              <a:t>(Core Point) </a:t>
            </a:r>
            <a:r>
              <a:rPr lang="ar-SA" dirty="0">
                <a:cs typeface="+mn-cs"/>
              </a:rPr>
              <a:t>نقطه‌ای که حداقل </a:t>
            </a:r>
            <a:r>
              <a:rPr lang="en-US" dirty="0" err="1">
                <a:cs typeface="+mn-cs"/>
              </a:rPr>
              <a:t>MinPts</a:t>
            </a:r>
            <a:r>
              <a:rPr lang="fa-IR" dirty="0">
                <a:cs typeface="+mn-cs"/>
              </a:rPr>
              <a:t> </a:t>
            </a:r>
            <a:r>
              <a:rPr lang="ar-SA" dirty="0">
                <a:cs typeface="+mn-cs"/>
              </a:rPr>
              <a:t>نقطه در فاصله</a:t>
            </a:r>
            <a:r>
              <a:rPr lang="en-US" dirty="0">
                <a:cs typeface="+mn-cs"/>
              </a:rPr>
              <a:t> </a:t>
            </a:r>
            <a:r>
              <a:rPr lang="el-GR" dirty="0">
                <a:cs typeface="+mn-cs"/>
              </a:rPr>
              <a:t>ε</a:t>
            </a:r>
            <a:r>
              <a:rPr lang="en-US" dirty="0">
                <a:cs typeface="+mn-cs"/>
              </a:rPr>
              <a:t> </a:t>
            </a:r>
            <a:r>
              <a:rPr lang="ar-SA" dirty="0">
                <a:cs typeface="+mn-cs"/>
              </a:rPr>
              <a:t>آن باشد.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>
                <a:cs typeface="+mn-cs"/>
              </a:rPr>
              <a:t>نقطه مرزی </a:t>
            </a:r>
            <a:r>
              <a:rPr lang="fa-IR" dirty="0">
                <a:cs typeface="+mn-cs"/>
              </a:rPr>
              <a:t>(</a:t>
            </a:r>
            <a:r>
              <a:rPr lang="en-US" dirty="0">
                <a:cs typeface="+mn-cs"/>
              </a:rPr>
              <a:t>Border Point</a:t>
            </a:r>
            <a:r>
              <a:rPr lang="fa-IR" dirty="0">
                <a:cs typeface="+mn-cs"/>
              </a:rPr>
              <a:t>)</a:t>
            </a:r>
            <a:r>
              <a:rPr lang="en-US" dirty="0">
                <a:latin typeface="+mn-lt"/>
                <a:cs typeface="+mn-cs"/>
              </a:rPr>
              <a:t> :</a:t>
            </a:r>
            <a:r>
              <a:rPr lang="ar-SA" dirty="0">
                <a:cs typeface="+mn-cs"/>
              </a:rPr>
              <a:t>در فاصله </a:t>
            </a:r>
            <a:r>
              <a:rPr lang="en-US" dirty="0">
                <a:cs typeface="+mn-cs"/>
              </a:rPr>
              <a:t> </a:t>
            </a:r>
            <a:r>
              <a:rPr lang="el-GR" dirty="0">
                <a:cs typeface="+mn-cs"/>
              </a:rPr>
              <a:t>ε</a:t>
            </a:r>
            <a:r>
              <a:rPr lang="ar-SA" dirty="0">
                <a:cs typeface="+mn-cs"/>
              </a:rPr>
              <a:t>یک نقطه هسته، اما خودش هسته نیست.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>
                <a:cs typeface="+mn-cs"/>
              </a:rPr>
              <a:t>نویز </a:t>
            </a:r>
            <a:r>
              <a:rPr lang="fa-IR" dirty="0">
                <a:cs typeface="+mn-cs"/>
              </a:rPr>
              <a:t>(</a:t>
            </a:r>
            <a:r>
              <a:rPr lang="en-US" dirty="0">
                <a:cs typeface="+mn-cs"/>
              </a:rPr>
              <a:t>Noise</a:t>
            </a:r>
            <a:r>
              <a:rPr lang="fa-IR" dirty="0">
                <a:cs typeface="+mn-cs"/>
              </a:rPr>
              <a:t>): </a:t>
            </a:r>
            <a:r>
              <a:rPr lang="ar-SA" dirty="0">
                <a:cs typeface="+mn-cs"/>
              </a:rPr>
              <a:t>قطه‌ای که نه هسته است و نه مرزی.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35E6C-D020-320C-5070-E57C75A312D2}"/>
              </a:ext>
            </a:extLst>
          </p:cNvPr>
          <p:cNvSpPr txBox="1"/>
          <p:nvPr/>
        </p:nvSpPr>
        <p:spPr>
          <a:xfrm>
            <a:off x="7127888" y="2202418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1800" dirty="0">
                <a:latin typeface="+mn-lt"/>
                <a:cs typeface="+mn-cs"/>
              </a:rPr>
              <a:t>مفاهیم اصلی</a:t>
            </a:r>
          </a:p>
        </p:txBody>
      </p:sp>
      <p:pic>
        <p:nvPicPr>
          <p:cNvPr id="1026" name="Picture 2" descr="DBSCAN | data science study blog">
            <a:extLst>
              <a:ext uri="{FF2B5EF4-FFF2-40B4-BE49-F238E27FC236}">
                <a16:creationId xmlns:a16="http://schemas.microsoft.com/office/drawing/2014/main" id="{56E08DFC-FBBA-E280-7AA6-F0D749EB0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71" y="1822715"/>
            <a:ext cx="2618793" cy="190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62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CF3F300D-2928-BD67-56A8-4EF6DBD2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52E89A5-6075-FD2E-08E4-AECDCF45D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99742"/>
            <a:ext cx="2948150" cy="2331463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C7A36E-BAAA-0911-6B0B-1BC56E05E340}"/>
              </a:ext>
            </a:extLst>
          </p:cNvPr>
          <p:cNvSpPr txBox="1"/>
          <p:nvPr/>
        </p:nvSpPr>
        <p:spPr>
          <a:xfrm>
            <a:off x="2891892" y="195486"/>
            <a:ext cx="3360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800" b="1" dirty="0">
                <a:latin typeface="+mn-lt"/>
                <a:cs typeface="+mj-cs"/>
              </a:rPr>
              <a:t>نحوه عملکرد </a:t>
            </a:r>
            <a:r>
              <a:rPr lang="en-US" sz="2800" b="1" dirty="0">
                <a:latin typeface="+mn-lt"/>
                <a:cs typeface="+mj-cs"/>
              </a:rPr>
              <a:t> DBSCAN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F1E131-E89A-EF96-DADC-09C5B93C3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7411" y="771550"/>
                <a:ext cx="6126589" cy="23275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marR="0" lvl="0" indent="-342900" algn="r" defTabSz="914400" rtl="1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kumimoji="0" lang="ar-SA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انتخاب نقطه شروع</a:t>
                </a:r>
                <a:r>
                  <a:rPr kumimoji="0" lang="fa-IR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:</a:t>
                </a:r>
                <a:r>
                  <a:rPr kumimoji="0" lang="fa-IR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ar-SA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یک نقطه تصادفی از داده‌ها انتخاب می‌شود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cs typeface="+mn-cs"/>
                </a:endParaRPr>
              </a:p>
              <a:p>
                <a:pPr marL="342900" marR="0" lvl="0" indent="-342900" algn="r" defTabSz="914400" rtl="1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kumimoji="0" lang="ar-SA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بررسی همسایگان</a:t>
                </a:r>
                <a:r>
                  <a:rPr kumimoji="0" lang="fa-IR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:</a:t>
                </a:r>
                <a:r>
                  <a:rPr kumimoji="0" lang="fa-IR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ar-SA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نقاط در فاصله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ε </a:t>
                </a:r>
                <a:r>
                  <a:rPr kumimoji="0" lang="ar-SA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(اپسیلون) بررسی می‌شوند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cs typeface="+mn-cs"/>
                </a:endParaRPr>
              </a:p>
              <a:p>
                <a:pPr marL="342900" marR="0" lvl="0" indent="-342900" algn="r" defTabSz="914400" rtl="1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kumimoji="0" lang="ar-SA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تعیین نقطه هسته</a:t>
                </a:r>
                <a:r>
                  <a:rPr kumimoji="0" lang="fa-IR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:</a:t>
                </a:r>
                <a:r>
                  <a:rPr kumimoji="0" lang="fa-IR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ar-SA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اگر تعداد همسایه‌ها</a:t>
                </a:r>
                <a:r>
                  <a:rPr lang="fa-IR" altLang="en-US" dirty="0">
                    <a:solidFill>
                      <a:schemeClr val="tx1"/>
                    </a:solidFill>
                    <a:latin typeface="+mn-lt"/>
                    <a:cs typeface="+mn-cs"/>
                  </a:rPr>
                  <a:t> </a:t>
                </a:r>
                <a:r>
                  <a:rPr lang="en-US" altLang="en-US" dirty="0">
                    <a:solidFill>
                      <a:schemeClr val="tx1"/>
                    </a:solidFill>
                    <a:latin typeface="+mn-lt"/>
                    <a:cs typeface="+mn-cs"/>
                  </a:rPr>
                  <a:t> </a:t>
                </a:r>
                <a:r>
                  <a:rPr lang="en-US" altLang="en-US" dirty="0" err="1">
                    <a:solidFill>
                      <a:schemeClr val="tx1"/>
                    </a:solidFill>
                    <a:latin typeface="+mn-lt"/>
                    <a:cs typeface="+mn-cs"/>
                  </a:rPr>
                  <a:t>MinPts</a:t>
                </a:r>
                <a:r>
                  <a:rPr lang="en-US" altLang="en-US" dirty="0">
                    <a:solidFill>
                      <a:schemeClr val="tx1"/>
                    </a:solidFill>
                    <a:latin typeface="+mn-lt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kumimoji="0" lang="ar-SA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باشد، نقطه هسته می‌شود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cs typeface="+mn-cs"/>
                </a:endParaRPr>
              </a:p>
              <a:p>
                <a:pPr marL="342900" marR="0" lvl="0" indent="-342900" algn="r" defTabSz="914400" rtl="1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kumimoji="0" lang="ar-SA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تشکیل خوشه</a:t>
                </a:r>
                <a:r>
                  <a:rPr kumimoji="0" lang="fa-IR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:</a:t>
                </a:r>
                <a:r>
                  <a:rPr kumimoji="0" lang="fa-IR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ar-SA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یک خوشه جدید با نقطه هسته و همسایه‌هایش ساخته می‌شود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cs typeface="+mn-cs"/>
                </a:endParaRPr>
              </a:p>
              <a:p>
                <a:pPr marL="342900" marR="0" lvl="0" indent="-342900" algn="r" defTabSz="914400" rtl="1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kumimoji="0" lang="ar-SA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گسترش خوشه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: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fa-IR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ar-SA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همسایه‌های نقاط هسته به خوشه اضافه می‌شوند (بازگشتی)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cs typeface="+mn-cs"/>
                </a:endParaRPr>
              </a:p>
              <a:p>
                <a:pPr marL="342900" marR="0" lvl="0" indent="-342900" algn="r" defTabSz="914400" rtl="1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kumimoji="0" lang="ar-SA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تکرار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: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fa-IR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ar-SA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برای نقاط بررسی‌نشده ادامه می‌یابد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cs typeface="+mn-cs"/>
                </a:endParaRPr>
              </a:p>
              <a:p>
                <a:pPr marL="342900" marR="0" lvl="0" indent="-342900" algn="r" defTabSz="914400" rtl="1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kumimoji="0" lang="ar-SA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شناسایی نویز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: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fa-IR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 </a:t>
                </a:r>
                <a:r>
                  <a:rPr kumimoji="0" lang="ar-SA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cs typeface="+mn-cs"/>
                  </a:rPr>
                  <a:t>نقاط بدون خوشه به‌عنوان نویز مشخص می‌شوند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cs typeface="+mn-cs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F1E131-E89A-EF96-DADC-09C5B93C3A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7411" y="771550"/>
                <a:ext cx="6126589" cy="2327560"/>
              </a:xfrm>
              <a:prstGeom prst="rect">
                <a:avLst/>
              </a:prstGeom>
              <a:blipFill>
                <a:blip r:embed="rId4"/>
                <a:stretch>
                  <a:fillRect r="-896" b="-47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10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8262F956-CAC0-0F5C-7CB5-B360E40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>
            <a:extLst>
              <a:ext uri="{FF2B5EF4-FFF2-40B4-BE49-F238E27FC236}">
                <a16:creationId xmlns:a16="http://schemas.microsoft.com/office/drawing/2014/main" id="{604B7A2A-5FD5-BF51-D985-2CED30BDA756}"/>
              </a:ext>
            </a:extLst>
          </p:cNvPr>
          <p:cNvSpPr txBox="1"/>
          <p:nvPr/>
        </p:nvSpPr>
        <p:spPr>
          <a:xfrm>
            <a:off x="251520" y="1419622"/>
            <a:ext cx="768819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ar-SA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فاصله بین دو نقطه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) </a:t>
            </a:r>
            <a:r>
              <a:rPr lang="en-US" alt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||xᵢ - xⱼ|| 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:</a:t>
            </a:r>
            <a:r>
              <a:rPr lang="ar-SA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معمولاً اقلیدسی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(</a:t>
            </a:r>
          </a:p>
          <a:p>
            <a:pPr marL="285750" lvl="0" indent="-28575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ar-SA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مجموعه همسایگی</a:t>
            </a:r>
            <a:r>
              <a:rPr lang="fa-IR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Nε</a:t>
            </a:r>
            <a:r>
              <a:rPr lang="en-US" alt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(xᵢ) = {xⱼ ∈ X : ||xᵢ - xⱼ|| ≤ ε} </a:t>
            </a:r>
          </a:p>
          <a:p>
            <a:pPr marL="285750" lvl="0" indent="-28575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ar-SA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شرط نقطه هسته</a:t>
            </a:r>
            <a:r>
              <a:rPr lang="fa-IR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|</a:t>
            </a:r>
            <a:r>
              <a:rPr lang="en-US" altLang="en-US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Nε</a:t>
            </a:r>
            <a:r>
              <a:rPr lang="en-US" alt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(xᵢ)| ≥ </a:t>
            </a:r>
            <a:r>
              <a:rPr lang="en-US" altLang="en-US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MinPts</a:t>
            </a:r>
            <a:r>
              <a:rPr lang="en-US" alt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 </a:t>
            </a:r>
          </a:p>
          <a:p>
            <a:pPr marL="285750" lvl="0" indent="-28575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ar-SA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خوشه: مجموعه‌ای از نقاط که از طریق نقاط هسته به هم متصل‌اند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 (Density-Reachable) 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9D7EBC5-F877-9A44-1FF2-7B6B2C78E1A6}"/>
              </a:ext>
            </a:extLst>
          </p:cNvPr>
          <p:cNvSpPr txBox="1"/>
          <p:nvPr/>
        </p:nvSpPr>
        <p:spPr>
          <a:xfrm>
            <a:off x="3355160" y="339502"/>
            <a:ext cx="2433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2400" dirty="0">
                <a:cs typeface="+mj-cs"/>
              </a:rPr>
              <a:t>ریاضیات </a:t>
            </a:r>
            <a:r>
              <a:rPr lang="en-US" sz="2400" dirty="0">
                <a:cs typeface="+mj-cs"/>
              </a:rPr>
              <a:t>DBSCAN</a:t>
            </a:r>
          </a:p>
        </p:txBody>
      </p:sp>
    </p:spTree>
    <p:extLst>
      <p:ext uri="{BB962C8B-B14F-4D97-AF65-F5344CB8AC3E}">
        <p14:creationId xmlns:p14="http://schemas.microsoft.com/office/powerpoint/2010/main" val="17344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1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F946C551-6437-F640-FDB5-4140C1539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D1D7479-D3D2-AC8F-A06B-13D249F8099E}"/>
                  </a:ext>
                </a:extLst>
              </p:cNvPr>
              <p:cNvSpPr txBox="1"/>
              <p:nvPr/>
            </p:nvSpPr>
            <p:spPr>
              <a:xfrm>
                <a:off x="1916033" y="930852"/>
                <a:ext cx="5311932" cy="3281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>
                  <a:lnSpc>
                    <a:spcPct val="150000"/>
                  </a:lnSpc>
                </a:pPr>
                <a:r>
                  <a:rPr lang="ar-SA" sz="1600" dirty="0">
                    <a:cs typeface="+mn-cs"/>
                  </a:rPr>
                  <a:t>داده‌ها: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X = {(1, 1), (1, 2), (2, 1), (5, 5), (6, 6)}</a:t>
                </a:r>
                <a:br>
                  <a:rPr lang="en-US" sz="1600" dirty="0">
                    <a:cs typeface="+mn-cs"/>
                  </a:rPr>
                </a:br>
                <a:r>
                  <a:rPr lang="ar-SA" sz="1600" dirty="0">
                    <a:cs typeface="+mn-cs"/>
                  </a:rPr>
                  <a:t>پارامترها: </a:t>
                </a:r>
                <a:r>
                  <a:rPr lang="el-GR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ε = 2,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MinPts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= 3</a:t>
                </a:r>
              </a:p>
              <a:p>
                <a:pPr marL="342900" indent="-342900" algn="r" rtl="1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ar-SA" sz="1600" b="1" dirty="0">
                    <a:cs typeface="+mn-cs"/>
                  </a:rPr>
                  <a:t>نقطه (1, 1):</a:t>
                </a:r>
                <a:endParaRPr lang="en-US" altLang="en-US" sz="16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lvl="0" algn="r" rt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→ </a:t>
                </a:r>
                <a:r>
                  <a:rPr lang="en-US" altLang="en-US" sz="1600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Nε</a:t>
                </a:r>
                <a:r>
                  <a:rPr lang="en-US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= {(1, 1), (1, 2), (2, 1)} → |</a:t>
                </a:r>
                <a:r>
                  <a:rPr lang="en-US" altLang="en-US" sz="1600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Nε</a:t>
                </a:r>
                <a:r>
                  <a:rPr lang="en-US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| = 3</a:t>
                </a:r>
                <a:r>
                  <a:rPr lang="fa-IR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  <a:r>
                  <a:rPr lang="ar-SA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+mn-cs"/>
                  </a:rPr>
                  <a:t>هسته</a:t>
                </a:r>
                <a:endParaRPr lang="en-US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+mn-cs"/>
                </a:endParaRPr>
              </a:p>
              <a:p>
                <a:pPr lvl="0" algn="r" rt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+mn-cs"/>
                  </a:rPr>
                  <a:t>	</a:t>
                </a:r>
                <a:r>
                  <a:rPr lang="ar-SA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+mn-cs"/>
                  </a:rPr>
                  <a:t>خوشه</a:t>
                </a:r>
                <a:r>
                  <a:rPr lang="fa-IR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+mn-cs"/>
                  </a:rPr>
                  <a:t>: </a:t>
                </a:r>
                <a:r>
                  <a:rPr lang="fa-IR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{</a:t>
                </a:r>
                <a:r>
                  <a:rPr lang="en-US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(1, 2), (2, 1), (1, 1)</a:t>
                </a:r>
                <a:r>
                  <a:rPr lang="fa-IR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}</a:t>
                </a:r>
                <a:endParaRPr lang="en-US" altLang="en-US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342900" indent="-342900" algn="r" rtl="1">
                  <a:lnSpc>
                    <a:spcPct val="200000"/>
                  </a:lnSpc>
                  <a:buFont typeface="+mj-lt"/>
                  <a:buAutoNum type="arabicPeriod" startAt="2"/>
                </a:pPr>
                <a:r>
                  <a:rPr lang="ar-SA" sz="1600" b="1" dirty="0">
                    <a:cs typeface="+mn-cs"/>
                  </a:rPr>
                  <a:t>نقطه (</a:t>
                </a:r>
                <a:r>
                  <a:rPr lang="en-US" sz="1600" b="1" dirty="0">
                    <a:cs typeface="+mn-cs"/>
                  </a:rPr>
                  <a:t>5</a:t>
                </a:r>
                <a:r>
                  <a:rPr lang="ar-SA" sz="1600" b="1" dirty="0">
                    <a:cs typeface="+mn-cs"/>
                  </a:rPr>
                  <a:t>, </a:t>
                </a:r>
                <a:r>
                  <a:rPr lang="en-US" sz="1600" b="1" dirty="0">
                    <a:cs typeface="+mn-cs"/>
                  </a:rPr>
                  <a:t>5</a:t>
                </a:r>
                <a:r>
                  <a:rPr lang="ar-SA" sz="1600" b="1" dirty="0">
                    <a:cs typeface="+mn-cs"/>
                  </a:rPr>
                  <a:t>):</a:t>
                </a:r>
                <a:endParaRPr lang="en-US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+mn-cs"/>
                </a:endParaRPr>
              </a:p>
              <a:p>
                <a:pPr algn="r" rt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ar-SA" sz="1600" smtClean="0">
                          <a:solidFill>
                            <a:schemeClr val="tx1"/>
                          </a:solidFill>
                          <a:cs typeface="+mn-cs"/>
                        </a:rPr>
                        <m:t>خوشه نمی‌شود</m:t>
                      </m:r>
                      <m:r>
                        <m:rPr>
                          <m:nor/>
                        </m:rPr>
                        <a:rPr lang="en-US" sz="1600" b="0" i="0" smtClean="0">
                          <a:solidFill>
                            <a:schemeClr val="tx1"/>
                          </a:solidFill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{(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), (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 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 = 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2 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  <m:r>
                        <m:rPr>
                          <m:nor/>
                        </m:rPr>
                        <a:rPr lang="el-GR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ar-SA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 algn="r" rtl="1">
                  <a:lnSpc>
                    <a:spcPct val="200000"/>
                  </a:lnSpc>
                  <a:buFont typeface="+mj-lt"/>
                  <a:buAutoNum type="arabicPeriod" startAt="3"/>
                </a:pPr>
                <a:r>
                  <a:rPr lang="ar-SA" sz="1600" b="1" dirty="0">
                    <a:cs typeface="+mn-cs"/>
                  </a:rPr>
                  <a:t>نتیجه: یک خوشه و دو </a:t>
                </a:r>
                <a:r>
                  <a:rPr lang="ar-SA" sz="1600" b="1">
                    <a:cs typeface="+mn-cs"/>
                  </a:rPr>
                  <a:t>نقطه نویز</a:t>
                </a:r>
                <a:endParaRPr lang="ar-SA" sz="1600" b="1" dirty="0">
                  <a:cs typeface="+mn-cs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D1D7479-D3D2-AC8F-A06B-13D249F80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033" y="930852"/>
                <a:ext cx="5311932" cy="3281796"/>
              </a:xfrm>
              <a:prstGeom prst="rect">
                <a:avLst/>
              </a:prstGeom>
              <a:blipFill>
                <a:blip r:embed="rId3"/>
                <a:stretch>
                  <a:fillRect r="-573" b="-1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TextBox 172">
            <a:extLst>
              <a:ext uri="{FF2B5EF4-FFF2-40B4-BE49-F238E27FC236}">
                <a16:creationId xmlns:a16="http://schemas.microsoft.com/office/drawing/2014/main" id="{C14A760D-3E4D-EAE8-03D8-91481925F94E}"/>
              </a:ext>
            </a:extLst>
          </p:cNvPr>
          <p:cNvSpPr txBox="1"/>
          <p:nvPr/>
        </p:nvSpPr>
        <p:spPr>
          <a:xfrm>
            <a:off x="4236811" y="315863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400" b="1" dirty="0">
                <a:latin typeface="Vazirmatn RD" pitchFamily="2" charset="-78"/>
                <a:cs typeface="B Titr" panose="00000700000000000000" pitchFamily="2" charset="-78"/>
              </a:rPr>
              <a:t>مثال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B01519-12E1-2097-4087-C77FB918B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34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17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2">
          <a:extLst>
            <a:ext uri="{FF2B5EF4-FFF2-40B4-BE49-F238E27FC236}">
              <a16:creationId xmlns:a16="http://schemas.microsoft.com/office/drawing/2014/main" id="{A2B3CD60-18DC-EAC3-B61E-BB85243A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7764F-0FCC-A52E-3419-EA8C119B9F00}"/>
              </a:ext>
            </a:extLst>
          </p:cNvPr>
          <p:cNvSpPr txBox="1"/>
          <p:nvPr/>
        </p:nvSpPr>
        <p:spPr>
          <a:xfrm>
            <a:off x="2195736" y="411510"/>
            <a:ext cx="4979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800" b="1" dirty="0">
                <a:cs typeface="+mj-cs"/>
              </a:rPr>
              <a:t>تفاوت بین </a:t>
            </a:r>
            <a:r>
              <a:rPr lang="en-US" sz="2800" b="1" dirty="0">
                <a:cs typeface="+mj-cs"/>
              </a:rPr>
              <a:t> K-Means </a:t>
            </a:r>
            <a:r>
              <a:rPr lang="fa-IR" sz="2800" b="1" dirty="0">
                <a:cs typeface="+mj-cs"/>
              </a:rPr>
              <a:t>و</a:t>
            </a:r>
            <a:r>
              <a:rPr lang="en-US" sz="2800" b="1" dirty="0">
                <a:cs typeface="+mj-cs"/>
              </a:rPr>
              <a:t> DBSCAN</a:t>
            </a:r>
          </a:p>
        </p:txBody>
      </p:sp>
      <p:pic>
        <p:nvPicPr>
          <p:cNvPr id="4102" name="Picture 6" descr="مقایسه الگوریتم‌های DBSCAN و K-Means">
            <a:extLst>
              <a:ext uri="{FF2B5EF4-FFF2-40B4-BE49-F238E27FC236}">
                <a16:creationId xmlns:a16="http://schemas.microsoft.com/office/drawing/2014/main" id="{74CDB190-AE88-FDCE-4A16-83FE13BB4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35646"/>
            <a:ext cx="7244971" cy="2702669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69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/>
          <p:nvPr/>
        </p:nvSpPr>
        <p:spPr>
          <a:xfrm>
            <a:off x="251521" y="1017576"/>
            <a:ext cx="8424936" cy="2562286"/>
          </a:xfrm>
          <a:prstGeom prst="snip2DiagRect">
            <a:avLst>
              <a:gd name="adj1" fmla="val 1825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graphicFrame>
        <p:nvGraphicFramePr>
          <p:cNvPr id="387" name="Google Shape;387;p42"/>
          <p:cNvGraphicFramePr/>
          <p:nvPr>
            <p:extLst>
              <p:ext uri="{D42A27DB-BD31-4B8C-83A1-F6EECF244321}">
                <p14:modId xmlns:p14="http://schemas.microsoft.com/office/powerpoint/2010/main" val="3065712170"/>
              </p:ext>
            </p:extLst>
          </p:nvPr>
        </p:nvGraphicFramePr>
        <p:xfrm>
          <a:off x="251519" y="1089578"/>
          <a:ext cx="5616625" cy="2490283"/>
        </p:xfrm>
        <a:graphic>
          <a:graphicData uri="http://schemas.openxmlformats.org/drawingml/2006/table">
            <a:tbl>
              <a:tblPr>
                <a:noFill/>
                <a:tableStyleId>{9E3CADCC-DB96-45F9-8729-C7A6F4BBFB54}</a:tableStyleId>
              </a:tblPr>
              <a:tblGrid>
                <a:gridCol w="112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34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b="1" dirty="0">
                          <a:solidFill>
                            <a:schemeClr val="lt1"/>
                          </a:solidFill>
                          <a:latin typeface="+mn-lt"/>
                          <a:ea typeface="Exo 2"/>
                          <a:cs typeface="+mn-cs"/>
                          <a:sym typeface="Exo 2"/>
                        </a:rPr>
                        <a:t>نوع الگوریتم</a:t>
                      </a:r>
                      <a:endParaRPr b="1" dirty="0">
                        <a:solidFill>
                          <a:schemeClr val="lt1"/>
                        </a:solidFill>
                        <a:latin typeface="+mn-lt"/>
                        <a:ea typeface="Exo 2"/>
                        <a:cs typeface="+mn-cs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b="1" dirty="0">
                          <a:solidFill>
                            <a:schemeClr val="lt1"/>
                          </a:solidFill>
                          <a:latin typeface="Exo 2"/>
                          <a:ea typeface="Exo 2"/>
                          <a:cs typeface="+mn-cs"/>
                          <a:sym typeface="Exo 2"/>
                        </a:rPr>
                        <a:t>نیاز به تعداد خوشه</a:t>
                      </a:r>
                      <a:endParaRPr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+mn-cs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b="1" dirty="0">
                          <a:solidFill>
                            <a:schemeClr val="lt1"/>
                          </a:solidFill>
                          <a:latin typeface="Exo 2"/>
                          <a:ea typeface="Exo 2"/>
                          <a:cs typeface="+mn-cs"/>
                          <a:sym typeface="Exo 2"/>
                        </a:rPr>
                        <a:t>پارامتر ورودی</a:t>
                      </a:r>
                      <a:endParaRPr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+mn-cs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b="1" dirty="0">
                          <a:solidFill>
                            <a:schemeClr val="lt1"/>
                          </a:solidFill>
                          <a:latin typeface="Exo 2"/>
                          <a:ea typeface="Exo 2"/>
                          <a:cs typeface="+mn-cs"/>
                          <a:sym typeface="Exo 2"/>
                        </a:rPr>
                        <a:t>شکل خوشه</a:t>
                      </a:r>
                      <a:endParaRPr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+mn-cs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4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lt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K-Means</a:t>
                      </a:r>
                      <a:endParaRPr sz="1200"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مبتنی بر مرکز</a:t>
                      </a:r>
                      <a:endParaRPr sz="1200" dirty="0">
                        <a:solidFill>
                          <a:schemeClr val="lt1"/>
                        </a:solidFill>
                        <a:latin typeface="Roboto Condensed Light"/>
                        <a:ea typeface="Roboto Condensed Light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+mn-cs"/>
                          <a:sym typeface="Roboto Condensed Light"/>
                        </a:rPr>
                        <a:t>بله</a:t>
                      </a:r>
                      <a:endParaRPr sz="1200" dirty="0">
                        <a:solidFill>
                          <a:schemeClr val="lt1"/>
                        </a:solidFill>
                        <a:latin typeface="Roboto Condensed Light" panose="02000000000000000000" pitchFamily="2" charset="0"/>
                        <a:ea typeface="Roboto Condensed Light" panose="02000000000000000000" pitchFamily="2" charset="0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K</a:t>
                      </a:r>
                      <a:endParaRPr lang="fa-IR" sz="1200" dirty="0">
                        <a:solidFill>
                          <a:schemeClr val="lt1"/>
                        </a:solidFill>
                        <a:latin typeface="Roboto Condensed Light"/>
                        <a:ea typeface="Roboto Condensed Light"/>
                        <a:cs typeface="+mn-cs"/>
                        <a:sym typeface="Roboto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(تعداد خوشه‌)</a:t>
                      </a:r>
                      <a:endParaRPr sz="1200" dirty="0">
                        <a:solidFill>
                          <a:schemeClr val="lt1"/>
                        </a:solidFill>
                        <a:latin typeface="Roboto Condensed Light"/>
                        <a:ea typeface="Roboto Condensed Light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کروی</a:t>
                      </a:r>
                      <a:endParaRPr sz="1200" dirty="0">
                        <a:solidFill>
                          <a:schemeClr val="lt1"/>
                        </a:solidFill>
                        <a:latin typeface="Roboto Condensed Light"/>
                        <a:ea typeface="Roboto Condensed Light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4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lt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MARS</a:t>
                      </a:r>
                      <a:endParaRPr sz="1200"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مبتنی بر چگالی</a:t>
                      </a:r>
                      <a:endParaRPr sz="1200" dirty="0">
                        <a:solidFill>
                          <a:schemeClr val="lt1"/>
                        </a:solidFill>
                        <a:latin typeface="Roboto Condensed Light"/>
                        <a:ea typeface="Roboto Condensed Light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خیر</a:t>
                      </a:r>
                      <a:endParaRPr sz="1200" dirty="0">
                        <a:solidFill>
                          <a:schemeClr val="lt1"/>
                        </a:solidFill>
                        <a:latin typeface="Roboto Condensed Light"/>
                        <a:ea typeface="Roboto Condensed Light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a-IR" sz="1200" dirty="0">
                          <a:solidFill>
                            <a:schemeClr val="accent1"/>
                          </a:solidFill>
                          <a:cs typeface="+mn-cs"/>
                        </a:rPr>
                        <a:t>(شعاع)</a:t>
                      </a:r>
                      <a:r>
                        <a:rPr lang="el-GR" sz="1200" dirty="0">
                          <a:solidFill>
                            <a:schemeClr val="accent1"/>
                          </a:solidFill>
                          <a:cs typeface="+mn-cs"/>
                        </a:rPr>
                        <a:t>ε</a:t>
                      </a:r>
                      <a:endParaRPr lang="fa-IR" sz="1200" dirty="0">
                        <a:solidFill>
                          <a:schemeClr val="accent1"/>
                        </a:solidFill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chemeClr val="accent1"/>
                          </a:solidFill>
                          <a:cs typeface="+mn-cs"/>
                        </a:rPr>
                        <a:t>MinPts</a:t>
                      </a:r>
                      <a:endParaRPr lang="fa-IR" sz="1200" dirty="0">
                        <a:solidFill>
                          <a:schemeClr val="accent1"/>
                        </a:solidFill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a-IR" sz="1200" dirty="0">
                          <a:solidFill>
                            <a:schemeClr val="accent1"/>
                          </a:solidFill>
                          <a:cs typeface="+mn-cs"/>
                        </a:rPr>
                        <a:t>(حداقل نقاط)</a:t>
                      </a:r>
                      <a:endParaRPr lang="el-GR" sz="1200" dirty="0">
                        <a:solidFill>
                          <a:schemeClr val="accent1"/>
                        </a:solidFill>
                        <a:cs typeface="+mn-c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دلخواه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(مناطق متراکم)</a:t>
                      </a:r>
                      <a:endParaRPr sz="1200" dirty="0">
                        <a:solidFill>
                          <a:schemeClr val="lt1"/>
                        </a:solidFill>
                        <a:latin typeface="Roboto Condensed Light"/>
                        <a:ea typeface="Roboto Condensed Light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88" name="Google Shape;388;p42"/>
          <p:cNvCxnSpPr>
            <a:cxnSpLocks/>
          </p:cNvCxnSpPr>
          <p:nvPr/>
        </p:nvCxnSpPr>
        <p:spPr>
          <a:xfrm rot="10800000">
            <a:off x="0" y="2499742"/>
            <a:ext cx="206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Google Shape;388;p42">
            <a:extLst>
              <a:ext uri="{FF2B5EF4-FFF2-40B4-BE49-F238E27FC236}">
                <a16:creationId xmlns:a16="http://schemas.microsoft.com/office/drawing/2014/main" id="{218CE26F-0DCF-129E-E5C6-E6A2AD84281F}"/>
              </a:ext>
            </a:extLst>
          </p:cNvPr>
          <p:cNvCxnSpPr>
            <a:cxnSpLocks/>
          </p:cNvCxnSpPr>
          <p:nvPr/>
        </p:nvCxnSpPr>
        <p:spPr>
          <a:xfrm rot="10800000">
            <a:off x="1" y="1563638"/>
            <a:ext cx="206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391;p42">
            <a:extLst>
              <a:ext uri="{FF2B5EF4-FFF2-40B4-BE49-F238E27FC236}">
                <a16:creationId xmlns:a16="http://schemas.microsoft.com/office/drawing/2014/main" id="{574B873F-D334-669F-C400-F8CA2F94D438}"/>
              </a:ext>
            </a:extLst>
          </p:cNvPr>
          <p:cNvCxnSpPr>
            <a:cxnSpLocks/>
          </p:cNvCxnSpPr>
          <p:nvPr/>
        </p:nvCxnSpPr>
        <p:spPr>
          <a:xfrm>
            <a:off x="251520" y="2745763"/>
            <a:ext cx="8424936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391;p42">
            <a:extLst>
              <a:ext uri="{FF2B5EF4-FFF2-40B4-BE49-F238E27FC236}">
                <a16:creationId xmlns:a16="http://schemas.microsoft.com/office/drawing/2014/main" id="{1C461C55-B73E-0C09-9EA7-CD4F71D84881}"/>
              </a:ext>
            </a:extLst>
          </p:cNvPr>
          <p:cNvCxnSpPr>
            <a:cxnSpLocks/>
          </p:cNvCxnSpPr>
          <p:nvPr/>
        </p:nvCxnSpPr>
        <p:spPr>
          <a:xfrm>
            <a:off x="251520" y="1809659"/>
            <a:ext cx="8424936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44A84F8-F397-4194-64D5-B2C296BC4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97410"/>
              </p:ext>
            </p:extLst>
          </p:nvPr>
        </p:nvGraphicFramePr>
        <p:xfrm>
          <a:off x="4788024" y="1131598"/>
          <a:ext cx="3369975" cy="3240352"/>
        </p:xfrm>
        <a:graphic>
          <a:graphicData uri="http://schemas.openxmlformats.org/drawingml/2006/table">
            <a:tbl>
              <a:tblPr>
                <a:noFill/>
                <a:tableStyleId>{9E3CADCC-DB96-45F9-8729-C7A6F4BBFB54}</a:tableStyleId>
              </a:tblPr>
              <a:tblGrid>
                <a:gridCol w="1123325">
                  <a:extLst>
                    <a:ext uri="{9D8B030D-6E8A-4147-A177-3AD203B41FA5}">
                      <a16:colId xmlns:a16="http://schemas.microsoft.com/office/drawing/2014/main" val="897103742"/>
                    </a:ext>
                  </a:extLst>
                </a:gridCol>
                <a:gridCol w="1123325">
                  <a:extLst>
                    <a:ext uri="{9D8B030D-6E8A-4147-A177-3AD203B41FA5}">
                      <a16:colId xmlns:a16="http://schemas.microsoft.com/office/drawing/2014/main" val="3736358534"/>
                    </a:ext>
                  </a:extLst>
                </a:gridCol>
                <a:gridCol w="1123325">
                  <a:extLst>
                    <a:ext uri="{9D8B030D-6E8A-4147-A177-3AD203B41FA5}">
                      <a16:colId xmlns:a16="http://schemas.microsoft.com/office/drawing/2014/main" val="2682283912"/>
                    </a:ext>
                  </a:extLst>
                </a:gridCol>
              </a:tblGrid>
              <a:tr h="8334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b="1" dirty="0">
                          <a:solidFill>
                            <a:schemeClr val="lt1"/>
                          </a:solidFill>
                          <a:latin typeface="+mn-lt"/>
                          <a:ea typeface="Exo 2"/>
                          <a:cs typeface="+mn-cs"/>
                          <a:sym typeface="Exo 2"/>
                        </a:rPr>
                        <a:t>حساسیت به نویز</a:t>
                      </a:r>
                      <a:endParaRPr b="1" dirty="0">
                        <a:solidFill>
                          <a:schemeClr val="lt1"/>
                        </a:solidFill>
                        <a:latin typeface="+mn-lt"/>
                        <a:ea typeface="Exo 2"/>
                        <a:cs typeface="+mn-cs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b="1" dirty="0">
                          <a:solidFill>
                            <a:schemeClr val="lt1"/>
                          </a:solidFill>
                          <a:latin typeface="Exo 2"/>
                          <a:ea typeface="Exo 2"/>
                          <a:cs typeface="+mn-cs"/>
                          <a:sym typeface="Exo 2"/>
                        </a:rPr>
                        <a:t>خروجی</a:t>
                      </a:r>
                      <a:endParaRPr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+mn-cs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164172"/>
                  </a:ext>
                </a:extLst>
              </a:tr>
              <a:tr h="8284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حساس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+mn-cs"/>
                          <a:sym typeface="Roboto Condensed Light"/>
                        </a:rPr>
                        <a:t>خوشه با مراکز </a:t>
                      </a:r>
                      <a:r>
                        <a:rPr lang="en-US" sz="1200" dirty="0">
                          <a:solidFill>
                            <a:schemeClr val="lt1"/>
                          </a:solidFill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+mn-cs"/>
                          <a:sym typeface="Roboto Condensed Light"/>
                        </a:rPr>
                        <a:t>k </a:t>
                      </a: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+mn-cs"/>
                          <a:sym typeface="Roboto Condensed Light"/>
                        </a:rPr>
                        <a:t>مشخص</a:t>
                      </a:r>
                      <a:endParaRPr sz="1200" dirty="0">
                        <a:solidFill>
                          <a:schemeClr val="lt1"/>
                        </a:solidFill>
                        <a:latin typeface="Roboto Condensed Light" panose="02000000000000000000" pitchFamily="2" charset="0"/>
                        <a:ea typeface="Roboto Condensed Light" panose="02000000000000000000" pitchFamily="2" charset="0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959586"/>
                  </a:ext>
                </a:extLst>
              </a:tr>
              <a:tr h="8284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مقاوم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خوشه‌ها +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dirty="0">
                          <a:solidFill>
                            <a:schemeClr val="lt1"/>
                          </a:solidFill>
                          <a:latin typeface="Roboto Condensed Light"/>
                          <a:ea typeface="Roboto Condensed Light"/>
                          <a:cs typeface="+mn-cs"/>
                          <a:sym typeface="Roboto Condensed Light"/>
                        </a:rPr>
                        <a:t>نقاط نویز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782396"/>
                  </a:ext>
                </a:extLst>
              </a:tr>
              <a:tr h="7500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a-IR" sz="1200" dirty="0">
                        <a:solidFill>
                          <a:schemeClr val="lt1"/>
                        </a:solidFill>
                        <a:latin typeface="Roboto Condensed Light"/>
                        <a:ea typeface="Roboto Condensed Light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a-IR" sz="1200" dirty="0">
                        <a:solidFill>
                          <a:schemeClr val="lt1"/>
                        </a:solidFill>
                        <a:latin typeface="Roboto Condensed Light"/>
                        <a:ea typeface="Roboto Condensed Light"/>
                        <a:cs typeface="+mn-cs"/>
                        <a:sym typeface="Roboto Condensed L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47807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B79043B7-DA4E-7A09-DC7F-0ECCE63B1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ataset - Nice real data sets for testing DBSCAN? - Data Science Stack ...">
            <a:extLst>
              <a:ext uri="{FF2B5EF4-FFF2-40B4-BE49-F238E27FC236}">
                <a16:creationId xmlns:a16="http://schemas.microsoft.com/office/drawing/2014/main" id="{3FCC2EBA-8A1F-36B5-088F-4201BAC24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0"/>
            <a:ext cx="864076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36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5;p31"/>
          <p:cNvSpPr txBox="1">
            <a:spLocks noGrp="1"/>
          </p:cNvSpPr>
          <p:nvPr>
            <p:ph type="ctrTitle" idx="4294967295"/>
          </p:nvPr>
        </p:nvSpPr>
        <p:spPr>
          <a:xfrm flipH="1">
            <a:off x="3451906" y="1995686"/>
            <a:ext cx="414443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000" dirty="0">
                <a:cs typeface="B Titr" panose="00000700000000000000" pitchFamily="2" charset="-78"/>
              </a:rPr>
              <a:t>تشخیص ناهنجاری</a:t>
            </a:r>
            <a:endParaRPr sz="4000" dirty="0">
              <a:cs typeface="B Titr" panose="00000700000000000000" pitchFamily="2" charset="-78"/>
            </a:endParaRPr>
          </a:p>
        </p:txBody>
      </p:sp>
      <p:sp>
        <p:nvSpPr>
          <p:cNvPr id="10" name="Google Shape;176;p31"/>
          <p:cNvSpPr txBox="1">
            <a:spLocks noGrp="1"/>
          </p:cNvSpPr>
          <p:nvPr>
            <p:ph type="title" idx="4294967295"/>
          </p:nvPr>
        </p:nvSpPr>
        <p:spPr>
          <a:xfrm flipH="1">
            <a:off x="7740352" y="1547818"/>
            <a:ext cx="976149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1500" dirty="0"/>
              <a:t>2</a:t>
            </a:r>
            <a:endParaRPr sz="11500" dirty="0"/>
          </a:p>
        </p:txBody>
      </p:sp>
      <p:sp>
        <p:nvSpPr>
          <p:cNvPr id="11" name="Google Shape;342;p31"/>
          <p:cNvSpPr txBox="1">
            <a:spLocks noGrp="1"/>
          </p:cNvSpPr>
          <p:nvPr>
            <p:ph type="subTitle" idx="4294967295"/>
          </p:nvPr>
        </p:nvSpPr>
        <p:spPr>
          <a:xfrm>
            <a:off x="4067944" y="3291830"/>
            <a:ext cx="3456384" cy="7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cs typeface="B Nazanin" panose="00000400000000000000" pitchFamily="2" charset="-78"/>
              </a:rPr>
              <a:t>Anomaly Detection</a:t>
            </a:r>
            <a:endParaRPr sz="1800" b="1" dirty="0">
              <a:cs typeface="B Nazanin" panose="00000400000000000000" pitchFamily="2" charset="-78"/>
            </a:endParaRPr>
          </a:p>
        </p:txBody>
      </p:sp>
      <p:cxnSp>
        <p:nvCxnSpPr>
          <p:cNvPr id="12" name="Google Shape;314;p39"/>
          <p:cNvCxnSpPr/>
          <p:nvPr/>
        </p:nvCxnSpPr>
        <p:spPr>
          <a:xfrm>
            <a:off x="7308304" y="3016912"/>
            <a:ext cx="187912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8B056022-401F-619E-3453-E18BB8905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1503A3-34EB-21A2-4DBB-B5AAB613C4A6}"/>
              </a:ext>
            </a:extLst>
          </p:cNvPr>
          <p:cNvSpPr txBox="1"/>
          <p:nvPr/>
        </p:nvSpPr>
        <p:spPr>
          <a:xfrm>
            <a:off x="2051720" y="33950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800" dirty="0">
                <a:cs typeface="+mj-cs"/>
              </a:rPr>
              <a:t>تشخیص ناهنجاری چیست؟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38F17-7425-C956-D188-C1B3E130FCB7}"/>
              </a:ext>
            </a:extLst>
          </p:cNvPr>
          <p:cNvSpPr txBox="1"/>
          <p:nvPr/>
        </p:nvSpPr>
        <p:spPr>
          <a:xfrm>
            <a:off x="-540568" y="1491630"/>
            <a:ext cx="9361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rgbClr val="FF0000"/>
                </a:solidFill>
                <a:cs typeface="+mn-cs"/>
              </a:rPr>
              <a:t>تشخیص ناهنجاری </a:t>
            </a:r>
            <a:r>
              <a:rPr lang="ar-SA" dirty="0">
                <a:cs typeface="+mn-cs"/>
              </a:rPr>
              <a:t>فرآیندی است برای شناسایی داده‌هایی که با الگوهای معمول متفاوت‌اند</a:t>
            </a:r>
            <a:r>
              <a:rPr lang="fa-IR" dirty="0">
                <a:cs typeface="+mn-cs"/>
              </a:rPr>
              <a:t> (</a:t>
            </a:r>
            <a:r>
              <a:rPr lang="ar-SA" dirty="0">
                <a:cs typeface="+mn-cs"/>
              </a:rPr>
              <a:t>نقاط پرت ی</a:t>
            </a:r>
            <a:r>
              <a:rPr lang="fa-IR" dirty="0">
                <a:cs typeface="+mn-cs"/>
              </a:rPr>
              <a:t>ا</a:t>
            </a:r>
            <a:r>
              <a:rPr lang="ar-SA" dirty="0">
                <a:cs typeface="+mn-cs"/>
              </a:rPr>
              <a:t> </a:t>
            </a:r>
            <a:r>
              <a:rPr lang="en-US" dirty="0">
                <a:cs typeface="+mn-cs"/>
              </a:rPr>
              <a:t>Outliers</a:t>
            </a:r>
            <a:r>
              <a:rPr lang="fa-IR" dirty="0">
                <a:cs typeface="+mn-cs"/>
              </a:rPr>
              <a:t>)</a:t>
            </a:r>
            <a:endParaRPr lang="en-US" dirty="0"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00EB44-A996-EB98-A725-7DD314C5B069}"/>
              </a:ext>
            </a:extLst>
          </p:cNvPr>
          <p:cNvSpPr txBox="1"/>
          <p:nvPr/>
        </p:nvSpPr>
        <p:spPr>
          <a:xfrm>
            <a:off x="6593149" y="2387084"/>
            <a:ext cx="998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800" dirty="0">
                <a:cs typeface="+mn-cs"/>
              </a:rPr>
              <a:t>کاربردها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C381A-B3FB-DE71-1B21-85AD95696127}"/>
              </a:ext>
            </a:extLst>
          </p:cNvPr>
          <p:cNvSpPr txBox="1"/>
          <p:nvPr/>
        </p:nvSpPr>
        <p:spPr>
          <a:xfrm>
            <a:off x="5868144" y="2826644"/>
            <a:ext cx="2610972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A" dirty="0">
                <a:cs typeface="+mn-cs"/>
              </a:rPr>
              <a:t>تشخیص تقلب در تراکنش‌ها</a:t>
            </a:r>
          </a:p>
          <a:p>
            <a:pPr algn="ctr" rtl="1">
              <a:lnSpc>
                <a:spcPct val="150000"/>
              </a:lnSpc>
            </a:pPr>
            <a:r>
              <a:rPr lang="ar-SA" dirty="0">
                <a:cs typeface="+mn-cs"/>
              </a:rPr>
              <a:t>شناسایی خرابی در سیستم‌ها</a:t>
            </a:r>
          </a:p>
          <a:p>
            <a:pPr algn="ctr" rtl="1">
              <a:lnSpc>
                <a:spcPct val="150000"/>
              </a:lnSpc>
            </a:pPr>
            <a:r>
              <a:rPr lang="ar-SA" dirty="0">
                <a:cs typeface="+mn-cs"/>
              </a:rPr>
              <a:t>تحلیل داده‌های پزشکی</a:t>
            </a:r>
            <a:endParaRPr lang="fa-IR" dirty="0"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301411-749C-4777-D650-395D70EE4F24}"/>
              </a:ext>
            </a:extLst>
          </p:cNvPr>
          <p:cNvSpPr txBox="1"/>
          <p:nvPr/>
        </p:nvSpPr>
        <p:spPr>
          <a:xfrm>
            <a:off x="2195736" y="2387084"/>
            <a:ext cx="854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800" dirty="0">
                <a:cs typeface="+mn-cs"/>
              </a:rPr>
              <a:t>روش‌ها</a:t>
            </a:r>
            <a:endParaRPr lang="ar-SA" sz="1800" dirty="0"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A4B631-E1DE-D989-1FF2-29414BD8F1D0}"/>
              </a:ext>
            </a:extLst>
          </p:cNvPr>
          <p:cNvSpPr txBox="1"/>
          <p:nvPr/>
        </p:nvSpPr>
        <p:spPr>
          <a:xfrm>
            <a:off x="1917556" y="2826643"/>
            <a:ext cx="1358301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dirty="0">
                <a:cs typeface="+mn-cs"/>
              </a:rPr>
              <a:t>آماری</a:t>
            </a:r>
          </a:p>
          <a:p>
            <a:pPr algn="ctr" rtl="1">
              <a:lnSpc>
                <a:spcPct val="150000"/>
              </a:lnSpc>
            </a:pPr>
            <a:r>
              <a:rPr lang="fa-IR" dirty="0">
                <a:cs typeface="+mn-cs"/>
              </a:rPr>
              <a:t>مبتنی بر درخت</a:t>
            </a:r>
          </a:p>
          <a:p>
            <a:pPr algn="ctr" rtl="1">
              <a:lnSpc>
                <a:spcPct val="150000"/>
              </a:lnSpc>
            </a:pPr>
            <a:r>
              <a:rPr lang="fa-IR" dirty="0">
                <a:cs typeface="+mn-cs"/>
              </a:rPr>
              <a:t>یادگیری ماشین</a:t>
            </a:r>
            <a:endParaRPr lang="ar-SA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185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868AFB19-2C45-907C-7A4E-4200C597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E0A274-8719-9276-A62C-2013944CA3B1}"/>
              </a:ext>
            </a:extLst>
          </p:cNvPr>
          <p:cNvSpPr txBox="1"/>
          <p:nvPr/>
        </p:nvSpPr>
        <p:spPr>
          <a:xfrm>
            <a:off x="1691680" y="48351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800" dirty="0">
                <a:cs typeface="+mj-cs"/>
              </a:rPr>
              <a:t>نحوه کار روش‌های آماری</a:t>
            </a:r>
          </a:p>
        </p:txBody>
      </p:sp>
      <p:pic>
        <p:nvPicPr>
          <p:cNvPr id="1026" name="Picture 2" descr="Anomaly Detection &amp; Recommender Systems | LeiHao's Blog">
            <a:extLst>
              <a:ext uri="{FF2B5EF4-FFF2-40B4-BE49-F238E27FC236}">
                <a16:creationId xmlns:a16="http://schemas.microsoft.com/office/drawing/2014/main" id="{C3AF02E1-DAF0-12D4-578C-D3E6058E1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79662"/>
            <a:ext cx="4086857" cy="3280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616C7DA6-570A-81E8-6E71-385016BD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1131590"/>
            <a:ext cx="4790093" cy="1681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ar-SA" altLang="en-US" b="1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فرض: </a:t>
            </a:r>
            <a:r>
              <a:rPr lang="ar-SA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داده‌ها از یک توزیع مشخص (مثل نرمال) پیروی می‌کنند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+mn-cs"/>
            </a:endParaRPr>
          </a:p>
          <a:p>
            <a:pPr lvl="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ar-SA" altLang="en-US" b="1" dirty="0">
                <a:solidFill>
                  <a:schemeClr val="tx1"/>
                </a:solidFill>
                <a:latin typeface="+mn-lt"/>
                <a:cs typeface="+mn-cs"/>
              </a:rPr>
              <a:t>مراحل</a:t>
            </a:r>
            <a:r>
              <a:rPr lang="fa-IR" altLang="en-US" b="1" dirty="0">
                <a:solidFill>
                  <a:schemeClr val="tx1"/>
                </a:solidFill>
                <a:latin typeface="+mn-lt"/>
                <a:cs typeface="+mn-cs"/>
              </a:rPr>
              <a:t>:</a:t>
            </a:r>
            <a:r>
              <a:rPr lang="en-US" altLang="en-US" b="1" dirty="0">
                <a:solidFill>
                  <a:schemeClr val="tx1"/>
                </a:solidFill>
                <a:latin typeface="+mn-lt"/>
                <a:cs typeface="+mn-cs"/>
              </a:rPr>
              <a:t> </a:t>
            </a:r>
          </a:p>
          <a:p>
            <a:pPr marL="342900" lvl="0" indent="-34290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SA" altLang="en-US" b="1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مدل‌سازی داده‌ها </a:t>
            </a:r>
            <a:r>
              <a:rPr lang="ar-SA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با پارامترهای آماری (میانگین، انحراف معیار)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+mn-cs"/>
            </a:endParaRPr>
          </a:p>
          <a:p>
            <a:pPr marL="342900" lvl="0" indent="-34290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SA" altLang="en-US" b="1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محاسبه امتیاز </a:t>
            </a:r>
            <a:r>
              <a:rPr lang="ar-SA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برای هر داده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 </a:t>
            </a:r>
            <a:r>
              <a:rPr lang="fa-IR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(</a:t>
            </a:r>
            <a:r>
              <a:rPr lang="ar-SA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مثل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 Z-Score </a:t>
            </a:r>
            <a:r>
              <a:rPr lang="fa-IR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+mn-cs"/>
            </a:endParaRPr>
          </a:p>
          <a:p>
            <a:pPr marL="342900" lvl="0" indent="-342900" algn="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SA" altLang="en-US" b="1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تعیین آستانه: </a:t>
            </a:r>
            <a:r>
              <a:rPr lang="ar-SA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داده‌هایی که خارج از آستانه‌اند، ناهنجاری‌اند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18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4CCAFE98-6FC1-A582-06F0-A9BDD7C4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3C72A0-CF1F-8E97-0E98-6154383409CD}"/>
              </a:ext>
            </a:extLst>
          </p:cNvPr>
          <p:cNvSpPr txBox="1"/>
          <p:nvPr/>
        </p:nvSpPr>
        <p:spPr>
          <a:xfrm>
            <a:off x="3203848" y="372476"/>
            <a:ext cx="3654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800" dirty="0">
                <a:cs typeface="+mj-cs"/>
              </a:rPr>
              <a:t>ریاضیات روش‌های آماری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0D6CF9-78A0-4C69-7186-FEC59F6BDF17}"/>
              </a:ext>
            </a:extLst>
          </p:cNvPr>
          <p:cNvSpPr txBox="1"/>
          <p:nvPr/>
        </p:nvSpPr>
        <p:spPr>
          <a:xfrm>
            <a:off x="6444208" y="1452596"/>
            <a:ext cx="2051720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SA" b="1" dirty="0">
                <a:cs typeface="+mn-cs"/>
              </a:rPr>
              <a:t>میانگین (</a:t>
            </a:r>
            <a:r>
              <a:rPr lang="el-GR" b="1" dirty="0">
                <a:cs typeface="+mn-cs"/>
              </a:rPr>
              <a:t>μ</a:t>
            </a:r>
            <a:r>
              <a:rPr lang="fa-IR" b="1" dirty="0">
                <a:cs typeface="+mn-cs"/>
              </a:rPr>
              <a:t>):</a:t>
            </a:r>
          </a:p>
          <a:p>
            <a:pPr algn="r" rtl="1">
              <a:lnSpc>
                <a:spcPct val="200000"/>
              </a:lnSpc>
            </a:pPr>
            <a:endParaRPr lang="fa-IR" b="1" dirty="0">
              <a:cs typeface="+mn-cs"/>
            </a:endParaRPr>
          </a:p>
          <a:p>
            <a:pPr algn="r" rtl="1">
              <a:lnSpc>
                <a:spcPct val="200000"/>
              </a:lnSpc>
            </a:pPr>
            <a:r>
              <a:rPr lang="ar-SA" b="1" dirty="0">
                <a:cs typeface="+mn-cs"/>
              </a:rPr>
              <a:t>انحراف معیار (</a:t>
            </a:r>
            <a:r>
              <a:rPr lang="el-GR" b="1" dirty="0">
                <a:cs typeface="+mn-cs"/>
              </a:rPr>
              <a:t>σ</a:t>
            </a:r>
            <a:r>
              <a:rPr lang="fa-IR" b="1" dirty="0">
                <a:cs typeface="+mn-cs"/>
              </a:rPr>
              <a:t>):</a:t>
            </a:r>
            <a:endParaRPr lang="el-GR" b="1" dirty="0">
              <a:cs typeface="+mn-cs"/>
            </a:endParaRPr>
          </a:p>
          <a:p>
            <a:pPr algn="r" rtl="1">
              <a:lnSpc>
                <a:spcPct val="200000"/>
              </a:lnSpc>
            </a:pPr>
            <a:endParaRPr lang="fa-IR" b="1" dirty="0">
              <a:cs typeface="+mn-cs"/>
            </a:endParaRPr>
          </a:p>
          <a:p>
            <a:pPr algn="r" rtl="1">
              <a:lnSpc>
                <a:spcPct val="200000"/>
              </a:lnSpc>
            </a:pPr>
            <a:r>
              <a:rPr lang="en-US" b="1" dirty="0">
                <a:latin typeface="Sahel" panose="020B0603030804020204" pitchFamily="34" charset="-78"/>
                <a:cs typeface="Sahel" panose="020B0603030804020204" pitchFamily="34" charset="-78"/>
              </a:rPr>
              <a:t>Z-Score</a:t>
            </a:r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:</a:t>
            </a:r>
            <a:endParaRPr lang="en-US" dirty="0">
              <a:latin typeface="Sahel" panose="020B0603030804020204" pitchFamily="34" charset="-78"/>
              <a:cs typeface="Sahel" panose="020B0603030804020204" pitchFamily="34" charset="-78"/>
            </a:endParaRPr>
          </a:p>
          <a:p>
            <a:pPr algn="r" rtl="1">
              <a:lnSpc>
                <a:spcPct val="200000"/>
              </a:lnSpc>
            </a:pPr>
            <a:endParaRPr lang="fa-IR" dirty="0">
              <a:cs typeface="+mn-cs"/>
            </a:endParaRPr>
          </a:p>
          <a:p>
            <a:pPr algn="r" rtl="1">
              <a:lnSpc>
                <a:spcPct val="200000"/>
              </a:lnSpc>
            </a:pPr>
            <a:r>
              <a:rPr lang="ar-SA" b="1" dirty="0">
                <a:cs typeface="+mn-cs"/>
              </a:rPr>
              <a:t>آستانه</a:t>
            </a:r>
            <a:r>
              <a:rPr lang="ar-SA" dirty="0">
                <a:cs typeface="+mn-cs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62D5EB-3B0B-B856-3235-40C6D761BFCD}"/>
                  </a:ext>
                </a:extLst>
              </p:cNvPr>
              <p:cNvSpPr txBox="1"/>
              <p:nvPr/>
            </p:nvSpPr>
            <p:spPr>
              <a:xfrm>
                <a:off x="1907704" y="1524604"/>
                <a:ext cx="2358008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μ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l-GR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l-GR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l-GR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62D5EB-3B0B-B856-3235-40C6D761B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1524604"/>
                <a:ext cx="2358008" cy="483466"/>
              </a:xfrm>
              <a:prstGeom prst="rect">
                <a:avLst/>
              </a:prstGeom>
              <a:blipFill>
                <a:blip r:embed="rId3"/>
                <a:stretch>
                  <a:fillRect l="-2326" t="-79747" b="-13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4F692B-28CD-5806-1CF3-CA0B88D2C304}"/>
                  </a:ext>
                </a:extLst>
              </p:cNvPr>
              <p:cNvSpPr txBox="1"/>
              <p:nvPr/>
            </p:nvSpPr>
            <p:spPr>
              <a:xfrm>
                <a:off x="1979712" y="2100668"/>
                <a:ext cx="1644233" cy="727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fa-I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a-I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fa-I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fa-I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4F692B-28CD-5806-1CF3-CA0B88D2C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2100668"/>
                <a:ext cx="1644233" cy="7275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32AB39-97DB-9519-C019-B6F1241CF41C}"/>
                  </a:ext>
                </a:extLst>
              </p:cNvPr>
              <p:cNvSpPr txBox="1"/>
              <p:nvPr/>
            </p:nvSpPr>
            <p:spPr>
              <a:xfrm>
                <a:off x="1979712" y="3180788"/>
                <a:ext cx="1022909" cy="42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32AB39-97DB-9519-C019-B6F1241CF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3180788"/>
                <a:ext cx="1022909" cy="421719"/>
              </a:xfrm>
              <a:prstGeom prst="rect">
                <a:avLst/>
              </a:prstGeom>
              <a:blipFill>
                <a:blip r:embed="rId5"/>
                <a:stretch>
                  <a:fillRect l="-2381" t="-1449" r="-2381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E5F321-ADF3-5956-4CA2-86B97837864B}"/>
                  </a:ext>
                </a:extLst>
              </p:cNvPr>
              <p:cNvSpPr txBox="1"/>
              <p:nvPr/>
            </p:nvSpPr>
            <p:spPr>
              <a:xfrm>
                <a:off x="2193700" y="4138995"/>
                <a:ext cx="63773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E5F321-ADF3-5956-4CA2-86B978378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700" y="4138995"/>
                <a:ext cx="637739" cy="215444"/>
              </a:xfrm>
              <a:prstGeom prst="rect">
                <a:avLst/>
              </a:prstGeom>
              <a:blipFill>
                <a:blip r:embed="rId6"/>
                <a:stretch>
                  <a:fillRect r="-962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EA024E7-9377-86A8-0B14-E5DBDB5A5ED2}"/>
              </a:ext>
            </a:extLst>
          </p:cNvPr>
          <p:cNvSpPr txBox="1"/>
          <p:nvPr/>
        </p:nvSpPr>
        <p:spPr>
          <a:xfrm>
            <a:off x="1905668" y="4092828"/>
            <a:ext cx="313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12786A-402D-2E53-F573-342C9EDF6A0A}"/>
              </a:ext>
            </a:extLst>
          </p:cNvPr>
          <p:cNvSpPr txBox="1"/>
          <p:nvPr/>
        </p:nvSpPr>
        <p:spPr>
          <a:xfrm>
            <a:off x="2831439" y="40853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→ anomaly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7F4F19-7AB0-DFC1-2096-0D0C59F3CBD6}"/>
              </a:ext>
            </a:extLst>
          </p:cNvPr>
          <p:cNvSpPr txBox="1"/>
          <p:nvPr/>
        </p:nvSpPr>
        <p:spPr>
          <a:xfrm>
            <a:off x="5063578" y="4599007"/>
            <a:ext cx="34323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1200" dirty="0">
                <a:solidFill>
                  <a:srgbClr val="FF0000"/>
                </a:solidFill>
                <a:cs typeface="+mn-cs"/>
              </a:rPr>
              <a:t>‌آستانه (</a:t>
            </a:r>
            <a:r>
              <a:rPr lang="en-US" sz="1200" dirty="0">
                <a:solidFill>
                  <a:srgbClr val="FF0000"/>
                </a:solidFill>
                <a:cs typeface="+mn-cs"/>
              </a:rPr>
              <a:t>s</a:t>
            </a:r>
            <a:r>
              <a:rPr lang="fa-IR" sz="1200" dirty="0">
                <a:solidFill>
                  <a:srgbClr val="FF0000"/>
                </a:solidFill>
                <a:cs typeface="+mn-cs"/>
              </a:rPr>
              <a:t>) می‌تواند هر عددی باشه بستگی به شما دارد.</a:t>
            </a:r>
            <a:endParaRPr lang="en-US" sz="1200" dirty="0">
              <a:solidFill>
                <a:srgbClr val="FF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46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9" grpId="0"/>
      <p:bldP spid="20" grpId="0"/>
      <p:bldP spid="23" grpId="0"/>
      <p:bldP spid="24" grpId="0"/>
      <p:bldP spid="25" grpId="0"/>
      <p:bldP spid="27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8B1C52B0-9EB7-D633-5CFA-9E4147F8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3FA305-D0FD-BC8D-4D4E-FE05C6064031}"/>
              </a:ext>
            </a:extLst>
          </p:cNvPr>
          <p:cNvSpPr txBox="1"/>
          <p:nvPr/>
        </p:nvSpPr>
        <p:spPr>
          <a:xfrm>
            <a:off x="4196737" y="339502"/>
            <a:ext cx="750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cs typeface="+mj-cs"/>
              </a:rPr>
              <a:t>مثال</a:t>
            </a:r>
            <a:endParaRPr lang="en-US" sz="2800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A07E16-F6D5-9052-CEC6-57234C32363E}"/>
                  </a:ext>
                </a:extLst>
              </p:cNvPr>
              <p:cNvSpPr txBox="1"/>
              <p:nvPr/>
            </p:nvSpPr>
            <p:spPr>
              <a:xfrm>
                <a:off x="1187624" y="987574"/>
                <a:ext cx="6552728" cy="2492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r" rtl="1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ar-SA" sz="1600" dirty="0">
                    <a:effectLst/>
                    <a:cs typeface="+mn-cs"/>
                  </a:rPr>
                  <a:t>داده‌ها: </a:t>
                </a:r>
                <a:r>
                  <a:rPr lang="en-US" sz="1600" dirty="0">
                    <a:effectLst/>
                    <a:cs typeface="+mn-cs"/>
                  </a:rPr>
                  <a:t>X = {1, 2, 2, 3, 10}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l-GR" sz="1600" dirty="0"/>
                  <a:t>μ = (1 + 2 + 2 + 3 + 10) / 5 = 3.6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l-GR" sz="1600" dirty="0"/>
                  <a:t>σ = √[(1-3.6)² + (2-3.6)² + (2-3.6)² + (3-3.6)² + (10-3.6)²] / 5 ≈ 3.2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nor/>
                      </m:rPr>
                      <a:rPr lang="en-US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/>
                      <m:t>→</m:t>
                    </m:r>
                  </m:oMath>
                </a14:m>
                <a:r>
                  <a:rPr lang="en-US" sz="1600" dirty="0"/>
                  <a:t> z = (10 - 3.6) / 3.2 ≈ 2</a:t>
                </a:r>
              </a:p>
              <a:p>
                <a:pPr marL="285750" indent="-285750" algn="r" rtl="1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ar-SA" sz="1600" dirty="0">
                    <a:cs typeface="+mn-cs"/>
                  </a:rPr>
                  <a:t>نتیجه: اگر آستانه 3</a:t>
                </a:r>
                <a:r>
                  <a:rPr lang="fa-IR" sz="1600" dirty="0">
                    <a:cs typeface="+mn-cs"/>
                  </a:rPr>
                  <a:t> =</a:t>
                </a:r>
                <a:r>
                  <a:rPr lang="ar-SA" sz="1600" dirty="0">
                    <a:cs typeface="+mn-cs"/>
                  </a:rPr>
                  <a:t> </a:t>
                </a:r>
                <a:r>
                  <a:rPr lang="en-US" sz="1600" dirty="0">
                    <a:cs typeface="+mn-cs"/>
                  </a:rPr>
                  <a:t>s</a:t>
                </a:r>
                <a:r>
                  <a:rPr lang="fa-IR" sz="1600" dirty="0">
                    <a:cs typeface="+mn-cs"/>
                  </a:rPr>
                  <a:t> </a:t>
                </a:r>
                <a:r>
                  <a:rPr lang="ar-SA" sz="1600" dirty="0">
                    <a:cs typeface="+mn-cs"/>
                  </a:rPr>
                  <a:t>باشد، 10 ناهنجاری نیست.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A07E16-F6D5-9052-CEC6-57234C323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987574"/>
                <a:ext cx="6552728" cy="2492990"/>
              </a:xfrm>
              <a:prstGeom prst="rect">
                <a:avLst/>
              </a:prstGeom>
              <a:blipFill>
                <a:blip r:embed="rId3"/>
                <a:stretch>
                  <a:fillRect l="-372" r="-465" b="-2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25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5;p31"/>
          <p:cNvSpPr txBox="1">
            <a:spLocks noGrp="1"/>
          </p:cNvSpPr>
          <p:nvPr>
            <p:ph type="ctrTitle" idx="4294967295"/>
          </p:nvPr>
        </p:nvSpPr>
        <p:spPr>
          <a:xfrm flipH="1">
            <a:off x="3451906" y="1995686"/>
            <a:ext cx="414443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000" dirty="0">
                <a:cs typeface="B Titr" panose="00000700000000000000" pitchFamily="2" charset="-78"/>
              </a:rPr>
              <a:t>کاهش ابعاد</a:t>
            </a:r>
            <a:endParaRPr sz="4000" dirty="0">
              <a:cs typeface="B Titr" panose="00000700000000000000" pitchFamily="2" charset="-78"/>
            </a:endParaRPr>
          </a:p>
        </p:txBody>
      </p:sp>
      <p:sp>
        <p:nvSpPr>
          <p:cNvPr id="10" name="Google Shape;176;p31"/>
          <p:cNvSpPr txBox="1">
            <a:spLocks noGrp="1"/>
          </p:cNvSpPr>
          <p:nvPr>
            <p:ph type="title" idx="4294967295"/>
          </p:nvPr>
        </p:nvSpPr>
        <p:spPr>
          <a:xfrm flipH="1">
            <a:off x="7740352" y="1547818"/>
            <a:ext cx="976149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1500" dirty="0"/>
              <a:t>3</a:t>
            </a:r>
            <a:endParaRPr sz="11500" dirty="0"/>
          </a:p>
        </p:txBody>
      </p:sp>
      <p:sp>
        <p:nvSpPr>
          <p:cNvPr id="11" name="Google Shape;342;p31"/>
          <p:cNvSpPr txBox="1">
            <a:spLocks noGrp="1"/>
          </p:cNvSpPr>
          <p:nvPr>
            <p:ph type="subTitle" idx="4294967295"/>
          </p:nvPr>
        </p:nvSpPr>
        <p:spPr>
          <a:xfrm>
            <a:off x="3707904" y="3291830"/>
            <a:ext cx="3816424" cy="7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-US" sz="1800" b="1" dirty="0"/>
              <a:t>Dimensionality Reduction</a:t>
            </a:r>
          </a:p>
        </p:txBody>
      </p:sp>
      <p:cxnSp>
        <p:nvCxnSpPr>
          <p:cNvPr id="12" name="Google Shape;314;p39"/>
          <p:cNvCxnSpPr/>
          <p:nvPr/>
        </p:nvCxnSpPr>
        <p:spPr>
          <a:xfrm>
            <a:off x="7308304" y="3016912"/>
            <a:ext cx="187912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09543D5B-6919-3BEB-089A-352F458EA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1;p33">
            <a:extLst>
              <a:ext uri="{FF2B5EF4-FFF2-40B4-BE49-F238E27FC236}">
                <a16:creationId xmlns:a16="http://schemas.microsoft.com/office/drawing/2014/main" id="{DC96D873-A090-83F6-5886-91562175E0CB}"/>
              </a:ext>
            </a:extLst>
          </p:cNvPr>
          <p:cNvSpPr/>
          <p:nvPr/>
        </p:nvSpPr>
        <p:spPr>
          <a:xfrm>
            <a:off x="1737549" y="3939902"/>
            <a:ext cx="1486200" cy="9462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94;p33">
            <a:extLst>
              <a:ext uri="{FF2B5EF4-FFF2-40B4-BE49-F238E27FC236}">
                <a16:creationId xmlns:a16="http://schemas.microsoft.com/office/drawing/2014/main" id="{487DB31D-B6DE-DD59-47CB-3B764ADC7117}"/>
              </a:ext>
            </a:extLst>
          </p:cNvPr>
          <p:cNvSpPr/>
          <p:nvPr/>
        </p:nvSpPr>
        <p:spPr>
          <a:xfrm>
            <a:off x="5580112" y="3939902"/>
            <a:ext cx="1486200" cy="9462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99;p33">
            <a:extLst>
              <a:ext uri="{FF2B5EF4-FFF2-40B4-BE49-F238E27FC236}">
                <a16:creationId xmlns:a16="http://schemas.microsoft.com/office/drawing/2014/main" id="{2C21462D-1F9F-5360-D69E-58E96E2AE38B}"/>
              </a:ext>
            </a:extLst>
          </p:cNvPr>
          <p:cNvSpPr/>
          <p:nvPr/>
        </p:nvSpPr>
        <p:spPr>
          <a:xfrm>
            <a:off x="3045514" y="3138773"/>
            <a:ext cx="2771447" cy="732064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" name="Google Shape;201;p33">
            <a:extLst>
              <a:ext uri="{FF2B5EF4-FFF2-40B4-BE49-F238E27FC236}">
                <a16:creationId xmlns:a16="http://schemas.microsoft.com/office/drawing/2014/main" id="{C8934B60-9875-C182-E09C-B7E0F6F6E0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46610" y="3870837"/>
            <a:ext cx="1024597" cy="42806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204;p33">
            <a:extLst>
              <a:ext uri="{FF2B5EF4-FFF2-40B4-BE49-F238E27FC236}">
                <a16:creationId xmlns:a16="http://schemas.microsoft.com/office/drawing/2014/main" id="{8A510D83-8185-8973-208C-78CA87978C5D}"/>
              </a:ext>
            </a:extLst>
          </p:cNvPr>
          <p:cNvCxnSpPr>
            <a:cxnSpLocks/>
          </p:cNvCxnSpPr>
          <p:nvPr/>
        </p:nvCxnSpPr>
        <p:spPr>
          <a:xfrm>
            <a:off x="4773707" y="3870837"/>
            <a:ext cx="765557" cy="45387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22A53F7-9490-24D5-C1DA-C8E7DC2B5BBD}"/>
              </a:ext>
            </a:extLst>
          </p:cNvPr>
          <p:cNvSpPr txBox="1"/>
          <p:nvPr/>
        </p:nvSpPr>
        <p:spPr>
          <a:xfrm>
            <a:off x="5580112" y="4117613"/>
            <a:ext cx="1486200" cy="4732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PCA</a:t>
            </a:r>
            <a:endParaRPr lang="fa-IR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9C2ABB-4A1C-4D2C-5AA5-A4E94E0FE43A}"/>
              </a:ext>
            </a:extLst>
          </p:cNvPr>
          <p:cNvSpPr txBox="1"/>
          <p:nvPr/>
        </p:nvSpPr>
        <p:spPr>
          <a:xfrm>
            <a:off x="1737549" y="4117613"/>
            <a:ext cx="1486200" cy="4732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t-SNE</a:t>
            </a:r>
            <a:endParaRPr lang="fa-IR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12DCDE-2338-62CE-24F2-ECBE87A47E1F}"/>
              </a:ext>
            </a:extLst>
          </p:cNvPr>
          <p:cNvSpPr txBox="1"/>
          <p:nvPr/>
        </p:nvSpPr>
        <p:spPr>
          <a:xfrm>
            <a:off x="3045515" y="3138773"/>
            <a:ext cx="3055500" cy="5155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a-IR" sz="2000" dirty="0">
                <a:cs typeface="B Titr" panose="00000700000000000000" pitchFamily="2" charset="-78"/>
              </a:rPr>
              <a:t> الگوریتم‌های کاهش ابعاد</a:t>
            </a:r>
            <a:endParaRPr lang="fa-IR" sz="20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911602-04DF-B40A-1BD8-E62EC7C57534}"/>
              </a:ext>
            </a:extLst>
          </p:cNvPr>
          <p:cNvSpPr txBox="1"/>
          <p:nvPr/>
        </p:nvSpPr>
        <p:spPr>
          <a:xfrm>
            <a:off x="1985207" y="26885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2800" dirty="0">
                <a:cs typeface="+mj-cs"/>
              </a:rPr>
              <a:t>کاهش ابعاد چیست؟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F0AE70-DB2E-4A4D-4DCB-0A3DFBFC2042}"/>
              </a:ext>
            </a:extLst>
          </p:cNvPr>
          <p:cNvSpPr txBox="1"/>
          <p:nvPr/>
        </p:nvSpPr>
        <p:spPr>
          <a:xfrm>
            <a:off x="-324544" y="1180596"/>
            <a:ext cx="8712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rgbClr val="FF0000"/>
                </a:solidFill>
                <a:cs typeface="+mn-cs"/>
              </a:rPr>
              <a:t>کاهش ابعاد </a:t>
            </a:r>
            <a:r>
              <a:rPr lang="ar-SA" dirty="0">
                <a:cs typeface="+mn-cs"/>
              </a:rPr>
              <a:t>تکنیکی است که تعداد ویژگی‌ها (ابعاد) در داده‌ها را کاهش می‌دهد،</a:t>
            </a:r>
            <a:endParaRPr lang="fa-IR" dirty="0">
              <a:cs typeface="+mn-cs"/>
            </a:endParaRPr>
          </a:p>
          <a:p>
            <a:pPr algn="r" rtl="1"/>
            <a:r>
              <a:rPr lang="ar-SA" dirty="0">
                <a:cs typeface="+mn-cs"/>
              </a:rPr>
              <a:t> اما سعی می‌کند اطلاعات مهم را حفظ کند.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DEBCB5-2A6D-AA8B-B1CA-C87111616429}"/>
              </a:ext>
            </a:extLst>
          </p:cNvPr>
          <p:cNvSpPr txBox="1"/>
          <p:nvPr/>
        </p:nvSpPr>
        <p:spPr>
          <a:xfrm>
            <a:off x="3622114" y="2227036"/>
            <a:ext cx="47663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تجسم داده‌ها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lang="fa-IR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(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2D</a:t>
            </a:r>
            <a:r>
              <a:rPr lang="fa-IR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 یا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3D</a:t>
            </a:r>
            <a:r>
              <a:rPr lang="fa-IR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285750" marR="0" lvl="0" indent="-28575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کاهش هزینه محاسباتی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285750" marR="0" lvl="0" indent="-28575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حذف نویز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24814-8C7C-0BB1-6264-1F7CE3106B6A}"/>
              </a:ext>
            </a:extLst>
          </p:cNvPr>
          <p:cNvSpPr txBox="1"/>
          <p:nvPr/>
        </p:nvSpPr>
        <p:spPr>
          <a:xfrm>
            <a:off x="7517673" y="1852363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1600" dirty="0">
                <a:cs typeface="+mn-cs"/>
              </a:rPr>
              <a:t>کاربردها:</a:t>
            </a:r>
            <a:endParaRPr lang="en-US" sz="16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19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10" grpId="0"/>
      <p:bldP spid="11" grpId="0"/>
      <p:bldP spid="12" grpId="0"/>
      <p:bldP spid="20" grpId="0"/>
      <p:bldP spid="22" grpId="0"/>
      <p:bldP spid="25" grpId="0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B31510C6-AF65-32A2-0B4D-3DF524B9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A4F576-21C9-C2D1-94D0-D0448462DCE4}"/>
              </a:ext>
            </a:extLst>
          </p:cNvPr>
          <p:cNvSpPr txBox="1"/>
          <p:nvPr/>
        </p:nvSpPr>
        <p:spPr>
          <a:xfrm>
            <a:off x="1619672" y="123478"/>
            <a:ext cx="6174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800" b="1" dirty="0">
                <a:cs typeface="+mj-cs"/>
              </a:rPr>
              <a:t>نفرین ابعاد (</a:t>
            </a:r>
            <a:r>
              <a:rPr lang="en-US" sz="2800" b="1" dirty="0">
                <a:cs typeface="+mj-cs"/>
              </a:rPr>
              <a:t>Curse of Dimensionality</a:t>
            </a:r>
            <a:r>
              <a:rPr lang="fa-IR" sz="2800" b="1" dirty="0">
                <a:cs typeface="+mj-cs"/>
              </a:rPr>
              <a:t>)</a:t>
            </a:r>
            <a:endParaRPr lang="en-US" sz="2800" b="1" dirty="0"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DBDF94-1590-5109-778A-2AFD1EF43D41}"/>
              </a:ext>
            </a:extLst>
          </p:cNvPr>
          <p:cNvSpPr txBox="1"/>
          <p:nvPr/>
        </p:nvSpPr>
        <p:spPr>
          <a:xfrm>
            <a:off x="-162765" y="1131590"/>
            <a:ext cx="9198768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b="1" dirty="0">
                <a:cs typeface="+mn-cs"/>
              </a:rPr>
              <a:t>تعریف</a:t>
            </a:r>
            <a:r>
              <a:rPr lang="ar-SA" dirty="0">
                <a:cs typeface="+mn-cs"/>
              </a:rPr>
              <a:t>:</a:t>
            </a:r>
            <a:br>
              <a:rPr lang="ar-SA" dirty="0">
                <a:cs typeface="+mn-cs"/>
              </a:rPr>
            </a:br>
            <a:r>
              <a:rPr lang="ar-SA" dirty="0">
                <a:cs typeface="+mn-cs"/>
              </a:rPr>
              <a:t>با افزایش تعداد ابعاد (ویژگی‌ها) در داده‌ها، حجم فضا به صورت نمایی رشد می‌کند، اما داده‌ها به صورت پراکنده پخش می‌شوند.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81E2C-C9AE-5DD6-B10B-AFFC87AB9B27}"/>
                  </a:ext>
                </a:extLst>
              </p:cNvPr>
              <p:cNvSpPr txBox="1"/>
              <p:nvPr/>
            </p:nvSpPr>
            <p:spPr>
              <a:xfrm>
                <a:off x="4336143" y="1891425"/>
                <a:ext cx="4699860" cy="1250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:r>
                  <a:rPr lang="ar-SA" b="1" dirty="0">
                    <a:cs typeface="+mn-cs"/>
                  </a:rPr>
                  <a:t>مشکلات:</a:t>
                </a:r>
                <a:r>
                  <a:rPr lang="ar-SA" dirty="0">
                    <a:cs typeface="+mn-cs"/>
                  </a:rPr>
                  <a:t> </a:t>
                </a:r>
                <a:endParaRPr lang="fa-IR" dirty="0">
                  <a:cs typeface="+mn-cs"/>
                </a:endParaRPr>
              </a:p>
              <a:p>
                <a:pPr algn="r" rtl="1">
                  <a:lnSpc>
                    <a:spcPct val="150000"/>
                  </a:lnSpc>
                </a:pPr>
                <a:r>
                  <a:rPr lang="fa-IR" dirty="0">
                    <a:cs typeface="+mn-cs"/>
                  </a:rPr>
                  <a:t>    </a:t>
                </a:r>
                <a:r>
                  <a:rPr lang="ar-SA" dirty="0">
                    <a:cs typeface="+mn-cs"/>
                  </a:rPr>
                  <a:t>نیاز به داده‌های بسیار بیشتر برای پر کردن فضا (</a:t>
                </a:r>
                <a:r>
                  <a:rPr lang="en-US" dirty="0">
                    <a:cs typeface="+mn-cs"/>
                  </a:rPr>
                  <a:t>Overfitting</a:t>
                </a:r>
                <a:r>
                  <a:rPr lang="fa-IR" dirty="0">
                    <a:cs typeface="+mn-cs"/>
                  </a:rPr>
                  <a:t>)</a:t>
                </a:r>
                <a:endParaRPr lang="en-US" dirty="0">
                  <a:cs typeface="+mn-cs"/>
                </a:endParaRPr>
              </a:p>
              <a:p>
                <a:pPr algn="r" rtl="1">
                  <a:lnSpc>
                    <a:spcPct val="150000"/>
                  </a:lnSpc>
                </a:pPr>
                <a:r>
                  <a:rPr lang="fa-IR" dirty="0">
                    <a:cs typeface="+mn-cs"/>
                  </a:rPr>
                  <a:t>    </a:t>
                </a:r>
                <a:r>
                  <a:rPr lang="ar-SA" dirty="0">
                    <a:cs typeface="+mn-cs"/>
                  </a:rPr>
                  <a:t>افزایش نویز و کاهش فاصله معنادار بین نقاط.</a:t>
                </a:r>
              </a:p>
              <a:p>
                <a:pPr algn="r" rtl="1">
                  <a:lnSpc>
                    <a:spcPct val="150000"/>
                  </a:lnSpc>
                </a:pPr>
                <a:r>
                  <a:rPr lang="fa-IR" dirty="0">
                    <a:cs typeface="+mn-cs"/>
                  </a:rPr>
                  <a:t>    </a:t>
                </a:r>
                <a:r>
                  <a:rPr lang="ar-SA" dirty="0">
                    <a:cs typeface="+mn-cs"/>
                  </a:rPr>
                  <a:t>پیچیدگی محاسباتی بالا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+mn-cs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sSup>
                      <m:sSupPr>
                        <m:ctrlPr>
                          <a:rPr lang="en-US" i="1" dirty="0" err="1"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e>
                      <m:sup>
                        <m:r>
                          <a:rPr lang="en-US" i="1" dirty="0" err="1">
                            <a:latin typeface="Cambria Math" panose="02040503050406030204" pitchFamily="18" charset="0"/>
                            <a:cs typeface="+mn-cs"/>
                          </a:rPr>
                          <m:t>𝑑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n-cs"/>
                      </a:rPr>
                      <m:t>) </m:t>
                    </m:r>
                  </m:oMath>
                </a14:m>
                <a:r>
                  <a:rPr lang="fa-IR" dirty="0">
                    <a:cs typeface="+mn-cs"/>
                  </a:rPr>
                  <a:t> </a:t>
                </a:r>
                <a:r>
                  <a:rPr lang="ar-SA" dirty="0">
                    <a:cs typeface="+mn-cs"/>
                  </a:rPr>
                  <a:t>برای </a:t>
                </a:r>
                <a:r>
                  <a:rPr lang="en-US" dirty="0">
                    <a:cs typeface="+mn-cs"/>
                  </a:rPr>
                  <a:t>d </a:t>
                </a:r>
                <a:r>
                  <a:rPr lang="fa-IR" dirty="0">
                    <a:cs typeface="+mn-cs"/>
                  </a:rPr>
                  <a:t> </a:t>
                </a:r>
                <a:r>
                  <a:rPr lang="ar-SA" dirty="0">
                    <a:cs typeface="+mn-cs"/>
                  </a:rPr>
                  <a:t>بعد).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81E2C-C9AE-5DD6-B10B-AFFC87AB9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143" y="1891425"/>
                <a:ext cx="4699860" cy="1250342"/>
              </a:xfrm>
              <a:prstGeom prst="rect">
                <a:avLst/>
              </a:prstGeom>
              <a:blipFill>
                <a:blip r:embed="rId3"/>
                <a:stretch>
                  <a:fillRect t="-488" r="-389" b="-5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2435706-E719-52A6-E410-5A5326793B68}"/>
              </a:ext>
            </a:extLst>
          </p:cNvPr>
          <p:cNvSpPr txBox="1"/>
          <p:nvPr/>
        </p:nvSpPr>
        <p:spPr>
          <a:xfrm>
            <a:off x="4336143" y="3189869"/>
            <a:ext cx="4699860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b="1" dirty="0">
                <a:cs typeface="+mn-cs"/>
              </a:rPr>
              <a:t>تأثیر بر یادگیری ماشین:</a:t>
            </a:r>
            <a:endParaRPr lang="fa-IR" b="1" dirty="0">
              <a:cs typeface="+mn-cs"/>
            </a:endParaRPr>
          </a:p>
          <a:p>
            <a:pPr algn="r" rtl="1">
              <a:lnSpc>
                <a:spcPct val="150000"/>
              </a:lnSpc>
            </a:pPr>
            <a:r>
              <a:rPr lang="fa-IR" dirty="0">
                <a:cs typeface="+mn-cs"/>
              </a:rPr>
              <a:t>    </a:t>
            </a:r>
            <a:r>
              <a:rPr lang="ar-SA" dirty="0">
                <a:cs typeface="+mn-cs"/>
              </a:rPr>
              <a:t>دقت مدل‌ها کاهش می‌یابد.</a:t>
            </a:r>
          </a:p>
          <a:p>
            <a:pPr algn="r" rtl="1">
              <a:lnSpc>
                <a:spcPct val="150000"/>
              </a:lnSpc>
            </a:pPr>
            <a:r>
              <a:rPr lang="fa-IR" dirty="0">
                <a:cs typeface="+mn-cs"/>
              </a:rPr>
              <a:t>    </a:t>
            </a:r>
            <a:r>
              <a:rPr lang="ar-SA" dirty="0">
                <a:cs typeface="+mn-cs"/>
              </a:rPr>
              <a:t>زمان آموزش و پیش‌بینی طولانی می‌شود.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59DEB3-A524-890E-D058-622DB169E8D2}"/>
              </a:ext>
            </a:extLst>
          </p:cNvPr>
          <p:cNvSpPr txBox="1"/>
          <p:nvPr/>
        </p:nvSpPr>
        <p:spPr>
          <a:xfrm>
            <a:off x="-26826" y="4272871"/>
            <a:ext cx="9062829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b="1" dirty="0">
                <a:cs typeface="+mn-cs"/>
              </a:rPr>
              <a:t>راه‌حل:</a:t>
            </a:r>
            <a:endParaRPr lang="fa-IR" b="1" dirty="0">
              <a:cs typeface="+mn-cs"/>
            </a:endParaRPr>
          </a:p>
          <a:p>
            <a:pPr algn="r" rtl="1">
              <a:lnSpc>
                <a:spcPct val="150000"/>
              </a:lnSpc>
            </a:pPr>
            <a:r>
              <a:rPr lang="ar-SA" dirty="0">
                <a:cs typeface="+mn-cs"/>
              </a:rPr>
              <a:t>استفاده از روش‌های کاهش ابعاد (مثل </a:t>
            </a:r>
            <a:r>
              <a:rPr lang="en-US" dirty="0">
                <a:cs typeface="+mn-cs"/>
              </a:rPr>
              <a:t>PCA </a:t>
            </a:r>
            <a:r>
              <a:rPr lang="fa-IR" dirty="0">
                <a:cs typeface="+mn-cs"/>
              </a:rPr>
              <a:t> </a:t>
            </a:r>
            <a:r>
              <a:rPr lang="ar-SA" dirty="0">
                <a:cs typeface="+mn-cs"/>
              </a:rPr>
              <a:t>و </a:t>
            </a:r>
            <a:r>
              <a:rPr lang="en-US" dirty="0">
                <a:cs typeface="+mn-cs"/>
              </a:rPr>
              <a:t>(t-SNE</a:t>
            </a:r>
            <a:r>
              <a:rPr lang="fa-IR" dirty="0">
                <a:cs typeface="+mn-cs"/>
              </a:rPr>
              <a:t> </a:t>
            </a:r>
            <a:r>
              <a:rPr lang="ar-SA" dirty="0">
                <a:cs typeface="+mn-cs"/>
              </a:rPr>
              <a:t>برای کاهش تعداد ویژگی‌ها و حفظ اطلاعات مهم.</a:t>
            </a:r>
          </a:p>
        </p:txBody>
      </p:sp>
      <p:pic>
        <p:nvPicPr>
          <p:cNvPr id="1026" name="Picture 2" descr="The curse of dimensionality. Adding dimensions stretches the points ...">
            <a:extLst>
              <a:ext uri="{FF2B5EF4-FFF2-40B4-BE49-F238E27FC236}">
                <a16:creationId xmlns:a16="http://schemas.microsoft.com/office/drawing/2014/main" id="{DB3383F4-5D23-C72A-5A12-FB0D102C3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62" y="2766688"/>
            <a:ext cx="4699860" cy="140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72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CF7630B2-DDF7-9633-5BC6-B3E607EFF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96187C-9AC8-DFB3-48FF-2BF15A35AEB6}"/>
              </a:ext>
            </a:extLst>
          </p:cNvPr>
          <p:cNvSpPr txBox="1"/>
          <p:nvPr/>
        </p:nvSpPr>
        <p:spPr>
          <a:xfrm>
            <a:off x="755576" y="168261"/>
            <a:ext cx="6858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cs typeface="+mj-cs"/>
              </a:rPr>
              <a:t>PCA (Principal Component Analysis)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FBEF6-1FB2-E9E0-7AD3-916E2056AAF5}"/>
              </a:ext>
            </a:extLst>
          </p:cNvPr>
          <p:cNvSpPr txBox="1"/>
          <p:nvPr/>
        </p:nvSpPr>
        <p:spPr>
          <a:xfrm>
            <a:off x="7321207" y="799601"/>
            <a:ext cx="147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1800" b="1" dirty="0">
                <a:effectLst/>
                <a:cs typeface="+mn-cs"/>
              </a:rPr>
              <a:t>نحوه کار </a:t>
            </a:r>
            <a:r>
              <a:rPr lang="en-US" sz="1800" b="1" dirty="0">
                <a:effectLst/>
                <a:cs typeface="+mn-cs"/>
              </a:rPr>
              <a:t>PCA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64E5C-F5B7-02EB-B426-751903E27265}"/>
              </a:ext>
            </a:extLst>
          </p:cNvPr>
          <p:cNvSpPr txBox="1"/>
          <p:nvPr/>
        </p:nvSpPr>
        <p:spPr>
          <a:xfrm>
            <a:off x="4461726" y="1240400"/>
            <a:ext cx="43393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>
                <a:cs typeface="+mn-cs"/>
              </a:rPr>
              <a:t>ایده: </a:t>
            </a:r>
            <a:r>
              <a:rPr lang="ar-SA" dirty="0">
                <a:cs typeface="+mn-cs"/>
              </a:rPr>
              <a:t>یافتن جهت‌هایی (مؤلفه‌های اصلی) </a:t>
            </a:r>
            <a:endParaRPr lang="en-US" dirty="0">
              <a:cs typeface="+mn-cs"/>
            </a:endParaRPr>
          </a:p>
          <a:p>
            <a:pPr algn="r" rtl="1"/>
            <a:r>
              <a:rPr lang="ar-SA" dirty="0">
                <a:cs typeface="+mn-cs"/>
              </a:rPr>
              <a:t>که بیشترین واریانس داده‌ها را توضیح می‌دهند.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9E1CB-6F93-856A-F970-EB616CB6BAD6}"/>
              </a:ext>
            </a:extLst>
          </p:cNvPr>
          <p:cNvSpPr txBox="1"/>
          <p:nvPr/>
        </p:nvSpPr>
        <p:spPr>
          <a:xfrm>
            <a:off x="4173694" y="1899213"/>
            <a:ext cx="4646778" cy="1896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>
                <a:cs typeface="+mn-cs"/>
              </a:rPr>
              <a:t>مراحل: 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>
                <a:cs typeface="+mn-cs"/>
              </a:rPr>
              <a:t>استانداردسازی داده‌ها (میانگین صفر، واریانس یک)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>
                <a:cs typeface="+mn-cs"/>
              </a:rPr>
              <a:t>محاسبه ماتریس کوواریانس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>
                <a:cs typeface="+mn-cs"/>
              </a:rPr>
              <a:t>یافتن مقادیر ویژه و بردارهای ویژه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>
                <a:cs typeface="+mn-cs"/>
              </a:rPr>
              <a:t>انتخاب </a:t>
            </a:r>
            <a:r>
              <a:rPr lang="en-US" dirty="0">
                <a:cs typeface="+mn-cs"/>
              </a:rPr>
              <a:t>k</a:t>
            </a:r>
            <a:r>
              <a:rPr lang="fa-IR" dirty="0">
                <a:cs typeface="+mn-cs"/>
              </a:rPr>
              <a:t> </a:t>
            </a:r>
            <a:r>
              <a:rPr lang="ar-SA" dirty="0">
                <a:cs typeface="+mn-cs"/>
              </a:rPr>
              <a:t>مؤلفه اصلی با بیشترین واریانس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>
                <a:cs typeface="+mn-cs"/>
              </a:rPr>
              <a:t>نگاشت داده‌ها به فضای جدید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CC4080-F8FA-DE42-4542-BC3837DB5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012093"/>
            <a:ext cx="3672408" cy="3672408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62860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03349137-4633-C2EF-EB68-FBAC07EF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2B5B53-CC93-CA7C-345D-5273E2B32F97}"/>
              </a:ext>
            </a:extLst>
          </p:cNvPr>
          <p:cNvSpPr txBox="1"/>
          <p:nvPr/>
        </p:nvSpPr>
        <p:spPr>
          <a:xfrm>
            <a:off x="3356992" y="189362"/>
            <a:ext cx="2430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2800" dirty="0">
                <a:cs typeface="+mj-cs"/>
              </a:rPr>
              <a:t>ریاضیات </a:t>
            </a:r>
            <a:r>
              <a:rPr lang="en-US" sz="2800" dirty="0">
                <a:cs typeface="+mj-cs"/>
              </a:rPr>
              <a:t>PCA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5665D8-1148-A13F-1A13-DBC581998F51}"/>
                  </a:ext>
                </a:extLst>
              </p:cNvPr>
              <p:cNvSpPr txBox="1"/>
              <p:nvPr/>
            </p:nvSpPr>
            <p:spPr>
              <a:xfrm>
                <a:off x="5407445" y="678924"/>
                <a:ext cx="2915816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>
                  <a:lnSpc>
                    <a:spcPct val="200000"/>
                  </a:lnSpc>
                </a:pPr>
                <a:r>
                  <a:rPr lang="ar-SA" dirty="0">
                    <a:cs typeface="+mn-cs"/>
                  </a:rPr>
                  <a:t>استانداردسازی:</a:t>
                </a:r>
                <a:endParaRPr lang="en-US" dirty="0">
                  <a:cs typeface="+mn-cs"/>
                </a:endParaRPr>
              </a:p>
              <a:p>
                <a:pPr algn="r" rtl="1"/>
                <a:r>
                  <a:rPr lang="fa-IR" dirty="0"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 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fa-I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cs typeface="+mn-cs"/>
                  </a:rPr>
                  <a:t>  </a:t>
                </a:r>
                <a:endParaRPr lang="fa-IR" dirty="0">
                  <a:solidFill>
                    <a:schemeClr val="tx1"/>
                  </a:solidFill>
                  <a:cs typeface="+mn-cs"/>
                </a:endParaRPr>
              </a:p>
              <a:p>
                <a:pPr algn="r" rtl="1">
                  <a:lnSpc>
                    <a:spcPct val="300000"/>
                  </a:lnSpc>
                </a:pPr>
                <a:r>
                  <a:rPr lang="ar-SA" dirty="0">
                    <a:cs typeface="+mn-cs"/>
                  </a:rPr>
                  <a:t>ماتریس کوواریانس:</a:t>
                </a:r>
                <a:endParaRPr lang="en-US" dirty="0">
                  <a:cs typeface="+mn-cs"/>
                </a:endParaRPr>
              </a:p>
              <a:p>
                <a:pPr algn="r" rtl="1">
                  <a:lnSpc>
                    <a:spcPct val="15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cs typeface="+mn-cs"/>
                  </a:rPr>
                  <a:t>X </a:t>
                </a:r>
                <a:r>
                  <a:rPr lang="fa-IR" sz="1200" dirty="0">
                    <a:solidFill>
                      <a:schemeClr val="tx1"/>
                    </a:solidFill>
                    <a:cs typeface="+mn-cs"/>
                  </a:rPr>
                  <a:t>: </a:t>
                </a:r>
                <a:r>
                  <a:rPr lang="ar-SA" sz="1200" dirty="0">
                    <a:solidFill>
                      <a:schemeClr val="tx1"/>
                    </a:solidFill>
                    <a:cs typeface="+mn-cs"/>
                  </a:rPr>
                  <a:t>ماتریس داده‌های استانداردشده</a:t>
                </a:r>
                <a:endParaRPr lang="fa-IR" sz="1200" dirty="0">
                  <a:solidFill>
                    <a:schemeClr val="tx1"/>
                  </a:solidFill>
                  <a:cs typeface="+mn-cs"/>
                </a:endParaRPr>
              </a:p>
              <a:p>
                <a:pPr algn="r" rtl="1">
                  <a:lnSpc>
                    <a:spcPct val="300000"/>
                  </a:lnSpc>
                </a:pPr>
                <a:r>
                  <a:rPr lang="ar-SA" dirty="0">
                    <a:cs typeface="+mn-cs"/>
                  </a:rPr>
                  <a:t>مقادیر ویژه و بردارها:</a:t>
                </a:r>
                <a:endParaRPr lang="fa-IR" dirty="0">
                  <a:cs typeface="+mn-cs"/>
                </a:endParaRPr>
              </a:p>
              <a:p>
                <a:pPr algn="r" rtl="1">
                  <a:lnSpc>
                    <a:spcPct val="150000"/>
                  </a:lnSpc>
                </a:pPr>
                <a:r>
                  <a:rPr lang="el-GR" sz="1200" dirty="0">
                    <a:solidFill>
                      <a:schemeClr val="tx1"/>
                    </a:solidFill>
                    <a:cs typeface="+mn-cs"/>
                  </a:rPr>
                  <a:t>λ</a:t>
                </a:r>
                <a:r>
                  <a:rPr lang="en-US" sz="1200" dirty="0">
                    <a:solidFill>
                      <a:schemeClr val="tx1"/>
                    </a:solidFill>
                    <a:cs typeface="+mn-cs"/>
                  </a:rPr>
                  <a:t>ᵢ</a:t>
                </a:r>
                <a:r>
                  <a:rPr lang="fa-IR" sz="1200" dirty="0">
                    <a:solidFill>
                      <a:schemeClr val="tx1"/>
                    </a:solidFill>
                    <a:cs typeface="+mn-cs"/>
                  </a:rPr>
                  <a:t>:</a:t>
                </a:r>
                <a:r>
                  <a:rPr lang="en-US" sz="1200" dirty="0">
                    <a:solidFill>
                      <a:schemeClr val="tx1"/>
                    </a:solidFill>
                    <a:cs typeface="+mn-cs"/>
                  </a:rPr>
                  <a:t> </a:t>
                </a:r>
                <a:r>
                  <a:rPr lang="ar-SA" sz="1200" dirty="0">
                    <a:solidFill>
                      <a:schemeClr val="tx1"/>
                    </a:solidFill>
                    <a:cs typeface="+mn-cs"/>
                  </a:rPr>
                  <a:t>مقدار ویژه</a:t>
                </a:r>
              </a:p>
              <a:p>
                <a:pPr algn="r" rtl="1">
                  <a:lnSpc>
                    <a:spcPct val="15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cs typeface="+mn-cs"/>
                  </a:rPr>
                  <a:t>vᵢ </a:t>
                </a:r>
                <a:r>
                  <a:rPr lang="fa-IR" sz="1200" dirty="0">
                    <a:solidFill>
                      <a:schemeClr val="tx1"/>
                    </a:solidFill>
                    <a:cs typeface="+mn-cs"/>
                  </a:rPr>
                  <a:t>: </a:t>
                </a:r>
                <a:r>
                  <a:rPr lang="ar-SA" sz="1200" dirty="0">
                    <a:solidFill>
                      <a:schemeClr val="tx1"/>
                    </a:solidFill>
                    <a:cs typeface="+mn-cs"/>
                  </a:rPr>
                  <a:t>بردار ویژه</a:t>
                </a:r>
              </a:p>
              <a:p>
                <a:pPr algn="r" rtl="1">
                  <a:lnSpc>
                    <a:spcPct val="300000"/>
                  </a:lnSpc>
                </a:pPr>
                <a:r>
                  <a:rPr lang="ar-SA" dirty="0">
                    <a:cs typeface="+mn-cs"/>
                  </a:rPr>
                  <a:t>نگاشت داده‌ها:</a:t>
                </a:r>
                <a:endParaRPr lang="fa-IR" dirty="0">
                  <a:cs typeface="+mn-cs"/>
                </a:endParaRPr>
              </a:p>
              <a:p>
                <a:pPr algn="r" rtl="1"/>
                <a:r>
                  <a:rPr 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:</a:t>
                </a:r>
                <a:r>
                  <a:rPr lang="en-US" sz="1200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V</a:t>
                </a:r>
                <a:r>
                  <a:rPr lang="en-US" sz="1200" baseline="-25000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k</a:t>
                </a:r>
                <a:r>
                  <a:rPr lang="ar-SA" sz="1200" dirty="0">
                    <a:solidFill>
                      <a:schemeClr val="tx1"/>
                    </a:solidFill>
                    <a:cs typeface="+mn-cs"/>
                  </a:rPr>
                  <a:t>ماتریس</a:t>
                </a:r>
                <a:r>
                  <a:rPr lang="en-US" sz="1200" dirty="0">
                    <a:solidFill>
                      <a:schemeClr val="tx1"/>
                    </a:solidFill>
                    <a:cs typeface="+mn-cs"/>
                  </a:rPr>
                  <a:t> k </a:t>
                </a:r>
                <a:r>
                  <a:rPr lang="ar-SA" sz="1200" dirty="0">
                    <a:solidFill>
                      <a:schemeClr val="tx1"/>
                    </a:solidFill>
                    <a:cs typeface="+mn-cs"/>
                  </a:rPr>
                  <a:t>بردار ویژه بزرگ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5665D8-1148-A13F-1A13-DBC581998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445" y="678924"/>
                <a:ext cx="2915816" cy="3693319"/>
              </a:xfrm>
              <a:prstGeom prst="rect">
                <a:avLst/>
              </a:prstGeom>
              <a:blipFill>
                <a:blip r:embed="rId3"/>
                <a:stretch>
                  <a:fillRect r="-628" b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E59C827-0044-D491-B4CF-8BBD877BCBE7}"/>
              </a:ext>
            </a:extLst>
          </p:cNvPr>
          <p:cNvSpPr txBox="1"/>
          <p:nvPr/>
        </p:nvSpPr>
        <p:spPr>
          <a:xfrm>
            <a:off x="3851920" y="4609639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200" dirty="0">
                <a:solidFill>
                  <a:srgbClr val="FF0000"/>
                </a:solidFill>
                <a:cs typeface="+mn-cs"/>
              </a:rPr>
              <a:t>PCA </a:t>
            </a:r>
            <a:r>
              <a:rPr lang="ar-SA" sz="1200" dirty="0">
                <a:solidFill>
                  <a:srgbClr val="FF0000"/>
                </a:solidFill>
                <a:cs typeface="+mn-cs"/>
              </a:rPr>
              <a:t>داده‌ها را به فضایی خطی با واریانس حداکثر می‌برد.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47DB8E-20F3-FDFD-ADAA-51D95D2B59C5}"/>
                  </a:ext>
                </a:extLst>
              </p:cNvPr>
              <p:cNvSpPr txBox="1"/>
              <p:nvPr/>
            </p:nvSpPr>
            <p:spPr>
              <a:xfrm>
                <a:off x="2581807" y="850241"/>
                <a:ext cx="1182987" cy="514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1600" dirty="0">
                  <a:effectLst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47DB8E-20F3-FDFD-ADAA-51D95D2B5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807" y="850241"/>
                <a:ext cx="1182987" cy="5140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4F6992-FBB1-4191-2880-87557F86F844}"/>
                  </a:ext>
                </a:extLst>
              </p:cNvPr>
              <p:cNvSpPr txBox="1"/>
              <p:nvPr/>
            </p:nvSpPr>
            <p:spPr>
              <a:xfrm>
                <a:off x="2581807" y="1605067"/>
                <a:ext cx="104143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4F6992-FBB1-4191-2880-87557F86F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807" y="1605067"/>
                <a:ext cx="1041439" cy="4626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2933F6-D4C0-08A9-3688-747F025E2BF0}"/>
                  </a:ext>
                </a:extLst>
              </p:cNvPr>
              <p:cNvSpPr txBox="1"/>
              <p:nvPr/>
            </p:nvSpPr>
            <p:spPr>
              <a:xfrm>
                <a:off x="2486906" y="2449220"/>
                <a:ext cx="127788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ᵢ = </m:t>
                      </m:r>
                      <m:r>
                        <a:rPr lang="el-GR" sz="1600" i="1" dirty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ᵢ 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2933F6-D4C0-08A9-3688-747F025E2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906" y="2449220"/>
                <a:ext cx="1277888" cy="338554"/>
              </a:xfrm>
              <a:prstGeom prst="rect">
                <a:avLst/>
              </a:prstGeom>
              <a:blipFill>
                <a:blip r:embed="rId6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118397-3D4E-557D-D04E-0CCA5229EA2E}"/>
                  </a:ext>
                </a:extLst>
              </p:cNvPr>
              <p:cNvSpPr txBox="1"/>
              <p:nvPr/>
            </p:nvSpPr>
            <p:spPr>
              <a:xfrm>
                <a:off x="2531822" y="3646607"/>
                <a:ext cx="1550371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6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l-PL" sz="1600" i="1" dirty="0" smtClean="0">
                              <a:latin typeface="Cambria Math" panose="02040503050406030204" pitchFamily="18" charset="0"/>
                            </a:rPr>
                            <m:t>𝑝𝑐𝑎</m:t>
                          </m:r>
                        </m:sub>
                      </m:sSub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pl-PL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6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l-PL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118397-3D4E-557D-D04E-0CCA5229E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822" y="3646607"/>
                <a:ext cx="1550371" cy="357534"/>
              </a:xfrm>
              <a:prstGeom prst="rect">
                <a:avLst/>
              </a:prstGeom>
              <a:blipFill>
                <a:blip r:embed="rId7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9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0" grpId="0"/>
      <p:bldP spid="12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09AFEB00-18CA-BD7B-A854-B3BF43FD2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62673D-8664-1BC9-5A97-D6C188134507}"/>
              </a:ext>
            </a:extLst>
          </p:cNvPr>
          <p:cNvSpPr txBox="1"/>
          <p:nvPr/>
        </p:nvSpPr>
        <p:spPr>
          <a:xfrm>
            <a:off x="4196737" y="267494"/>
            <a:ext cx="750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cs typeface="+mj-cs"/>
              </a:rPr>
              <a:t>مثال</a:t>
            </a:r>
            <a:endParaRPr lang="en-US" sz="2800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211C7A-E0A5-FCB5-9A09-214E75EEF3F6}"/>
                  </a:ext>
                </a:extLst>
              </p:cNvPr>
              <p:cNvSpPr txBox="1"/>
              <p:nvPr/>
            </p:nvSpPr>
            <p:spPr>
              <a:xfrm>
                <a:off x="1835696" y="987574"/>
                <a:ext cx="4572000" cy="3344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>
                  <a:lnSpc>
                    <a:spcPct val="200000"/>
                  </a:lnSpc>
                  <a:buNone/>
                </a:pPr>
                <a:r>
                  <a:rPr lang="ar-SA" sz="1600" b="1" dirty="0">
                    <a:effectLst/>
                    <a:cs typeface="+mn-cs"/>
                  </a:rPr>
                  <a:t>داده‌ها: 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X = {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(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1, 2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)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, (2, 3),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(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3, 4)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}</a:t>
                </a: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285750" indent="-285750" algn="r" rtl="1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ar-SA" sz="1600" b="1" dirty="0">
                    <a:cs typeface="+mn-cs"/>
                  </a:rPr>
                  <a:t>استانداردسازی: </a:t>
                </a:r>
                <a:r>
                  <a:rPr lang="ar-SA" sz="1600" dirty="0">
                    <a:cs typeface="+mn-cs"/>
                  </a:rPr>
                  <a:t>میانگین صفر، واریانس یک</a:t>
                </a:r>
              </a:p>
              <a:p>
                <a:pPr marL="285750" indent="-285750" algn="r" rtl="1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ar-SA" sz="1600" b="1" dirty="0">
                    <a:cs typeface="+mn-cs"/>
                  </a:rPr>
                  <a:t>ماتریس کوواریانس:</a:t>
                </a:r>
                <a:r>
                  <a:rPr lang="fa-IR" sz="1600" b="1" dirty="0"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fa-IR" sz="16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a-IR" sz="1600" dirty="0">
                    <a:cs typeface="+mn-cs"/>
                  </a:rPr>
                  <a:t>(</a:t>
                </a:r>
                <a:r>
                  <a:rPr lang="ar-SA" sz="1600" dirty="0">
                    <a:cs typeface="+mn-cs"/>
                  </a:rPr>
                  <a:t>تقریبی</a:t>
                </a:r>
                <a:r>
                  <a:rPr lang="fa-IR" sz="1600" dirty="0">
                    <a:cs typeface="+mn-cs"/>
                  </a:rPr>
                  <a:t>)</a:t>
                </a:r>
                <a:endParaRPr lang="ar-SA" sz="1600" dirty="0">
                  <a:cs typeface="+mn-cs"/>
                </a:endParaRPr>
              </a:p>
              <a:p>
                <a:pPr marL="285750" indent="-285750" algn="r" rtl="1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ar-SA" sz="1600" b="1" dirty="0">
                    <a:cs typeface="+mn-cs"/>
                  </a:rPr>
                  <a:t>مقادیر ویژه: </a:t>
                </a:r>
                <a:r>
                  <a:rPr lang="el-GR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λ₁ = 2, λ₂ = 0</a:t>
                </a:r>
              </a:p>
              <a:p>
                <a:pPr marL="285750" indent="-285750" algn="r" rtl="1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ar-SA" sz="1600" b="1" dirty="0">
                    <a:cs typeface="+mn-cs"/>
                  </a:rPr>
                  <a:t>بردار ویژه اصلی: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v₁ = [0.707, 0.707]</a:t>
                </a:r>
              </a:p>
              <a:p>
                <a:pPr marL="285750" indent="-285750" algn="r" rtl="1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ar-SA" sz="1600" b="1" dirty="0">
                    <a:cs typeface="+mn-cs"/>
                  </a:rPr>
                  <a:t>نگاشت به</a:t>
                </a:r>
                <a:r>
                  <a:rPr lang="en-US" sz="1600" b="1" dirty="0">
                    <a:latin typeface="+mn-lt"/>
                    <a:cs typeface="+mn-cs"/>
                  </a:rPr>
                  <a:t>:</a:t>
                </a:r>
                <a:r>
                  <a:rPr lang="en-US" sz="1600" b="1" dirty="0"/>
                  <a:t>1</a:t>
                </a:r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ar-SA" sz="1600" b="1" dirty="0"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𝑝𝑐𝑎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≈ [2.12, 3.54, 4.95]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211C7A-E0A5-FCB5-9A09-214E75EEF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987574"/>
                <a:ext cx="4572000" cy="3344249"/>
              </a:xfrm>
              <a:prstGeom prst="rect">
                <a:avLst/>
              </a:prstGeom>
              <a:blipFill>
                <a:blip r:embed="rId3"/>
                <a:stretch>
                  <a:fillRect r="-800" b="-1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88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F522A290-87A9-D688-C7ED-30BFFD70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87AA6-7C92-3303-03A6-3169BE48498D}"/>
              </a:ext>
            </a:extLst>
          </p:cNvPr>
          <p:cNvSpPr txBox="1"/>
          <p:nvPr/>
        </p:nvSpPr>
        <p:spPr>
          <a:xfrm>
            <a:off x="575556" y="267494"/>
            <a:ext cx="7992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cs typeface="+mj-cs"/>
              </a:rPr>
              <a:t>t-SNE (t-Distributed Stochastic Neighbor Embedding)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D940C-054E-E58B-4771-E1F86988C3B9}"/>
              </a:ext>
            </a:extLst>
          </p:cNvPr>
          <p:cNvSpPr txBox="1"/>
          <p:nvPr/>
        </p:nvSpPr>
        <p:spPr>
          <a:xfrm>
            <a:off x="3828601" y="10502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800" b="1" dirty="0">
                <a:effectLst/>
                <a:cs typeface="+mn-cs"/>
              </a:rPr>
              <a:t>نحوه کار </a:t>
            </a:r>
            <a:r>
              <a:rPr lang="en-US" sz="1800" b="1" dirty="0">
                <a:effectLst/>
                <a:cs typeface="+mn-cs"/>
              </a:rPr>
              <a:t>t-SNE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3C298-B9AF-83E7-19B7-2CA935EA8E30}"/>
              </a:ext>
            </a:extLst>
          </p:cNvPr>
          <p:cNvSpPr txBox="1"/>
          <p:nvPr/>
        </p:nvSpPr>
        <p:spPr>
          <a:xfrm>
            <a:off x="3805283" y="1279797"/>
            <a:ext cx="461863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ایده: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حفظ روابط محلی (نزدیکی نقاط) در فضای کم‌بعد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0" marR="0" lvl="0" indent="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+mn-cs"/>
              </a:rPr>
              <a:t>مراحل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+mn-cs"/>
              </a:rPr>
              <a:t>: </a:t>
            </a:r>
          </a:p>
          <a:p>
            <a:pPr marL="342900" marR="0" lvl="0" indent="-34290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محاسبه شباهت بین نقاط در فضای اصلی (با توزیع گاوسی)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تعریف شباهت در فضای کم‌بعد</a:t>
            </a:r>
            <a:r>
              <a:rPr lang="fa-IR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 (با توزیع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t</a:t>
            </a:r>
            <a:r>
              <a:rPr lang="fa-IR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کمینه کردن تفاوت بین این دو با گرادیان نزولی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0" marR="0" lvl="0" indent="0" algn="r" defTabSz="914400" rtl="1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هدف: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نمایش بصری داده‌های پیچیده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algn="r" rtl="1"/>
            <a:endParaRPr lang="en-US" dirty="0"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33DC27-134B-6F89-7451-DD68C88BF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15" y="987574"/>
            <a:ext cx="3605386" cy="3605386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47945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/>
          <p:nvPr/>
        </p:nvSpPr>
        <p:spPr>
          <a:xfrm>
            <a:off x="1508224" y="1359425"/>
            <a:ext cx="6664175" cy="2124720"/>
          </a:xfrm>
          <a:prstGeom prst="snip2DiagRect">
            <a:avLst>
              <a:gd name="adj1" fmla="val 1825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7" name="Google Shape;387;p42"/>
              <p:cNvGraphicFramePr/>
              <p:nvPr>
                <p:extLst>
                  <p:ext uri="{D42A27DB-BD31-4B8C-83A1-F6EECF244321}">
                    <p14:modId xmlns:p14="http://schemas.microsoft.com/office/powerpoint/2010/main" val="1329304565"/>
                  </p:ext>
                </p:extLst>
              </p:nvPr>
            </p:nvGraphicFramePr>
            <p:xfrm>
              <a:off x="1187625" y="1359425"/>
              <a:ext cx="6768750" cy="2019912"/>
            </p:xfrm>
            <a:graphic>
              <a:graphicData uri="http://schemas.openxmlformats.org/drawingml/2006/table">
                <a:tbl>
                  <a:tblPr>
                    <a:noFill/>
                    <a:tableStyleId>{9E3CADCC-DB96-45F9-8729-C7A6F4BBFB54}</a:tableStyleId>
                  </a:tblPr>
                  <a:tblGrid>
                    <a:gridCol w="13681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93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537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537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537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73304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b="1" dirty="0">
                            <a:solidFill>
                              <a:schemeClr val="lt1"/>
                            </a:solidFill>
                            <a:latin typeface="Exo 2"/>
                            <a:ea typeface="Exo 2"/>
                            <a:cs typeface="Exo 2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1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نوع روش</a:t>
                          </a:r>
                          <a:r>
                            <a:rPr lang="en-US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 </a:t>
                          </a:r>
                          <a:endParaRPr b="1" dirty="0">
                            <a:solidFill>
                              <a:schemeClr val="lt1"/>
                            </a:solidFill>
                            <a:latin typeface="+mn-lt"/>
                            <a:ea typeface="Exo 2"/>
                            <a:cs typeface="+mn-cs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هدف اصلی</a:t>
                          </a:r>
                          <a:endParaRPr b="1" dirty="0">
                            <a:solidFill>
                              <a:schemeClr val="lt1"/>
                            </a:solidFill>
                            <a:latin typeface="+mn-lt"/>
                            <a:ea typeface="Exo 2"/>
                            <a:cs typeface="+mn-cs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پیچیدگی زمانی </a:t>
                          </a:r>
                          <a:endParaRPr b="1" dirty="0">
                            <a:solidFill>
                              <a:schemeClr val="lt1"/>
                            </a:solidFill>
                            <a:latin typeface="+mn-lt"/>
                            <a:ea typeface="Exo 2"/>
                            <a:cs typeface="+mn-cs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کاربرد</a:t>
                          </a:r>
                          <a:endParaRPr b="1" dirty="0">
                            <a:solidFill>
                              <a:schemeClr val="lt1"/>
                            </a:solidFill>
                            <a:latin typeface="+mn-lt"/>
                            <a:ea typeface="Exo 2"/>
                            <a:cs typeface="+mn-cs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3304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chemeClr val="lt1"/>
                              </a:solidFill>
                              <a:latin typeface="Exo 2"/>
                              <a:ea typeface="Exo 2"/>
                              <a:cs typeface="Exo 2"/>
                              <a:sym typeface="Exo 2"/>
                            </a:rPr>
                            <a:t>PCA</a:t>
                          </a:r>
                          <a:endParaRPr sz="1200" b="1" dirty="0">
                            <a:solidFill>
                              <a:schemeClr val="lt1"/>
                            </a:solidFill>
                            <a:latin typeface="Exo 2"/>
                            <a:ea typeface="Exo 2"/>
                            <a:cs typeface="Exo 2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خطی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حفظ واریانس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" sz="1200" i="1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Roboto Condensed Light"/>
                                  </a:rPr>
                                  <m:t>𝑂</m:t>
                                </m:r>
                                <m:r>
                                  <a:rPr lang="en" sz="1200" i="1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Roboto Condensed Light"/>
                                  </a:rPr>
                                  <m:t>(</m:t>
                                </m:r>
                                <m:r>
                                  <a:rPr lang="en" sz="1200" i="1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Roboto Condensed Light"/>
                                  </a:rPr>
                                  <m:t>𝑛</m:t>
                                </m:r>
                                <m:r>
                                  <a:rPr lang="en" sz="1200" i="1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Roboto Condensed Light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" sz="1200" i="1" dirty="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Roboto Condensed Light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" sz="1200" i="1" dirty="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Roboto Condensed Light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" sz="1200" i="1" dirty="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Roboto Condensed Light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" sz="1200" i="1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Roboto Condensed Light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" sz="1200" i="1" dirty="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Roboto Condensed Light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" sz="1200" i="1" dirty="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Roboto Condensed Light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" sz="1200" i="1" dirty="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Roboto Condensed Light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" sz="1200" i="1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Roboto Condensed Light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پیش‌پردازش،</a:t>
                          </a: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تجسم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3304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chemeClr val="lt1"/>
                              </a:solidFill>
                              <a:latin typeface="Exo 2"/>
                              <a:ea typeface="Exo 2"/>
                              <a:cs typeface="Exo 2"/>
                              <a:sym typeface="Exo 2"/>
                            </a:rPr>
                            <a:t>t</a:t>
                          </a:r>
                          <a:r>
                            <a:rPr lang="en" sz="1200" b="1" dirty="0">
                              <a:solidFill>
                                <a:schemeClr val="lt1"/>
                              </a:solidFill>
                              <a:latin typeface="Exo 2"/>
                              <a:ea typeface="Exo 2"/>
                              <a:cs typeface="Exo 2"/>
                              <a:sym typeface="Exo 2"/>
                            </a:rPr>
                            <a:t>-SNE</a:t>
                          </a:r>
                          <a:endParaRPr sz="1200" b="1" dirty="0">
                            <a:solidFill>
                              <a:schemeClr val="lt1"/>
                            </a:solidFill>
                            <a:latin typeface="Exo 2"/>
                            <a:ea typeface="Exo 2"/>
                            <a:cs typeface="Exo 2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غیر خطی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حفظ شباهت محلی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" sz="1200" i="1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Roboto Condensed Light"/>
                                  </a:rPr>
                                  <m:t>𝑂</m:t>
                                </m:r>
                                <m:r>
                                  <a:rPr lang="en" sz="1200" i="1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Roboto Condensed Light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" sz="1200" i="1" dirty="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Roboto Condensed Light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" sz="1200" i="1" dirty="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Roboto Condensed Light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" sz="1200" i="1" dirty="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Roboto Condensed Light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" sz="1200" i="1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Roboto Condensed Light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تجسم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7" name="Google Shape;387;p42"/>
              <p:cNvGraphicFramePr/>
              <p:nvPr>
                <p:extLst>
                  <p:ext uri="{D42A27DB-BD31-4B8C-83A1-F6EECF244321}">
                    <p14:modId xmlns:p14="http://schemas.microsoft.com/office/powerpoint/2010/main" val="1329304565"/>
                  </p:ext>
                </p:extLst>
              </p:nvPr>
            </p:nvGraphicFramePr>
            <p:xfrm>
              <a:off x="1187625" y="1359425"/>
              <a:ext cx="6768750" cy="2019912"/>
            </p:xfrm>
            <a:graphic>
              <a:graphicData uri="http://schemas.openxmlformats.org/drawingml/2006/table">
                <a:tbl>
                  <a:tblPr>
                    <a:noFill/>
                    <a:tableStyleId>{9E3CADCC-DB96-45F9-8729-C7A6F4BBFB54}</a:tableStyleId>
                  </a:tblPr>
                  <a:tblGrid>
                    <a:gridCol w="13681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93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537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537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537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73304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b="1" dirty="0">
                            <a:solidFill>
                              <a:schemeClr val="lt1"/>
                            </a:solidFill>
                            <a:latin typeface="Exo 2"/>
                            <a:ea typeface="Exo 2"/>
                            <a:cs typeface="Exo 2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1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نوع روش</a:t>
                          </a:r>
                          <a:r>
                            <a:rPr lang="en-US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 </a:t>
                          </a:r>
                          <a:endParaRPr b="1" dirty="0">
                            <a:solidFill>
                              <a:schemeClr val="lt1"/>
                            </a:solidFill>
                            <a:latin typeface="+mn-lt"/>
                            <a:ea typeface="Exo 2"/>
                            <a:cs typeface="+mn-cs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هدف اصلی</a:t>
                          </a:r>
                          <a:endParaRPr b="1" dirty="0">
                            <a:solidFill>
                              <a:schemeClr val="lt1"/>
                            </a:solidFill>
                            <a:latin typeface="+mn-lt"/>
                            <a:ea typeface="Exo 2"/>
                            <a:cs typeface="+mn-cs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پیچیدگی زمانی </a:t>
                          </a:r>
                          <a:endParaRPr b="1" dirty="0">
                            <a:solidFill>
                              <a:schemeClr val="lt1"/>
                            </a:solidFill>
                            <a:latin typeface="+mn-lt"/>
                            <a:ea typeface="Exo 2"/>
                            <a:cs typeface="+mn-cs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b="1" dirty="0">
                              <a:solidFill>
                                <a:schemeClr val="lt1"/>
                              </a:solidFill>
                              <a:latin typeface="+mn-lt"/>
                              <a:ea typeface="Exo 2"/>
                              <a:cs typeface="+mn-cs"/>
                              <a:sym typeface="Exo 2"/>
                            </a:rPr>
                            <a:t>کاربرد</a:t>
                          </a:r>
                          <a:endParaRPr b="1" dirty="0">
                            <a:solidFill>
                              <a:schemeClr val="lt1"/>
                            </a:solidFill>
                            <a:latin typeface="+mn-lt"/>
                            <a:ea typeface="Exo 2"/>
                            <a:cs typeface="+mn-cs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3304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chemeClr val="lt1"/>
                              </a:solidFill>
                              <a:latin typeface="Exo 2"/>
                              <a:ea typeface="Exo 2"/>
                              <a:cs typeface="Exo 2"/>
                              <a:sym typeface="Exo 2"/>
                            </a:rPr>
                            <a:t>PCA</a:t>
                          </a:r>
                          <a:endParaRPr sz="1200" b="1" dirty="0">
                            <a:solidFill>
                              <a:schemeClr val="lt1"/>
                            </a:solidFill>
                            <a:latin typeface="Exo 2"/>
                            <a:ea typeface="Exo 2"/>
                            <a:cs typeface="Exo 2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خطی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حفظ واریانس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99103" t="-101818" r="-100000" b="-1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پیش‌پردازش،</a:t>
                          </a: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تجسم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3304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chemeClr val="lt1"/>
                              </a:solidFill>
                              <a:latin typeface="Exo 2"/>
                              <a:ea typeface="Exo 2"/>
                              <a:cs typeface="Exo 2"/>
                              <a:sym typeface="Exo 2"/>
                            </a:rPr>
                            <a:t>t</a:t>
                          </a:r>
                          <a:r>
                            <a:rPr lang="en" sz="1200" b="1" dirty="0">
                              <a:solidFill>
                                <a:schemeClr val="lt1"/>
                              </a:solidFill>
                              <a:latin typeface="Exo 2"/>
                              <a:ea typeface="Exo 2"/>
                              <a:cs typeface="Exo 2"/>
                              <a:sym typeface="Exo 2"/>
                            </a:rPr>
                            <a:t>-SNE</a:t>
                          </a:r>
                          <a:endParaRPr sz="1200" b="1" dirty="0">
                            <a:solidFill>
                              <a:schemeClr val="lt1"/>
                            </a:solidFill>
                            <a:latin typeface="Exo 2"/>
                            <a:ea typeface="Exo 2"/>
                            <a:cs typeface="Exo 2"/>
                            <a:sym typeface="Exo 2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غیر خطی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حفظ شباهت محلی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99103" t="-200000" r="-100000" b="-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fa-IR" sz="1200" dirty="0">
                              <a:solidFill>
                                <a:schemeClr val="lt1"/>
                              </a:solidFill>
                              <a:latin typeface="Roboto Condensed Light"/>
                              <a:ea typeface="Roboto Condensed Light"/>
                              <a:cs typeface="+mn-cs"/>
                              <a:sym typeface="Roboto Condensed Light"/>
                            </a:rPr>
                            <a:t>تجسم</a:t>
                          </a:r>
                          <a:endParaRPr sz="1200" dirty="0">
                            <a:solidFill>
                              <a:schemeClr val="lt1"/>
                            </a:solidFill>
                            <a:latin typeface="Roboto Condensed Light"/>
                            <a:ea typeface="Roboto Condensed Light"/>
                            <a:cs typeface="+mn-cs"/>
                            <a:sym typeface="Roboto Condensed Ligh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88" name="Google Shape;388;p42"/>
          <p:cNvCxnSpPr/>
          <p:nvPr/>
        </p:nvCxnSpPr>
        <p:spPr>
          <a:xfrm rot="10800000">
            <a:off x="-6750" y="2740825"/>
            <a:ext cx="206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42"/>
          <p:cNvCxnSpPr/>
          <p:nvPr/>
        </p:nvCxnSpPr>
        <p:spPr>
          <a:xfrm rot="10800000">
            <a:off x="-6750" y="2001097"/>
            <a:ext cx="206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42"/>
          <p:cNvCxnSpPr>
            <a:cxnSpLocks/>
          </p:cNvCxnSpPr>
          <p:nvPr/>
        </p:nvCxnSpPr>
        <p:spPr>
          <a:xfrm>
            <a:off x="1508225" y="1995686"/>
            <a:ext cx="6448150" cy="541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42"/>
          <p:cNvCxnSpPr>
            <a:cxnSpLocks/>
          </p:cNvCxnSpPr>
          <p:nvPr/>
        </p:nvCxnSpPr>
        <p:spPr>
          <a:xfrm>
            <a:off x="1508225" y="2740825"/>
            <a:ext cx="644815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98;p51"/>
          <p:cNvSpPr txBox="1">
            <a:spLocks noGrp="1"/>
          </p:cNvSpPr>
          <p:nvPr>
            <p:ph type="ctrTitle" idx="4294967295"/>
          </p:nvPr>
        </p:nvSpPr>
        <p:spPr>
          <a:xfrm flipH="1">
            <a:off x="1187624" y="2211710"/>
            <a:ext cx="5194300" cy="13668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 Titr" panose="00000700000000000000" pitchFamily="2" charset="-78"/>
              </a:rPr>
              <a:t>با سپاس از توجه شما</a:t>
            </a:r>
            <a:endParaRPr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3855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ashasite.ir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F3F3F3"/>
      </a:accent1>
      <a:accent2>
        <a:srgbClr val="D9D9D9"/>
      </a:accent2>
      <a:accent3>
        <a:srgbClr val="B7B7B7"/>
      </a:accent3>
      <a:accent4>
        <a:srgbClr val="999999"/>
      </a:accent4>
      <a:accent5>
        <a:srgbClr val="666666"/>
      </a:accent5>
      <a:accent6>
        <a:srgbClr val="000000"/>
      </a:accent6>
      <a:hlink>
        <a:srgbClr val="434343"/>
      </a:hlink>
      <a:folHlink>
        <a:srgbClr val="0097A7"/>
      </a:folHlink>
    </a:clrScheme>
    <a:fontScheme name="Custom 4">
      <a:majorFont>
        <a:latin typeface="B Titr"/>
        <a:ea typeface=""/>
        <a:cs typeface="B Titr"/>
      </a:majorFont>
      <a:minorFont>
        <a:latin typeface="Vazirmatn RD"/>
        <a:ea typeface=""/>
        <a:cs typeface="Vazirmatn 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1608</TotalTime>
  <Words>1442</Words>
  <Application>Microsoft Office PowerPoint</Application>
  <PresentationFormat>On-screen Show (16:9)</PresentationFormat>
  <Paragraphs>241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Cambria Math</vt:lpstr>
      <vt:lpstr>B Nazanin</vt:lpstr>
      <vt:lpstr>Exo 2</vt:lpstr>
      <vt:lpstr>Vazirmatn RD</vt:lpstr>
      <vt:lpstr>Arial Rounded MT Bold</vt:lpstr>
      <vt:lpstr>Arial</vt:lpstr>
      <vt:lpstr>Roboto Condensed Light</vt:lpstr>
      <vt:lpstr>B Titr</vt:lpstr>
      <vt:lpstr>IRANSansXFaNum</vt:lpstr>
      <vt:lpstr>Sahel</vt:lpstr>
      <vt:lpstr>rashasite.ir</vt:lpstr>
      <vt:lpstr>PowerPoint Presentation</vt:lpstr>
      <vt:lpstr> غیرنظارت شده</vt:lpstr>
      <vt:lpstr>فهرست</vt:lpstr>
      <vt:lpstr>خوشه بندی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کاربردهای  K-Means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تشخیص ناهنجاری</vt:lpstr>
      <vt:lpstr>PowerPoint Presentation</vt:lpstr>
      <vt:lpstr>PowerPoint Presentation</vt:lpstr>
      <vt:lpstr>PowerPoint Presentation</vt:lpstr>
      <vt:lpstr>PowerPoint Presentation</vt:lpstr>
      <vt:lpstr>کاهش ابعاد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با سپاس از توجه شما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rashasite.ir</dc:creator>
  <cp:lastModifiedBy>mohammadarababadi157@gmail.com</cp:lastModifiedBy>
  <cp:revision>62</cp:revision>
  <dcterms:modified xsi:type="dcterms:W3CDTF">2025-03-27T05:28:05Z</dcterms:modified>
</cp:coreProperties>
</file>